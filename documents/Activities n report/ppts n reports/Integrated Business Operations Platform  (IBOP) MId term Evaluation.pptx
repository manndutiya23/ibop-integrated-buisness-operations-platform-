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4" r:id="rId1"/>
    <p:sldMasterId id="2147483665"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75" r:id="rId14"/>
    <p:sldId id="267" r:id="rId15"/>
    <p:sldId id="268" r:id="rId16"/>
    <p:sldId id="276" r:id="rId17"/>
    <p:sldId id="269" r:id="rId18"/>
    <p:sldId id="274" r:id="rId19"/>
    <p:sldId id="277" r:id="rId20"/>
    <p:sldId id="278" r:id="rId21"/>
    <p:sldId id="270" r:id="rId22"/>
    <p:sldId id="271" r:id="rId23"/>
    <p:sldId id="272" r:id="rId24"/>
    <p:sldId id="273" r:id="rId25"/>
  </p:sldIdLst>
  <p:sldSz cx="9144000" cy="5143500" type="screen16x9"/>
  <p:notesSz cx="6858000" cy="9144000"/>
  <p:embeddedFontLst>
    <p:embeddedFont>
      <p:font typeface="Manrope" panose="020B0604020202020204" charset="0"/>
      <p:regular r:id="rId27"/>
      <p:bold r:id="rId28"/>
    </p:embeddedFont>
    <p:embeddedFont>
      <p:font typeface="Tahoma" panose="020B0604030504040204" pitchFamily="34" charset="0"/>
      <p:regular r:id="rId29"/>
      <p:bold r:id="rId30"/>
    </p:embeddedFont>
    <p:embeddedFont>
      <p:font typeface="Trebuchet MS" panose="020B0603020202020204" pitchFamily="3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E46F92-1EF2-4096-A548-2BCCBEC776F4}">
  <a:tblStyle styleId="{ACE46F92-1EF2-4096-A548-2BCCBEC776F4}"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d8ba41f628_2_51: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03" name="Google Shape;103;g3d8ba41f628_2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d8ba41f628_2_65: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17" name="Google Shape;117;g3d8ba41f628_2_6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d8ba41f628_2_76: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24" name="Google Shape;124;g3d8ba41f628_2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8ba41f628_0_26: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31" name="Google Shape;131;g3d8ba41f628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d8ba41f628_0_32: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38" name="Google Shape;138;g3d8ba41f628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8ba41f628_0_38: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45" name="Google Shape;145;g3d8ba41f628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d8ba41f628_0_44: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52" name="Google Shape;152;g3d8ba41f628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d8ba41f628_2_112: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59" name="Google Shape;159;g3d8ba41f628_2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d8ba41f628_2_118: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66" name="Google Shape;166;g3d8ba41f628_2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d8ba41f628_2_124: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73" name="Google Shape;173;g3d8ba41f628_2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d8ba41f628_2_145: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82" name="Google Shape;182;g3d8ba41f628_2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d8ba41f628_2_169: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193" name="Google Shape;193;g3d8ba41f628_2_1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d8ba41f628_2_175: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00" name="Google Shape;200;g3d8ba41f628_2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d8ba41f628_0_124: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07" name="Google Shape;207;g3d8ba41f628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a:extLst>
            <a:ext uri="{FF2B5EF4-FFF2-40B4-BE49-F238E27FC236}">
              <a16:creationId xmlns:a16="http://schemas.microsoft.com/office/drawing/2014/main" id="{B1C4E536-8AF2-6BB3-6875-4C71EC6C3236}"/>
            </a:ext>
          </a:extLst>
        </p:cNvPr>
        <p:cNvGrpSpPr/>
        <p:nvPr/>
      </p:nvGrpSpPr>
      <p:grpSpPr>
        <a:xfrm>
          <a:off x="0" y="0"/>
          <a:ext cx="0" cy="0"/>
          <a:chOff x="0" y="0"/>
          <a:chExt cx="0" cy="0"/>
        </a:xfrm>
      </p:grpSpPr>
      <p:sp>
        <p:nvSpPr>
          <p:cNvPr id="206" name="Google Shape;206;g3d8ba41f628_0_124:notes">
            <a:extLst>
              <a:ext uri="{FF2B5EF4-FFF2-40B4-BE49-F238E27FC236}">
                <a16:creationId xmlns:a16="http://schemas.microsoft.com/office/drawing/2014/main" id="{B2638FF1-F5FD-517F-50EA-0BAE7333DFBB}"/>
              </a:ext>
            </a:extLst>
          </p:cNvPr>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07" name="Google Shape;207;g3d8ba41f628_0_124:notes">
            <a:extLst>
              <a:ext uri="{FF2B5EF4-FFF2-40B4-BE49-F238E27FC236}">
                <a16:creationId xmlns:a16="http://schemas.microsoft.com/office/drawing/2014/main" id="{A7AF18DB-CB41-9462-63C0-99A4788F5F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441730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d8ba41f628_2_187: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21" name="Google Shape;221;g3d8ba41f628_2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d8ba41f628_2_198: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29" name="Google Shape;229;g3d8ba41f628_2_19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d8ba41f628_2_210: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36" name="Google Shape;236;g3d8ba41f628_2_2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d8ba41f628_2_223:notes"/>
          <p:cNvSpPr txBox="1">
            <a:spLocks noGrp="1"/>
          </p:cNvSpPr>
          <p:nvPr>
            <p:ph type="body" idx="1"/>
          </p:nvPr>
        </p:nvSpPr>
        <p:spPr>
          <a:xfrm>
            <a:off x="685800" y="4343400"/>
            <a:ext cx="5486400" cy="4114800"/>
          </a:xfrm>
          <a:prstGeom prst="rect">
            <a:avLst/>
          </a:prstGeom>
        </p:spPr>
        <p:txBody>
          <a:bodyPr spcFirstLastPara="1" wrap="square" lIns="49950" tIns="49950" rIns="49950" bIns="49950" anchor="t" anchorCtr="0">
            <a:noAutofit/>
          </a:bodyPr>
          <a:lstStyle/>
          <a:p>
            <a:pPr marL="0" lvl="0" indent="0" algn="l" rtl="0">
              <a:spcBef>
                <a:spcPts val="0"/>
              </a:spcBef>
              <a:spcAft>
                <a:spcPts val="0"/>
              </a:spcAft>
              <a:buNone/>
            </a:pPr>
            <a:endParaRPr/>
          </a:p>
        </p:txBody>
      </p:sp>
      <p:sp>
        <p:nvSpPr>
          <p:cNvPr id="243" name="Google Shape;243;g3d8ba41f628_2_22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5" Type="http://schemas.openxmlformats.org/officeDocument/2006/relationships/image" Target="../media/image4.jpg"/><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png"/><Relationship Id="rId7"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Master" Target="../slideMasters/slideMaster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image" Target="../media/image3.png"/><Relationship Id="rId9"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2110156" y="-77105"/>
            <a:ext cx="5347315" cy="85198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3100" b="0" i="0">
                <a:solidFill>
                  <a:srgbClr val="BF0000"/>
                </a:solidFill>
                <a:latin typeface="Tahoma"/>
                <a:ea typeface="Tahoma"/>
                <a:cs typeface="Tahoma"/>
                <a:sym typeface="Tahoma"/>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62" name="Google Shape;62;p14"/>
          <p:cNvSpPr txBox="1">
            <a:spLocks noGrp="1"/>
          </p:cNvSpPr>
          <p:nvPr>
            <p:ph type="body" idx="1"/>
          </p:nvPr>
        </p:nvSpPr>
        <p:spPr>
          <a:xfrm>
            <a:off x="557166" y="948550"/>
            <a:ext cx="7997508" cy="328104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700"/>
              <a:buNone/>
              <a:defRPr sz="1300" b="0" i="0">
                <a:solidFill>
                  <a:srgbClr val="CC2B4B"/>
                </a:solidFill>
                <a:latin typeface="Tahoma"/>
                <a:ea typeface="Tahoma"/>
                <a:cs typeface="Tahoma"/>
                <a:sym typeface="Tahoma"/>
              </a:defRPr>
            </a:lvl1pPr>
            <a:lvl2pPr marL="914400" lvl="1" indent="-228600" algn="l">
              <a:spcBef>
                <a:spcPts val="0"/>
              </a:spcBef>
              <a:spcAft>
                <a:spcPts val="0"/>
              </a:spcAft>
              <a:buSzPts val="700"/>
              <a:buNone/>
              <a:defRPr/>
            </a:lvl2pPr>
            <a:lvl3pPr marL="1371600" lvl="2" indent="-228600" algn="l">
              <a:spcBef>
                <a:spcPts val="0"/>
              </a:spcBef>
              <a:spcAft>
                <a:spcPts val="0"/>
              </a:spcAft>
              <a:buSzPts val="700"/>
              <a:buNone/>
              <a:defRPr/>
            </a:lvl3pPr>
            <a:lvl4pPr marL="1828800" lvl="3" indent="-228600" algn="l">
              <a:spcBef>
                <a:spcPts val="0"/>
              </a:spcBef>
              <a:spcAft>
                <a:spcPts val="0"/>
              </a:spcAft>
              <a:buSzPts val="700"/>
              <a:buNone/>
              <a:defRPr/>
            </a:lvl4pPr>
            <a:lvl5pPr marL="2286000" lvl="4" indent="-228600" algn="l">
              <a:spcBef>
                <a:spcPts val="0"/>
              </a:spcBef>
              <a:spcAft>
                <a:spcPts val="0"/>
              </a:spcAft>
              <a:buSzPts val="700"/>
              <a:buNone/>
              <a:defRPr/>
            </a:lvl5pPr>
            <a:lvl6pPr marL="2743200" lvl="5" indent="-228600" algn="l">
              <a:spcBef>
                <a:spcPts val="0"/>
              </a:spcBef>
              <a:spcAft>
                <a:spcPts val="0"/>
              </a:spcAft>
              <a:buSzPts val="700"/>
              <a:buNone/>
              <a:defRPr/>
            </a:lvl6pPr>
            <a:lvl7pPr marL="3200400" lvl="6" indent="-228600" algn="l">
              <a:spcBef>
                <a:spcPts val="0"/>
              </a:spcBef>
              <a:spcAft>
                <a:spcPts val="0"/>
              </a:spcAft>
              <a:buSzPts val="700"/>
              <a:buNone/>
              <a:defRPr/>
            </a:lvl7pPr>
            <a:lvl8pPr marL="3657600" lvl="7" indent="-228600" algn="l">
              <a:spcBef>
                <a:spcPts val="0"/>
              </a:spcBef>
              <a:spcAft>
                <a:spcPts val="0"/>
              </a:spcAft>
              <a:buSzPts val="700"/>
              <a:buNone/>
              <a:defRPr/>
            </a:lvl8pPr>
            <a:lvl9pPr marL="4114800" lvl="8" indent="-228600" algn="l">
              <a:spcBef>
                <a:spcPts val="0"/>
              </a:spcBef>
              <a:spcAft>
                <a:spcPts val="0"/>
              </a:spcAft>
              <a:buSzPts val="700"/>
              <a:buNone/>
              <a:defRPr/>
            </a:lvl9pPr>
          </a:lstStyle>
          <a:p>
            <a:endParaRPr/>
          </a:p>
        </p:txBody>
      </p:sp>
      <p:sp>
        <p:nvSpPr>
          <p:cNvPr id="63" name="Google Shape;63;p14"/>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64" name="Google Shape;64;p14"/>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a:solidFill>
                  <a:srgbClr val="888888"/>
                </a:solidFill>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65" name="Google Shape;65;p14"/>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66"/>
        <p:cNvGrpSpPr/>
        <p:nvPr/>
      </p:nvGrpSpPr>
      <p:grpSpPr>
        <a:xfrm>
          <a:off x="0" y="0"/>
          <a:ext cx="0" cy="0"/>
          <a:chOff x="0" y="0"/>
          <a:chExt cx="0" cy="0"/>
        </a:xfrm>
      </p:grpSpPr>
      <p:sp>
        <p:nvSpPr>
          <p:cNvPr id="67" name="Google Shape;67;p15"/>
          <p:cNvSpPr txBox="1">
            <a:spLocks noGrp="1"/>
          </p:cNvSpPr>
          <p:nvPr>
            <p:ph type="title"/>
          </p:nvPr>
        </p:nvSpPr>
        <p:spPr>
          <a:xfrm>
            <a:off x="2110156" y="-77105"/>
            <a:ext cx="5347315" cy="85198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3100" b="0" i="0">
                <a:solidFill>
                  <a:srgbClr val="BF0000"/>
                </a:solidFill>
                <a:latin typeface="Tahoma"/>
                <a:ea typeface="Tahoma"/>
                <a:cs typeface="Tahoma"/>
                <a:sym typeface="Tahoma"/>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68" name="Google Shape;68;p15"/>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69" name="Google Shape;69;p15"/>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a:solidFill>
                  <a:srgbClr val="888888"/>
                </a:solidFill>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70" name="Google Shape;70;p15"/>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71"/>
        <p:cNvGrpSpPr/>
        <p:nvPr/>
      </p:nvGrpSpPr>
      <p:grpSpPr>
        <a:xfrm>
          <a:off x="0" y="0"/>
          <a:ext cx="0" cy="0"/>
          <a:chOff x="0" y="0"/>
          <a:chExt cx="0" cy="0"/>
        </a:xfrm>
      </p:grpSpPr>
      <p:pic>
        <p:nvPicPr>
          <p:cNvPr id="72" name="Google Shape;72;p16"/>
          <p:cNvPicPr preferRelativeResize="0"/>
          <p:nvPr/>
        </p:nvPicPr>
        <p:blipFill rotWithShape="1">
          <a:blip r:embed="rId2">
            <a:alphaModFix/>
          </a:blip>
          <a:srcRect/>
          <a:stretch/>
        </p:blipFill>
        <p:spPr>
          <a:xfrm>
            <a:off x="1" y="4865257"/>
            <a:ext cx="9143998" cy="278243"/>
          </a:xfrm>
          <a:prstGeom prst="rect">
            <a:avLst/>
          </a:prstGeom>
          <a:noFill/>
          <a:ln>
            <a:noFill/>
          </a:ln>
        </p:spPr>
      </p:pic>
      <p:pic>
        <p:nvPicPr>
          <p:cNvPr id="73" name="Google Shape;73;p16"/>
          <p:cNvPicPr preferRelativeResize="0"/>
          <p:nvPr/>
        </p:nvPicPr>
        <p:blipFill rotWithShape="1">
          <a:blip r:embed="rId3">
            <a:alphaModFix/>
          </a:blip>
          <a:srcRect/>
          <a:stretch/>
        </p:blipFill>
        <p:spPr>
          <a:xfrm>
            <a:off x="0" y="4737108"/>
            <a:ext cx="6999768" cy="136182"/>
          </a:xfrm>
          <a:prstGeom prst="rect">
            <a:avLst/>
          </a:prstGeom>
          <a:noFill/>
          <a:ln>
            <a:noFill/>
          </a:ln>
        </p:spPr>
      </p:pic>
      <p:pic>
        <p:nvPicPr>
          <p:cNvPr id="74" name="Google Shape;74;p16"/>
          <p:cNvPicPr preferRelativeResize="0"/>
          <p:nvPr/>
        </p:nvPicPr>
        <p:blipFill rotWithShape="1">
          <a:blip r:embed="rId4">
            <a:alphaModFix/>
          </a:blip>
          <a:srcRect/>
          <a:stretch/>
        </p:blipFill>
        <p:spPr>
          <a:xfrm>
            <a:off x="8451091" y="0"/>
            <a:ext cx="692909" cy="557316"/>
          </a:xfrm>
          <a:prstGeom prst="rect">
            <a:avLst/>
          </a:prstGeom>
          <a:noFill/>
          <a:ln>
            <a:noFill/>
          </a:ln>
        </p:spPr>
      </p:pic>
      <p:pic>
        <p:nvPicPr>
          <p:cNvPr id="75" name="Google Shape;75;p16"/>
          <p:cNvPicPr preferRelativeResize="0"/>
          <p:nvPr/>
        </p:nvPicPr>
        <p:blipFill rotWithShape="1">
          <a:blip r:embed="rId5">
            <a:alphaModFix/>
          </a:blip>
          <a:srcRect/>
          <a:stretch/>
        </p:blipFill>
        <p:spPr>
          <a:xfrm>
            <a:off x="146510" y="87549"/>
            <a:ext cx="1714172" cy="539885"/>
          </a:xfrm>
          <a:prstGeom prst="rect">
            <a:avLst/>
          </a:prstGeom>
          <a:noFill/>
          <a:ln>
            <a:noFill/>
          </a:ln>
        </p:spPr>
      </p:pic>
      <p:sp>
        <p:nvSpPr>
          <p:cNvPr id="76" name="Google Shape;76;p16"/>
          <p:cNvSpPr/>
          <p:nvPr/>
        </p:nvSpPr>
        <p:spPr>
          <a:xfrm>
            <a:off x="248110" y="961179"/>
            <a:ext cx="4237355" cy="3766503"/>
          </a:xfrm>
          <a:custGeom>
            <a:avLst/>
            <a:gdLst/>
            <a:ahLst/>
            <a:cxnLst/>
            <a:rect l="l" t="t" r="r" b="b"/>
            <a:pathLst>
              <a:path w="8474710" h="7533005" extrusionOk="0">
                <a:moveTo>
                  <a:pt x="8328343" y="7532826"/>
                </a:moveTo>
                <a:lnTo>
                  <a:pt x="152400" y="7532826"/>
                </a:lnTo>
                <a:lnTo>
                  <a:pt x="104229" y="7525057"/>
                </a:lnTo>
                <a:lnTo>
                  <a:pt x="62394" y="7503422"/>
                </a:lnTo>
                <a:lnTo>
                  <a:pt x="29404" y="7470432"/>
                </a:lnTo>
                <a:lnTo>
                  <a:pt x="7769" y="7428597"/>
                </a:lnTo>
                <a:lnTo>
                  <a:pt x="0" y="7380426"/>
                </a:lnTo>
                <a:lnTo>
                  <a:pt x="0" y="152400"/>
                </a:lnTo>
                <a:lnTo>
                  <a:pt x="7769" y="104229"/>
                </a:lnTo>
                <a:lnTo>
                  <a:pt x="29404" y="62394"/>
                </a:lnTo>
                <a:lnTo>
                  <a:pt x="62394" y="29404"/>
                </a:lnTo>
                <a:lnTo>
                  <a:pt x="104229" y="7769"/>
                </a:lnTo>
                <a:lnTo>
                  <a:pt x="152400" y="0"/>
                </a:lnTo>
                <a:lnTo>
                  <a:pt x="8328343" y="0"/>
                </a:lnTo>
                <a:lnTo>
                  <a:pt x="8376514" y="7769"/>
                </a:lnTo>
                <a:lnTo>
                  <a:pt x="8418349" y="29404"/>
                </a:lnTo>
                <a:lnTo>
                  <a:pt x="8451339" y="62394"/>
                </a:lnTo>
                <a:lnTo>
                  <a:pt x="8472974" y="104229"/>
                </a:lnTo>
                <a:lnTo>
                  <a:pt x="8474430" y="113255"/>
                </a:lnTo>
                <a:lnTo>
                  <a:pt x="8474430" y="7419571"/>
                </a:lnTo>
                <a:lnTo>
                  <a:pt x="8451339" y="7470432"/>
                </a:lnTo>
                <a:lnTo>
                  <a:pt x="8418349" y="7503422"/>
                </a:lnTo>
                <a:lnTo>
                  <a:pt x="8376514" y="7525057"/>
                </a:lnTo>
                <a:lnTo>
                  <a:pt x="8328343" y="7532826"/>
                </a:lnTo>
                <a:close/>
              </a:path>
            </a:pathLst>
          </a:custGeom>
          <a:solidFill>
            <a:srgbClr val="C2DBFF"/>
          </a:solidFill>
          <a:ln>
            <a:noFill/>
          </a:ln>
        </p:spPr>
        <p:txBody>
          <a:bodyPr spcFirstLastPara="1" wrap="square" lIns="0" tIns="0" rIns="0" bIns="0" anchor="t" anchorCtr="0">
            <a:noAutofit/>
          </a:bodyPr>
          <a:lstStyle/>
          <a:p>
            <a:pPr marL="0" lvl="0" indent="0" algn="l" rtl="0">
              <a:spcBef>
                <a:spcPts val="0"/>
              </a:spcBef>
              <a:spcAft>
                <a:spcPts val="0"/>
              </a:spcAft>
              <a:buNone/>
            </a:pPr>
            <a:endParaRPr sz="700"/>
          </a:p>
        </p:txBody>
      </p:sp>
      <p:sp>
        <p:nvSpPr>
          <p:cNvPr id="77" name="Google Shape;77;p16"/>
          <p:cNvSpPr txBox="1">
            <a:spLocks noGrp="1"/>
          </p:cNvSpPr>
          <p:nvPr>
            <p:ph type="title"/>
          </p:nvPr>
        </p:nvSpPr>
        <p:spPr>
          <a:xfrm>
            <a:off x="2110156" y="-77105"/>
            <a:ext cx="5347315" cy="85198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3100" b="0" i="0">
                <a:solidFill>
                  <a:srgbClr val="BF0000"/>
                </a:solidFill>
                <a:latin typeface="Tahoma"/>
                <a:ea typeface="Tahoma"/>
                <a:cs typeface="Tahoma"/>
                <a:sym typeface="Tahoma"/>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78" name="Google Shape;78;p16"/>
          <p:cNvSpPr txBox="1">
            <a:spLocks noGrp="1"/>
          </p:cNvSpPr>
          <p:nvPr>
            <p:ph type="body" idx="1"/>
          </p:nvPr>
        </p:nvSpPr>
        <p:spPr>
          <a:xfrm>
            <a:off x="319413" y="1797553"/>
            <a:ext cx="4080828" cy="2659063"/>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700"/>
              <a:buNone/>
              <a:defRPr sz="1200" b="0" i="0" u="sng">
                <a:solidFill>
                  <a:srgbClr val="004AAC"/>
                </a:solidFill>
                <a:latin typeface="Trebuchet MS"/>
                <a:ea typeface="Trebuchet MS"/>
                <a:cs typeface="Trebuchet MS"/>
                <a:sym typeface="Trebuchet MS"/>
              </a:defRPr>
            </a:lvl1pPr>
            <a:lvl2pPr marL="914400" lvl="1" indent="-228600" algn="l">
              <a:spcBef>
                <a:spcPts val="0"/>
              </a:spcBef>
              <a:spcAft>
                <a:spcPts val="0"/>
              </a:spcAft>
              <a:buSzPts val="700"/>
              <a:buNone/>
              <a:defRPr/>
            </a:lvl2pPr>
            <a:lvl3pPr marL="1371600" lvl="2" indent="-228600" algn="l">
              <a:spcBef>
                <a:spcPts val="0"/>
              </a:spcBef>
              <a:spcAft>
                <a:spcPts val="0"/>
              </a:spcAft>
              <a:buSzPts val="700"/>
              <a:buNone/>
              <a:defRPr/>
            </a:lvl3pPr>
            <a:lvl4pPr marL="1828800" lvl="3" indent="-228600" algn="l">
              <a:spcBef>
                <a:spcPts val="0"/>
              </a:spcBef>
              <a:spcAft>
                <a:spcPts val="0"/>
              </a:spcAft>
              <a:buSzPts val="700"/>
              <a:buNone/>
              <a:defRPr/>
            </a:lvl4pPr>
            <a:lvl5pPr marL="2286000" lvl="4" indent="-228600" algn="l">
              <a:spcBef>
                <a:spcPts val="0"/>
              </a:spcBef>
              <a:spcAft>
                <a:spcPts val="0"/>
              </a:spcAft>
              <a:buSzPts val="700"/>
              <a:buNone/>
              <a:defRPr/>
            </a:lvl5pPr>
            <a:lvl6pPr marL="2743200" lvl="5" indent="-228600" algn="l">
              <a:spcBef>
                <a:spcPts val="0"/>
              </a:spcBef>
              <a:spcAft>
                <a:spcPts val="0"/>
              </a:spcAft>
              <a:buSzPts val="700"/>
              <a:buNone/>
              <a:defRPr/>
            </a:lvl6pPr>
            <a:lvl7pPr marL="3200400" lvl="6" indent="-228600" algn="l">
              <a:spcBef>
                <a:spcPts val="0"/>
              </a:spcBef>
              <a:spcAft>
                <a:spcPts val="0"/>
              </a:spcAft>
              <a:buSzPts val="700"/>
              <a:buNone/>
              <a:defRPr/>
            </a:lvl7pPr>
            <a:lvl8pPr marL="3657600" lvl="7" indent="-228600" algn="l">
              <a:spcBef>
                <a:spcPts val="0"/>
              </a:spcBef>
              <a:spcAft>
                <a:spcPts val="0"/>
              </a:spcAft>
              <a:buSzPts val="700"/>
              <a:buNone/>
              <a:defRPr/>
            </a:lvl8pPr>
            <a:lvl9pPr marL="4114800" lvl="8" indent="-228600" algn="l">
              <a:spcBef>
                <a:spcPts val="0"/>
              </a:spcBef>
              <a:spcAft>
                <a:spcPts val="0"/>
              </a:spcAft>
              <a:buSzPts val="700"/>
              <a:buNone/>
              <a:defRPr/>
            </a:lvl9pPr>
          </a:lstStyle>
          <a:p>
            <a:endParaRPr/>
          </a:p>
        </p:txBody>
      </p:sp>
      <p:sp>
        <p:nvSpPr>
          <p:cNvPr id="79" name="Google Shape;79;p16"/>
          <p:cNvSpPr txBox="1">
            <a:spLocks noGrp="1"/>
          </p:cNvSpPr>
          <p:nvPr>
            <p:ph type="body" idx="2"/>
          </p:nvPr>
        </p:nvSpPr>
        <p:spPr>
          <a:xfrm>
            <a:off x="4697733" y="1766531"/>
            <a:ext cx="4040822" cy="283527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700"/>
              <a:buNone/>
              <a:defRPr sz="1200" b="1" i="0">
                <a:solidFill>
                  <a:schemeClr val="dk1"/>
                </a:solidFill>
                <a:latin typeface="Trebuchet MS"/>
                <a:ea typeface="Trebuchet MS"/>
                <a:cs typeface="Trebuchet MS"/>
                <a:sym typeface="Trebuchet MS"/>
              </a:defRPr>
            </a:lvl1pPr>
            <a:lvl2pPr marL="914400" lvl="1" indent="-228600" algn="l">
              <a:spcBef>
                <a:spcPts val="0"/>
              </a:spcBef>
              <a:spcAft>
                <a:spcPts val="0"/>
              </a:spcAft>
              <a:buSzPts val="700"/>
              <a:buNone/>
              <a:defRPr/>
            </a:lvl2pPr>
            <a:lvl3pPr marL="1371600" lvl="2" indent="-228600" algn="l">
              <a:spcBef>
                <a:spcPts val="0"/>
              </a:spcBef>
              <a:spcAft>
                <a:spcPts val="0"/>
              </a:spcAft>
              <a:buSzPts val="700"/>
              <a:buNone/>
              <a:defRPr/>
            </a:lvl3pPr>
            <a:lvl4pPr marL="1828800" lvl="3" indent="-228600" algn="l">
              <a:spcBef>
                <a:spcPts val="0"/>
              </a:spcBef>
              <a:spcAft>
                <a:spcPts val="0"/>
              </a:spcAft>
              <a:buSzPts val="700"/>
              <a:buNone/>
              <a:defRPr/>
            </a:lvl4pPr>
            <a:lvl5pPr marL="2286000" lvl="4" indent="-228600" algn="l">
              <a:spcBef>
                <a:spcPts val="0"/>
              </a:spcBef>
              <a:spcAft>
                <a:spcPts val="0"/>
              </a:spcAft>
              <a:buSzPts val="700"/>
              <a:buNone/>
              <a:defRPr/>
            </a:lvl5pPr>
            <a:lvl6pPr marL="2743200" lvl="5" indent="-228600" algn="l">
              <a:spcBef>
                <a:spcPts val="0"/>
              </a:spcBef>
              <a:spcAft>
                <a:spcPts val="0"/>
              </a:spcAft>
              <a:buSzPts val="700"/>
              <a:buNone/>
              <a:defRPr/>
            </a:lvl6pPr>
            <a:lvl7pPr marL="3200400" lvl="6" indent="-228600" algn="l">
              <a:spcBef>
                <a:spcPts val="0"/>
              </a:spcBef>
              <a:spcAft>
                <a:spcPts val="0"/>
              </a:spcAft>
              <a:buSzPts val="700"/>
              <a:buNone/>
              <a:defRPr/>
            </a:lvl7pPr>
            <a:lvl8pPr marL="3657600" lvl="7" indent="-228600" algn="l">
              <a:spcBef>
                <a:spcPts val="0"/>
              </a:spcBef>
              <a:spcAft>
                <a:spcPts val="0"/>
              </a:spcAft>
              <a:buSzPts val="700"/>
              <a:buNone/>
              <a:defRPr/>
            </a:lvl8pPr>
            <a:lvl9pPr marL="4114800" lvl="8" indent="-228600" algn="l">
              <a:spcBef>
                <a:spcPts val="0"/>
              </a:spcBef>
              <a:spcAft>
                <a:spcPts val="0"/>
              </a:spcAft>
              <a:buSzPts val="700"/>
              <a:buNone/>
              <a:defRPr/>
            </a:lvl9pPr>
          </a:lstStyle>
          <a:p>
            <a:endParaRPr/>
          </a:p>
        </p:txBody>
      </p:sp>
      <p:sp>
        <p:nvSpPr>
          <p:cNvPr id="80" name="Google Shape;80;p16"/>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81" name="Google Shape;81;p16"/>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a:solidFill>
                  <a:srgbClr val="888888"/>
                </a:solidFill>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82" name="Google Shape;82;p16"/>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chemeClr val="lt1"/>
        </a:solidFill>
        <a:effectLst/>
      </p:bgPr>
    </p:bg>
    <p:spTree>
      <p:nvGrpSpPr>
        <p:cNvPr id="1" name="Shape 83"/>
        <p:cNvGrpSpPr/>
        <p:nvPr/>
      </p:nvGrpSpPr>
      <p:grpSpPr>
        <a:xfrm>
          <a:off x="0" y="0"/>
          <a:ext cx="0" cy="0"/>
          <a:chOff x="0" y="0"/>
          <a:chExt cx="0" cy="0"/>
        </a:xfrm>
      </p:grpSpPr>
      <p:pic>
        <p:nvPicPr>
          <p:cNvPr id="84" name="Google Shape;84;p17"/>
          <p:cNvPicPr preferRelativeResize="0"/>
          <p:nvPr/>
        </p:nvPicPr>
        <p:blipFill rotWithShape="1">
          <a:blip r:embed="rId2">
            <a:alphaModFix/>
          </a:blip>
          <a:srcRect/>
          <a:stretch/>
        </p:blipFill>
        <p:spPr>
          <a:xfrm>
            <a:off x="1" y="4865257"/>
            <a:ext cx="9143998" cy="278243"/>
          </a:xfrm>
          <a:prstGeom prst="rect">
            <a:avLst/>
          </a:prstGeom>
          <a:noFill/>
          <a:ln>
            <a:noFill/>
          </a:ln>
        </p:spPr>
      </p:pic>
      <p:pic>
        <p:nvPicPr>
          <p:cNvPr id="85" name="Google Shape;85;p17"/>
          <p:cNvPicPr preferRelativeResize="0"/>
          <p:nvPr/>
        </p:nvPicPr>
        <p:blipFill rotWithShape="1">
          <a:blip r:embed="rId3">
            <a:alphaModFix/>
          </a:blip>
          <a:srcRect/>
          <a:stretch/>
        </p:blipFill>
        <p:spPr>
          <a:xfrm>
            <a:off x="0" y="4737108"/>
            <a:ext cx="6999768" cy="136182"/>
          </a:xfrm>
          <a:prstGeom prst="rect">
            <a:avLst/>
          </a:prstGeom>
          <a:noFill/>
          <a:ln>
            <a:noFill/>
          </a:ln>
        </p:spPr>
      </p:pic>
      <p:pic>
        <p:nvPicPr>
          <p:cNvPr id="86" name="Google Shape;86;p17"/>
          <p:cNvPicPr preferRelativeResize="0"/>
          <p:nvPr/>
        </p:nvPicPr>
        <p:blipFill rotWithShape="1">
          <a:blip r:embed="rId4">
            <a:alphaModFix/>
          </a:blip>
          <a:srcRect/>
          <a:stretch/>
        </p:blipFill>
        <p:spPr>
          <a:xfrm>
            <a:off x="8451091" y="0"/>
            <a:ext cx="692909" cy="557316"/>
          </a:xfrm>
          <a:prstGeom prst="rect">
            <a:avLst/>
          </a:prstGeom>
          <a:noFill/>
          <a:ln>
            <a:noFill/>
          </a:ln>
        </p:spPr>
      </p:pic>
      <p:pic>
        <p:nvPicPr>
          <p:cNvPr id="87" name="Google Shape;87;p17"/>
          <p:cNvPicPr preferRelativeResize="0"/>
          <p:nvPr/>
        </p:nvPicPr>
        <p:blipFill rotWithShape="1">
          <a:blip r:embed="rId5">
            <a:alphaModFix/>
          </a:blip>
          <a:srcRect/>
          <a:stretch/>
        </p:blipFill>
        <p:spPr>
          <a:xfrm>
            <a:off x="146510" y="87549"/>
            <a:ext cx="1714172" cy="539885"/>
          </a:xfrm>
          <a:prstGeom prst="rect">
            <a:avLst/>
          </a:prstGeom>
          <a:noFill/>
          <a:ln>
            <a:noFill/>
          </a:ln>
        </p:spPr>
      </p:pic>
      <p:pic>
        <p:nvPicPr>
          <p:cNvPr id="88" name="Google Shape;88;p17"/>
          <p:cNvPicPr preferRelativeResize="0"/>
          <p:nvPr/>
        </p:nvPicPr>
        <p:blipFill rotWithShape="1">
          <a:blip r:embed="rId6">
            <a:alphaModFix/>
          </a:blip>
          <a:srcRect/>
          <a:stretch/>
        </p:blipFill>
        <p:spPr>
          <a:xfrm>
            <a:off x="4626429" y="1543494"/>
            <a:ext cx="890587" cy="3024187"/>
          </a:xfrm>
          <a:prstGeom prst="rect">
            <a:avLst/>
          </a:prstGeom>
          <a:noFill/>
          <a:ln>
            <a:noFill/>
          </a:ln>
        </p:spPr>
      </p:pic>
      <p:pic>
        <p:nvPicPr>
          <p:cNvPr id="89" name="Google Shape;89;p17"/>
          <p:cNvPicPr preferRelativeResize="0"/>
          <p:nvPr/>
        </p:nvPicPr>
        <p:blipFill rotWithShape="1">
          <a:blip r:embed="rId7">
            <a:alphaModFix/>
          </a:blip>
          <a:srcRect/>
          <a:stretch/>
        </p:blipFill>
        <p:spPr>
          <a:xfrm>
            <a:off x="5489857" y="1543495"/>
            <a:ext cx="3400425" cy="3024187"/>
          </a:xfrm>
          <a:prstGeom prst="rect">
            <a:avLst/>
          </a:prstGeom>
          <a:noFill/>
          <a:ln>
            <a:noFill/>
          </a:ln>
        </p:spPr>
      </p:pic>
      <p:pic>
        <p:nvPicPr>
          <p:cNvPr id="90" name="Google Shape;90;p17"/>
          <p:cNvPicPr preferRelativeResize="0"/>
          <p:nvPr/>
        </p:nvPicPr>
        <p:blipFill rotWithShape="1">
          <a:blip r:embed="rId8">
            <a:alphaModFix/>
          </a:blip>
          <a:srcRect/>
          <a:stretch/>
        </p:blipFill>
        <p:spPr>
          <a:xfrm>
            <a:off x="1080658" y="1543494"/>
            <a:ext cx="3162299" cy="3023893"/>
          </a:xfrm>
          <a:prstGeom prst="rect">
            <a:avLst/>
          </a:prstGeom>
          <a:noFill/>
          <a:ln>
            <a:noFill/>
          </a:ln>
        </p:spPr>
      </p:pic>
      <p:pic>
        <p:nvPicPr>
          <p:cNvPr id="91" name="Google Shape;91;p17"/>
          <p:cNvPicPr preferRelativeResize="0"/>
          <p:nvPr/>
        </p:nvPicPr>
        <p:blipFill rotWithShape="1">
          <a:blip r:embed="rId9">
            <a:alphaModFix/>
          </a:blip>
          <a:srcRect/>
          <a:stretch/>
        </p:blipFill>
        <p:spPr>
          <a:xfrm>
            <a:off x="211457" y="1543495"/>
            <a:ext cx="957262" cy="3024187"/>
          </a:xfrm>
          <a:prstGeom prst="rect">
            <a:avLst/>
          </a:prstGeom>
          <a:noFill/>
          <a:ln>
            <a:noFill/>
          </a:ln>
        </p:spPr>
      </p:pic>
      <p:sp>
        <p:nvSpPr>
          <p:cNvPr id="92" name="Google Shape;92;p17"/>
          <p:cNvSpPr txBox="1">
            <a:spLocks noGrp="1"/>
          </p:cNvSpPr>
          <p:nvPr>
            <p:ph type="ctrTitle"/>
          </p:nvPr>
        </p:nvSpPr>
        <p:spPr>
          <a:xfrm>
            <a:off x="3168473" y="253444"/>
            <a:ext cx="2807054" cy="47847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3100" b="0" i="0">
                <a:solidFill>
                  <a:srgbClr val="BF0000"/>
                </a:solidFill>
                <a:latin typeface="Tahoma"/>
                <a:ea typeface="Tahoma"/>
                <a:cs typeface="Tahoma"/>
                <a:sym typeface="Tahoma"/>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93" name="Google Shape;93;p17"/>
          <p:cNvSpPr txBox="1">
            <a:spLocks noGrp="1"/>
          </p:cNvSpPr>
          <p:nvPr>
            <p:ph type="subTitle" idx="1"/>
          </p:nvPr>
        </p:nvSpPr>
        <p:spPr>
          <a:xfrm>
            <a:off x="1371600" y="2880360"/>
            <a:ext cx="6400800" cy="12858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1300" b="0" i="0">
                <a:solidFill>
                  <a:srgbClr val="CC2B4B"/>
                </a:solidFill>
                <a:latin typeface="Tahoma"/>
                <a:ea typeface="Tahoma"/>
                <a:cs typeface="Tahoma"/>
                <a:sym typeface="Tahoma"/>
              </a:defRPr>
            </a:lvl1pPr>
            <a:lvl2pPr lvl="1" algn="l">
              <a:spcBef>
                <a:spcPts val="0"/>
              </a:spcBef>
              <a:spcAft>
                <a:spcPts val="0"/>
              </a:spcAft>
              <a:buSzPts val="700"/>
              <a:buNone/>
              <a:defRPr/>
            </a:lvl2pPr>
            <a:lvl3pPr lvl="2" algn="l">
              <a:spcBef>
                <a:spcPts val="0"/>
              </a:spcBef>
              <a:spcAft>
                <a:spcPts val="0"/>
              </a:spcAft>
              <a:buSzPts val="700"/>
              <a:buNone/>
              <a:defRPr/>
            </a:lvl3pPr>
            <a:lvl4pPr lvl="3" algn="l">
              <a:spcBef>
                <a:spcPts val="0"/>
              </a:spcBef>
              <a:spcAft>
                <a:spcPts val="0"/>
              </a:spcAft>
              <a:buSzPts val="700"/>
              <a:buNone/>
              <a:defRPr/>
            </a:lvl4pPr>
            <a:lvl5pPr lvl="4" algn="l">
              <a:spcBef>
                <a:spcPts val="0"/>
              </a:spcBef>
              <a:spcAft>
                <a:spcPts val="0"/>
              </a:spcAft>
              <a:buSzPts val="700"/>
              <a:buNone/>
              <a:defRPr/>
            </a:lvl5pPr>
            <a:lvl6pPr lvl="5" algn="l">
              <a:spcBef>
                <a:spcPts val="0"/>
              </a:spcBef>
              <a:spcAft>
                <a:spcPts val="0"/>
              </a:spcAft>
              <a:buSzPts val="700"/>
              <a:buNone/>
              <a:defRPr/>
            </a:lvl6pPr>
            <a:lvl7pPr lvl="6" algn="l">
              <a:spcBef>
                <a:spcPts val="0"/>
              </a:spcBef>
              <a:spcAft>
                <a:spcPts val="0"/>
              </a:spcAft>
              <a:buSzPts val="700"/>
              <a:buNone/>
              <a:defRPr/>
            </a:lvl7pPr>
            <a:lvl8pPr lvl="7" algn="l">
              <a:spcBef>
                <a:spcPts val="0"/>
              </a:spcBef>
              <a:spcAft>
                <a:spcPts val="0"/>
              </a:spcAft>
              <a:buSzPts val="700"/>
              <a:buNone/>
              <a:defRPr/>
            </a:lvl8pPr>
            <a:lvl9pPr lvl="8" algn="l">
              <a:spcBef>
                <a:spcPts val="0"/>
              </a:spcBef>
              <a:spcAft>
                <a:spcPts val="0"/>
              </a:spcAft>
              <a:buSzPts val="700"/>
              <a:buNone/>
              <a:defRPr/>
            </a:lvl9pPr>
          </a:lstStyle>
          <a:p>
            <a:endParaRPr/>
          </a:p>
        </p:txBody>
      </p:sp>
      <p:sp>
        <p:nvSpPr>
          <p:cNvPr id="94" name="Google Shape;94;p17"/>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95" name="Google Shape;95;p17"/>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a:solidFill>
                  <a:srgbClr val="888888"/>
                </a:solidFill>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96" name="Google Shape;96;p17"/>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97"/>
        <p:cNvGrpSpPr/>
        <p:nvPr/>
      </p:nvGrpSpPr>
      <p:grpSpPr>
        <a:xfrm>
          <a:off x="0" y="0"/>
          <a:ext cx="0" cy="0"/>
          <a:chOff x="0" y="0"/>
          <a:chExt cx="0" cy="0"/>
        </a:xfrm>
      </p:grpSpPr>
      <p:sp>
        <p:nvSpPr>
          <p:cNvPr id="98" name="Google Shape;98;p18"/>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99" name="Google Shape;99;p18"/>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a:solidFill>
                  <a:srgbClr val="888888"/>
                </a:solidFill>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100" name="Google Shape;100;p18"/>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image" Target="../media/image4.jpg"/><Relationship Id="rId4" Type="http://schemas.openxmlformats.org/officeDocument/2006/relationships/slideLayout" Target="../slideLayouts/slideLayout15.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pic>
        <p:nvPicPr>
          <p:cNvPr id="51" name="Google Shape;51;p13"/>
          <p:cNvPicPr preferRelativeResize="0"/>
          <p:nvPr/>
        </p:nvPicPr>
        <p:blipFill rotWithShape="1">
          <a:blip r:embed="rId7">
            <a:alphaModFix/>
          </a:blip>
          <a:srcRect/>
          <a:stretch/>
        </p:blipFill>
        <p:spPr>
          <a:xfrm>
            <a:off x="1" y="4865257"/>
            <a:ext cx="9143998" cy="278243"/>
          </a:xfrm>
          <a:prstGeom prst="rect">
            <a:avLst/>
          </a:prstGeom>
          <a:noFill/>
          <a:ln>
            <a:noFill/>
          </a:ln>
        </p:spPr>
      </p:pic>
      <p:pic>
        <p:nvPicPr>
          <p:cNvPr id="52" name="Google Shape;52;p13"/>
          <p:cNvPicPr preferRelativeResize="0"/>
          <p:nvPr/>
        </p:nvPicPr>
        <p:blipFill rotWithShape="1">
          <a:blip r:embed="rId8">
            <a:alphaModFix/>
          </a:blip>
          <a:srcRect/>
          <a:stretch/>
        </p:blipFill>
        <p:spPr>
          <a:xfrm>
            <a:off x="0" y="4737108"/>
            <a:ext cx="6999768" cy="136182"/>
          </a:xfrm>
          <a:prstGeom prst="rect">
            <a:avLst/>
          </a:prstGeom>
          <a:noFill/>
          <a:ln>
            <a:noFill/>
          </a:ln>
        </p:spPr>
      </p:pic>
      <p:pic>
        <p:nvPicPr>
          <p:cNvPr id="53" name="Google Shape;53;p13"/>
          <p:cNvPicPr preferRelativeResize="0"/>
          <p:nvPr/>
        </p:nvPicPr>
        <p:blipFill rotWithShape="1">
          <a:blip r:embed="rId9">
            <a:alphaModFix/>
          </a:blip>
          <a:srcRect/>
          <a:stretch/>
        </p:blipFill>
        <p:spPr>
          <a:xfrm>
            <a:off x="8451091" y="0"/>
            <a:ext cx="692909" cy="557316"/>
          </a:xfrm>
          <a:prstGeom prst="rect">
            <a:avLst/>
          </a:prstGeom>
          <a:noFill/>
          <a:ln>
            <a:noFill/>
          </a:ln>
        </p:spPr>
      </p:pic>
      <p:pic>
        <p:nvPicPr>
          <p:cNvPr id="54" name="Google Shape;54;p13"/>
          <p:cNvPicPr preferRelativeResize="0"/>
          <p:nvPr/>
        </p:nvPicPr>
        <p:blipFill rotWithShape="1">
          <a:blip r:embed="rId10">
            <a:alphaModFix/>
          </a:blip>
          <a:srcRect/>
          <a:stretch/>
        </p:blipFill>
        <p:spPr>
          <a:xfrm>
            <a:off x="146510" y="87549"/>
            <a:ext cx="1714172" cy="539885"/>
          </a:xfrm>
          <a:prstGeom prst="rect">
            <a:avLst/>
          </a:prstGeom>
          <a:noFill/>
          <a:ln>
            <a:noFill/>
          </a:ln>
        </p:spPr>
      </p:pic>
      <p:sp>
        <p:nvSpPr>
          <p:cNvPr id="55" name="Google Shape;55;p13"/>
          <p:cNvSpPr txBox="1">
            <a:spLocks noGrp="1"/>
          </p:cNvSpPr>
          <p:nvPr>
            <p:ph type="title"/>
          </p:nvPr>
        </p:nvSpPr>
        <p:spPr>
          <a:xfrm>
            <a:off x="2110156" y="-77105"/>
            <a:ext cx="5347315" cy="851988"/>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700"/>
              <a:buNone/>
              <a:defRPr sz="3100" b="0" i="0" u="none" strike="noStrike" cap="none">
                <a:solidFill>
                  <a:srgbClr val="BF0000"/>
                </a:solidFill>
                <a:latin typeface="Tahoma"/>
                <a:ea typeface="Tahoma"/>
                <a:cs typeface="Tahoma"/>
                <a:sym typeface="Tahoma"/>
              </a:defRPr>
            </a:lvl1pPr>
            <a:lvl2pPr lvl="1">
              <a:spcBef>
                <a:spcPts val="0"/>
              </a:spcBef>
              <a:spcAft>
                <a:spcPts val="0"/>
              </a:spcAft>
              <a:buSzPts val="700"/>
              <a:buNone/>
              <a:defRPr sz="900"/>
            </a:lvl2pPr>
            <a:lvl3pPr lvl="2">
              <a:spcBef>
                <a:spcPts val="0"/>
              </a:spcBef>
              <a:spcAft>
                <a:spcPts val="0"/>
              </a:spcAft>
              <a:buSzPts val="700"/>
              <a:buNone/>
              <a:defRPr sz="900"/>
            </a:lvl3pPr>
            <a:lvl4pPr lvl="3">
              <a:spcBef>
                <a:spcPts val="0"/>
              </a:spcBef>
              <a:spcAft>
                <a:spcPts val="0"/>
              </a:spcAft>
              <a:buSzPts val="700"/>
              <a:buNone/>
              <a:defRPr sz="900"/>
            </a:lvl4pPr>
            <a:lvl5pPr lvl="4">
              <a:spcBef>
                <a:spcPts val="0"/>
              </a:spcBef>
              <a:spcAft>
                <a:spcPts val="0"/>
              </a:spcAft>
              <a:buSzPts val="700"/>
              <a:buNone/>
              <a:defRPr sz="900"/>
            </a:lvl5pPr>
            <a:lvl6pPr lvl="5">
              <a:spcBef>
                <a:spcPts val="0"/>
              </a:spcBef>
              <a:spcAft>
                <a:spcPts val="0"/>
              </a:spcAft>
              <a:buSzPts val="700"/>
              <a:buNone/>
              <a:defRPr sz="900"/>
            </a:lvl6pPr>
            <a:lvl7pPr lvl="6">
              <a:spcBef>
                <a:spcPts val="0"/>
              </a:spcBef>
              <a:spcAft>
                <a:spcPts val="0"/>
              </a:spcAft>
              <a:buSzPts val="700"/>
              <a:buNone/>
              <a:defRPr sz="900"/>
            </a:lvl7pPr>
            <a:lvl8pPr lvl="7">
              <a:spcBef>
                <a:spcPts val="0"/>
              </a:spcBef>
              <a:spcAft>
                <a:spcPts val="0"/>
              </a:spcAft>
              <a:buSzPts val="700"/>
              <a:buNone/>
              <a:defRPr sz="900"/>
            </a:lvl8pPr>
            <a:lvl9pPr lvl="8">
              <a:spcBef>
                <a:spcPts val="0"/>
              </a:spcBef>
              <a:spcAft>
                <a:spcPts val="0"/>
              </a:spcAft>
              <a:buSzPts val="700"/>
              <a:buNone/>
              <a:defRPr sz="900"/>
            </a:lvl9pPr>
          </a:lstStyle>
          <a:p>
            <a:endParaRPr/>
          </a:p>
        </p:txBody>
      </p:sp>
      <p:sp>
        <p:nvSpPr>
          <p:cNvPr id="56" name="Google Shape;56;p13"/>
          <p:cNvSpPr txBox="1">
            <a:spLocks noGrp="1"/>
          </p:cNvSpPr>
          <p:nvPr>
            <p:ph type="body" idx="1"/>
          </p:nvPr>
        </p:nvSpPr>
        <p:spPr>
          <a:xfrm>
            <a:off x="557166" y="948550"/>
            <a:ext cx="7997508" cy="328104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700"/>
              <a:buNone/>
              <a:defRPr sz="1300" b="0" i="0" u="none" strike="noStrike" cap="none">
                <a:solidFill>
                  <a:srgbClr val="CC2B4B"/>
                </a:solidFill>
                <a:latin typeface="Tahoma"/>
                <a:ea typeface="Tahoma"/>
                <a:cs typeface="Tahoma"/>
                <a:sym typeface="Tahoma"/>
              </a:defRPr>
            </a:lvl1pPr>
            <a:lvl2pPr marL="914400" marR="0" lvl="1" indent="-228600" algn="l" rtl="0">
              <a:spcBef>
                <a:spcPts val="0"/>
              </a:spcBef>
              <a:spcAft>
                <a:spcPts val="0"/>
              </a:spcAft>
              <a:buSzPts val="700"/>
              <a:buNone/>
              <a:defRPr sz="900" b="0" i="0" u="none" strike="noStrike" cap="none">
                <a:latin typeface="Calibri"/>
                <a:ea typeface="Calibri"/>
                <a:cs typeface="Calibri"/>
                <a:sym typeface="Calibri"/>
              </a:defRPr>
            </a:lvl2pPr>
            <a:lvl3pPr marL="1371600" marR="0" lvl="2" indent="-228600" algn="l" rtl="0">
              <a:spcBef>
                <a:spcPts val="0"/>
              </a:spcBef>
              <a:spcAft>
                <a:spcPts val="0"/>
              </a:spcAft>
              <a:buSzPts val="700"/>
              <a:buNone/>
              <a:defRPr sz="900" b="0" i="0" u="none" strike="noStrike" cap="none">
                <a:latin typeface="Calibri"/>
                <a:ea typeface="Calibri"/>
                <a:cs typeface="Calibri"/>
                <a:sym typeface="Calibri"/>
              </a:defRPr>
            </a:lvl3pPr>
            <a:lvl4pPr marL="1828800" marR="0" lvl="3" indent="-228600" algn="l" rtl="0">
              <a:spcBef>
                <a:spcPts val="0"/>
              </a:spcBef>
              <a:spcAft>
                <a:spcPts val="0"/>
              </a:spcAft>
              <a:buSzPts val="700"/>
              <a:buNone/>
              <a:defRPr sz="900" b="0" i="0" u="none" strike="noStrike" cap="none">
                <a:latin typeface="Calibri"/>
                <a:ea typeface="Calibri"/>
                <a:cs typeface="Calibri"/>
                <a:sym typeface="Calibri"/>
              </a:defRPr>
            </a:lvl4pPr>
            <a:lvl5pPr marL="2286000" marR="0" lvl="4" indent="-228600" algn="l" rtl="0">
              <a:spcBef>
                <a:spcPts val="0"/>
              </a:spcBef>
              <a:spcAft>
                <a:spcPts val="0"/>
              </a:spcAft>
              <a:buSzPts val="700"/>
              <a:buNone/>
              <a:defRPr sz="900" b="0" i="0" u="none" strike="noStrike" cap="none">
                <a:latin typeface="Calibri"/>
                <a:ea typeface="Calibri"/>
                <a:cs typeface="Calibri"/>
                <a:sym typeface="Calibri"/>
              </a:defRPr>
            </a:lvl5pPr>
            <a:lvl6pPr marL="2743200" marR="0" lvl="5" indent="-228600" algn="l" rtl="0">
              <a:spcBef>
                <a:spcPts val="0"/>
              </a:spcBef>
              <a:spcAft>
                <a:spcPts val="0"/>
              </a:spcAft>
              <a:buSzPts val="700"/>
              <a:buNone/>
              <a:defRPr sz="900" b="0" i="0" u="none" strike="noStrike" cap="none">
                <a:latin typeface="Calibri"/>
                <a:ea typeface="Calibri"/>
                <a:cs typeface="Calibri"/>
                <a:sym typeface="Calibri"/>
              </a:defRPr>
            </a:lvl6pPr>
            <a:lvl7pPr marL="3200400" marR="0" lvl="6" indent="-228600" algn="l" rtl="0">
              <a:spcBef>
                <a:spcPts val="0"/>
              </a:spcBef>
              <a:spcAft>
                <a:spcPts val="0"/>
              </a:spcAft>
              <a:buSzPts val="700"/>
              <a:buNone/>
              <a:defRPr sz="900" b="0" i="0" u="none" strike="noStrike" cap="none">
                <a:latin typeface="Calibri"/>
                <a:ea typeface="Calibri"/>
                <a:cs typeface="Calibri"/>
                <a:sym typeface="Calibri"/>
              </a:defRPr>
            </a:lvl7pPr>
            <a:lvl8pPr marL="3657600" marR="0" lvl="7" indent="-228600" algn="l" rtl="0">
              <a:spcBef>
                <a:spcPts val="0"/>
              </a:spcBef>
              <a:spcAft>
                <a:spcPts val="0"/>
              </a:spcAft>
              <a:buSzPts val="700"/>
              <a:buNone/>
              <a:defRPr sz="900" b="0" i="0" u="none" strike="noStrike" cap="none">
                <a:latin typeface="Calibri"/>
                <a:ea typeface="Calibri"/>
                <a:cs typeface="Calibri"/>
                <a:sym typeface="Calibri"/>
              </a:defRPr>
            </a:lvl8pPr>
            <a:lvl9pPr marL="4114800" marR="0" lvl="8" indent="-228600" algn="l" rtl="0">
              <a:spcBef>
                <a:spcPts val="0"/>
              </a:spcBef>
              <a:spcAft>
                <a:spcPts val="0"/>
              </a:spcAft>
              <a:buSzPts val="700"/>
              <a:buNone/>
              <a:defRPr sz="900" b="0" i="0" u="none" strike="noStrike" cap="none">
                <a:latin typeface="Calibri"/>
                <a:ea typeface="Calibri"/>
                <a:cs typeface="Calibri"/>
                <a:sym typeface="Calibri"/>
              </a:defRPr>
            </a:lvl9pPr>
          </a:lstStyle>
          <a:p>
            <a:endParaRPr/>
          </a:p>
        </p:txBody>
      </p:sp>
      <p:sp>
        <p:nvSpPr>
          <p:cNvPr id="57" name="Google Shape;57;p13"/>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lvl1pPr lvl="0">
              <a:spcBef>
                <a:spcPts val="0"/>
              </a:spcBef>
              <a:spcAft>
                <a:spcPts val="0"/>
              </a:spcAft>
              <a:buSzPts val="700"/>
              <a:buNone/>
              <a:defRPr sz="900" b="0" i="0">
                <a:solidFill>
                  <a:schemeClr val="lt1"/>
                </a:solidFill>
                <a:latin typeface="Trebuchet MS"/>
                <a:ea typeface="Trebuchet MS"/>
                <a:cs typeface="Trebuchet MS"/>
                <a:sym typeface="Trebuchet MS"/>
              </a:defRPr>
            </a:lvl1pPr>
            <a:lvl2pPr lvl="1">
              <a:spcBef>
                <a:spcPts val="0"/>
              </a:spcBef>
              <a:spcAft>
                <a:spcPts val="0"/>
              </a:spcAft>
              <a:buSzPts val="700"/>
              <a:buNone/>
              <a:defRPr sz="900"/>
            </a:lvl2pPr>
            <a:lvl3pPr lvl="2">
              <a:spcBef>
                <a:spcPts val="0"/>
              </a:spcBef>
              <a:spcAft>
                <a:spcPts val="0"/>
              </a:spcAft>
              <a:buSzPts val="700"/>
              <a:buNone/>
              <a:defRPr sz="900"/>
            </a:lvl3pPr>
            <a:lvl4pPr lvl="3">
              <a:spcBef>
                <a:spcPts val="0"/>
              </a:spcBef>
              <a:spcAft>
                <a:spcPts val="0"/>
              </a:spcAft>
              <a:buSzPts val="700"/>
              <a:buNone/>
              <a:defRPr sz="900"/>
            </a:lvl4pPr>
            <a:lvl5pPr lvl="4">
              <a:spcBef>
                <a:spcPts val="0"/>
              </a:spcBef>
              <a:spcAft>
                <a:spcPts val="0"/>
              </a:spcAft>
              <a:buSzPts val="700"/>
              <a:buNone/>
              <a:defRPr sz="900"/>
            </a:lvl5pPr>
            <a:lvl6pPr lvl="5">
              <a:spcBef>
                <a:spcPts val="0"/>
              </a:spcBef>
              <a:spcAft>
                <a:spcPts val="0"/>
              </a:spcAft>
              <a:buSzPts val="700"/>
              <a:buNone/>
              <a:defRPr sz="900"/>
            </a:lvl6pPr>
            <a:lvl7pPr lvl="6">
              <a:spcBef>
                <a:spcPts val="0"/>
              </a:spcBef>
              <a:spcAft>
                <a:spcPts val="0"/>
              </a:spcAft>
              <a:buSzPts val="700"/>
              <a:buNone/>
              <a:defRPr sz="900"/>
            </a:lvl7pPr>
            <a:lvl8pPr lvl="7">
              <a:spcBef>
                <a:spcPts val="0"/>
              </a:spcBef>
              <a:spcAft>
                <a:spcPts val="0"/>
              </a:spcAft>
              <a:buSzPts val="700"/>
              <a:buNone/>
              <a:defRPr sz="900"/>
            </a:lvl8pPr>
            <a:lvl9pPr lvl="8">
              <a:spcBef>
                <a:spcPts val="0"/>
              </a:spcBef>
              <a:spcAft>
                <a:spcPts val="0"/>
              </a:spcAft>
              <a:buSzPts val="700"/>
              <a:buNone/>
              <a:defRPr sz="900"/>
            </a:lvl9pPr>
          </a:lstStyle>
          <a:p>
            <a:endParaRPr/>
          </a:p>
        </p:txBody>
      </p:sp>
      <p:sp>
        <p:nvSpPr>
          <p:cNvPr id="58" name="Google Shape;58;p13"/>
          <p:cNvSpPr txBox="1">
            <a:spLocks noGrp="1"/>
          </p:cNvSpPr>
          <p:nvPr>
            <p:ph type="dt" idx="10"/>
          </p:nvPr>
        </p:nvSpPr>
        <p:spPr>
          <a:xfrm>
            <a:off x="457200" y="4783455"/>
            <a:ext cx="2103120" cy="2571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700"/>
              <a:buNone/>
              <a:defRPr sz="900">
                <a:solidFill>
                  <a:srgbClr val="888888"/>
                </a:solidFill>
              </a:defRPr>
            </a:lvl1pPr>
            <a:lvl2pPr lvl="1">
              <a:spcBef>
                <a:spcPts val="0"/>
              </a:spcBef>
              <a:spcAft>
                <a:spcPts val="0"/>
              </a:spcAft>
              <a:buSzPts val="700"/>
              <a:buNone/>
              <a:defRPr sz="900"/>
            </a:lvl2pPr>
            <a:lvl3pPr lvl="2">
              <a:spcBef>
                <a:spcPts val="0"/>
              </a:spcBef>
              <a:spcAft>
                <a:spcPts val="0"/>
              </a:spcAft>
              <a:buSzPts val="700"/>
              <a:buNone/>
              <a:defRPr sz="900"/>
            </a:lvl3pPr>
            <a:lvl4pPr lvl="3">
              <a:spcBef>
                <a:spcPts val="0"/>
              </a:spcBef>
              <a:spcAft>
                <a:spcPts val="0"/>
              </a:spcAft>
              <a:buSzPts val="700"/>
              <a:buNone/>
              <a:defRPr sz="900"/>
            </a:lvl4pPr>
            <a:lvl5pPr lvl="4">
              <a:spcBef>
                <a:spcPts val="0"/>
              </a:spcBef>
              <a:spcAft>
                <a:spcPts val="0"/>
              </a:spcAft>
              <a:buSzPts val="700"/>
              <a:buNone/>
              <a:defRPr sz="900"/>
            </a:lvl5pPr>
            <a:lvl6pPr lvl="5">
              <a:spcBef>
                <a:spcPts val="0"/>
              </a:spcBef>
              <a:spcAft>
                <a:spcPts val="0"/>
              </a:spcAft>
              <a:buSzPts val="700"/>
              <a:buNone/>
              <a:defRPr sz="900"/>
            </a:lvl6pPr>
            <a:lvl7pPr lvl="6">
              <a:spcBef>
                <a:spcPts val="0"/>
              </a:spcBef>
              <a:spcAft>
                <a:spcPts val="0"/>
              </a:spcAft>
              <a:buSzPts val="700"/>
              <a:buNone/>
              <a:defRPr sz="900"/>
            </a:lvl7pPr>
            <a:lvl8pPr lvl="7">
              <a:spcBef>
                <a:spcPts val="0"/>
              </a:spcBef>
              <a:spcAft>
                <a:spcPts val="0"/>
              </a:spcAft>
              <a:buSzPts val="700"/>
              <a:buNone/>
              <a:defRPr sz="900"/>
            </a:lvl8pPr>
            <a:lvl9pPr lvl="8">
              <a:spcBef>
                <a:spcPts val="0"/>
              </a:spcBef>
              <a:spcAft>
                <a:spcPts val="0"/>
              </a:spcAft>
              <a:buSzPts val="700"/>
              <a:buNone/>
              <a:defRPr sz="900"/>
            </a:lvl9pPr>
          </a:lstStyle>
          <a:p>
            <a:endParaRPr/>
          </a:p>
        </p:txBody>
      </p:sp>
      <p:sp>
        <p:nvSpPr>
          <p:cNvPr id="59" name="Google Shape;59;p13"/>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lvl="0" indent="0" algn="r">
              <a:spcBef>
                <a:spcPts val="0"/>
              </a:spcBef>
              <a:buNone/>
              <a:defRPr sz="900">
                <a:solidFill>
                  <a:srgbClr val="888888"/>
                </a:solidFill>
              </a:defRPr>
            </a:lvl1pPr>
            <a:lvl2pPr lvl="1" indent="0" algn="r">
              <a:spcBef>
                <a:spcPts val="0"/>
              </a:spcBef>
              <a:buNone/>
              <a:defRPr sz="900">
                <a:solidFill>
                  <a:srgbClr val="888888"/>
                </a:solidFill>
              </a:defRPr>
            </a:lvl2pPr>
            <a:lvl3pPr lvl="2" indent="0" algn="r">
              <a:spcBef>
                <a:spcPts val="0"/>
              </a:spcBef>
              <a:buNone/>
              <a:defRPr sz="900">
                <a:solidFill>
                  <a:srgbClr val="888888"/>
                </a:solidFill>
              </a:defRPr>
            </a:lvl3pPr>
            <a:lvl4pPr lvl="3" indent="0" algn="r">
              <a:spcBef>
                <a:spcPts val="0"/>
              </a:spcBef>
              <a:buNone/>
              <a:defRPr sz="900">
                <a:solidFill>
                  <a:srgbClr val="888888"/>
                </a:solidFill>
              </a:defRPr>
            </a:lvl4pPr>
            <a:lvl5pPr lvl="4" indent="0" algn="r">
              <a:spcBef>
                <a:spcPts val="0"/>
              </a:spcBef>
              <a:buNone/>
              <a:defRPr sz="900">
                <a:solidFill>
                  <a:srgbClr val="888888"/>
                </a:solidFill>
              </a:defRPr>
            </a:lvl5pPr>
            <a:lvl6pPr lvl="5" indent="0" algn="r">
              <a:spcBef>
                <a:spcPts val="0"/>
              </a:spcBef>
              <a:buNone/>
              <a:defRPr sz="900">
                <a:solidFill>
                  <a:srgbClr val="888888"/>
                </a:solidFill>
              </a:defRPr>
            </a:lvl6pPr>
            <a:lvl7pPr lvl="6" indent="0" algn="r">
              <a:spcBef>
                <a:spcPts val="0"/>
              </a:spcBef>
              <a:buNone/>
              <a:defRPr sz="900">
                <a:solidFill>
                  <a:srgbClr val="888888"/>
                </a:solidFill>
              </a:defRPr>
            </a:lvl7pPr>
            <a:lvl8pPr lvl="7" indent="0" algn="r">
              <a:spcBef>
                <a:spcPts val="0"/>
              </a:spcBef>
              <a:buNone/>
              <a:defRPr sz="900">
                <a:solidFill>
                  <a:srgbClr val="888888"/>
                </a:solidFill>
              </a:defRPr>
            </a:lvl8pPr>
            <a:lvl9pPr lvl="8" indent="0" algn="r">
              <a:spcBef>
                <a:spcPts val="0"/>
              </a:spcBef>
              <a:buNone/>
              <a:defRPr sz="900">
                <a:solidFill>
                  <a:srgbClr val="888888"/>
                </a:solidFill>
              </a:defRPr>
            </a:lvl9pPr>
          </a:lstStyle>
          <a:p>
            <a:pPr marL="0" lvl="0" indent="0" algn="r" rtl="0">
              <a:spcBef>
                <a:spcPts val="0"/>
              </a:spcBef>
              <a:spcAft>
                <a:spcPts val="0"/>
              </a:spcAft>
              <a:buNone/>
            </a:pPr>
            <a:fld id="{00000000-1234-1234-1234-123412341234}" type="slidenum">
              <a:rPr lang="en"/>
              <a:t>‹#›</a:t>
            </a:fld>
            <a:endParaRPr sz="700">
              <a:solidFill>
                <a:srgbClr val="000000"/>
              </a:solidFill>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g"/><Relationship Id="rId3" Type="http://schemas.openxmlformats.org/officeDocument/2006/relationships/image" Target="../media/image9.jp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opensource.com/users/scottnesbitt" TargetMode="External"/><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hyperlink" Target="https://opensource.com/users/jason-b"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hyperlink" Target="file:///C:\Users\MANNHP\Desktop\IBOP\documents\architure%20diagrams\SYSTEM_ARCHITECTURE-1.svg" TargetMode="Externa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file:///C:\Users\MANNHP\Desktop\IBOP\documents\architure%20diagrams\IBOP_Auth_Flow-1.svg" TargetMode="Externa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20.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hyperlink" Target="https://www.researchgate.net/publication/379348882_A_literature_review_on_ERP_implementation_Methodologies_module_software_and_policy"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hyperlink" Target="https://www.researchgate.net/publication/374833941_Implementation_of_Odoo-Based_ERP_in_The_Case_Study_of_Micro_Small_and_Medium_EnterprisesMSME_Woody_Moody_Jakarta" TargetMode="External"/><Relationship Id="rId5" Type="http://schemas.openxmlformats.org/officeDocument/2006/relationships/hyperlink" Target="https://www.researchgate.net/publication/343450571_ERP_SYSTEMS_ARCHITECTURE_FOR_THE_MODERN_AGE_A_REVIEW_OF_THE_STATE_OF_THE_ART_TECHNOLOGIES" TargetMode="External"/><Relationship Id="rId4" Type="http://schemas.openxmlformats.org/officeDocument/2006/relationships/hyperlink" Target="https://akjournals.com/view/journals/1848/1848-overview.xml"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researchgate.net/publication/394306023_Open-Source_ERP"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hyperlink" Target="http://papers.ssrn.com/sol3/papers.cfm?abstract_id=5214661" TargetMode="External"/><Relationship Id="rId5" Type="http://schemas.openxmlformats.org/officeDocument/2006/relationships/hyperlink" Target="http://www.researchgate.net/publication/387763540_Proprietary_vs_Open-Source_ERP_The_Case_of_SAP_and_Odoo" TargetMode="External"/><Relationship Id="rId4" Type="http://schemas.openxmlformats.org/officeDocument/2006/relationships/hyperlink" Target="http://www.researchgate.net/publication/371989579_Design_and_Implementation_of_Inventory_Management_System_for_University"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104"/>
        <p:cNvGrpSpPr/>
        <p:nvPr/>
      </p:nvGrpSpPr>
      <p:grpSpPr>
        <a:xfrm>
          <a:off x="0" y="0"/>
          <a:ext cx="0" cy="0"/>
          <a:chOff x="0" y="0"/>
          <a:chExt cx="0" cy="0"/>
        </a:xfrm>
      </p:grpSpPr>
      <p:pic>
        <p:nvPicPr>
          <p:cNvPr id="105" name="Google Shape;105;p19"/>
          <p:cNvPicPr preferRelativeResize="0"/>
          <p:nvPr/>
        </p:nvPicPr>
        <p:blipFill rotWithShape="1">
          <a:blip r:embed="rId3">
            <a:alphaModFix/>
          </a:blip>
          <a:srcRect/>
          <a:stretch/>
        </p:blipFill>
        <p:spPr>
          <a:xfrm>
            <a:off x="0" y="2812337"/>
            <a:ext cx="4538460" cy="1901644"/>
          </a:xfrm>
          <a:prstGeom prst="rect">
            <a:avLst/>
          </a:prstGeom>
          <a:noFill/>
          <a:ln>
            <a:noFill/>
          </a:ln>
        </p:spPr>
      </p:pic>
      <p:pic>
        <p:nvPicPr>
          <p:cNvPr id="106" name="Google Shape;106;p19"/>
          <p:cNvPicPr preferRelativeResize="0"/>
          <p:nvPr/>
        </p:nvPicPr>
        <p:blipFill rotWithShape="1">
          <a:blip r:embed="rId4">
            <a:alphaModFix/>
          </a:blip>
          <a:srcRect/>
          <a:stretch/>
        </p:blipFill>
        <p:spPr>
          <a:xfrm>
            <a:off x="4626416" y="2812825"/>
            <a:ext cx="4517569" cy="1901102"/>
          </a:xfrm>
          <a:prstGeom prst="rect">
            <a:avLst/>
          </a:prstGeom>
          <a:noFill/>
          <a:ln>
            <a:noFill/>
          </a:ln>
        </p:spPr>
      </p:pic>
      <p:sp>
        <p:nvSpPr>
          <p:cNvPr id="107" name="Google Shape;107;p19"/>
          <p:cNvSpPr txBox="1">
            <a:spLocks noGrp="1"/>
          </p:cNvSpPr>
          <p:nvPr>
            <p:ph type="title"/>
          </p:nvPr>
        </p:nvSpPr>
        <p:spPr>
          <a:xfrm>
            <a:off x="54425" y="627425"/>
            <a:ext cx="9144000" cy="766200"/>
          </a:xfrm>
          <a:prstGeom prst="rect">
            <a:avLst/>
          </a:prstGeom>
          <a:noFill/>
          <a:ln>
            <a:noFill/>
          </a:ln>
        </p:spPr>
        <p:txBody>
          <a:bodyPr spcFirstLastPara="1" wrap="square" lIns="0" tIns="6025" rIns="0" bIns="0" anchor="t" anchorCtr="0">
            <a:spAutoFit/>
          </a:bodyPr>
          <a:lstStyle/>
          <a:p>
            <a:pPr marL="1257300" marR="0" lvl="0" indent="-1206500" algn="ctr" rtl="0">
              <a:lnSpc>
                <a:spcPct val="114700"/>
              </a:lnSpc>
              <a:spcBef>
                <a:spcPts val="0"/>
              </a:spcBef>
              <a:spcAft>
                <a:spcPts val="0"/>
              </a:spcAft>
              <a:buNone/>
            </a:pPr>
            <a:r>
              <a:rPr lang="en" sz="2300" b="1">
                <a:solidFill>
                  <a:srgbClr val="CC2B4B"/>
                </a:solidFill>
                <a:latin typeface="Arial"/>
                <a:ea typeface="Arial"/>
                <a:cs typeface="Arial"/>
                <a:sym typeface="Arial"/>
              </a:rPr>
              <a:t>Integrated Business Operations Platform</a:t>
            </a:r>
            <a:endParaRPr sz="2300" b="1">
              <a:solidFill>
                <a:srgbClr val="CC2B4B"/>
              </a:solidFill>
              <a:latin typeface="Arial"/>
              <a:ea typeface="Arial"/>
              <a:cs typeface="Arial"/>
              <a:sym typeface="Arial"/>
            </a:endParaRPr>
          </a:p>
          <a:p>
            <a:pPr marL="1257300" marR="0" lvl="0" indent="-1206500" algn="ctr" rtl="0">
              <a:lnSpc>
                <a:spcPct val="114700"/>
              </a:lnSpc>
              <a:spcBef>
                <a:spcPts val="0"/>
              </a:spcBef>
              <a:spcAft>
                <a:spcPts val="0"/>
              </a:spcAft>
              <a:buNone/>
            </a:pPr>
            <a:r>
              <a:rPr lang="en" sz="2300" b="1">
                <a:solidFill>
                  <a:srgbClr val="CC2B4B"/>
                </a:solidFill>
                <a:latin typeface="Arial"/>
                <a:ea typeface="Arial"/>
                <a:cs typeface="Arial"/>
                <a:sym typeface="Arial"/>
              </a:rPr>
              <a:t> (IBOP)</a:t>
            </a:r>
            <a:endParaRPr sz="2300">
              <a:solidFill>
                <a:srgbClr val="CC2B4B"/>
              </a:solidFill>
            </a:endParaRPr>
          </a:p>
        </p:txBody>
      </p:sp>
      <p:sp>
        <p:nvSpPr>
          <p:cNvPr id="108" name="Google Shape;108;p19"/>
          <p:cNvSpPr txBox="1"/>
          <p:nvPr/>
        </p:nvSpPr>
        <p:spPr>
          <a:xfrm>
            <a:off x="2481150" y="1412853"/>
            <a:ext cx="4181700" cy="1242300"/>
          </a:xfrm>
          <a:prstGeom prst="rect">
            <a:avLst/>
          </a:prstGeom>
          <a:noFill/>
          <a:ln>
            <a:noFill/>
          </a:ln>
        </p:spPr>
        <p:txBody>
          <a:bodyPr spcFirstLastPara="1" wrap="square" lIns="0" tIns="6025" rIns="0" bIns="0" anchor="ctr" anchorCtr="0">
            <a:noAutofit/>
          </a:bodyPr>
          <a:lstStyle/>
          <a:p>
            <a:pPr marL="12700" lvl="0" indent="0" algn="ctr" rtl="0">
              <a:lnSpc>
                <a:spcPct val="115000"/>
              </a:lnSpc>
              <a:spcBef>
                <a:spcPts val="100"/>
              </a:spcBef>
              <a:spcAft>
                <a:spcPts val="0"/>
              </a:spcAft>
              <a:buSzPts val="1100"/>
              <a:buNone/>
            </a:pPr>
            <a:r>
              <a:rPr lang="en" sz="1500" dirty="0">
                <a:solidFill>
                  <a:schemeClr val="dk1"/>
                </a:solidFill>
                <a:latin typeface="Trebuchet MS"/>
                <a:ea typeface="Trebuchet MS"/>
                <a:cs typeface="Trebuchet MS"/>
                <a:sym typeface="Trebuchet MS"/>
              </a:rPr>
              <a:t>Project Guide-Dr. Anushree Deshmukh</a:t>
            </a:r>
            <a:endParaRPr sz="1500" dirty="0">
              <a:solidFill>
                <a:schemeClr val="dk1"/>
              </a:solidFill>
              <a:latin typeface="Trebuchet MS"/>
              <a:ea typeface="Trebuchet MS"/>
              <a:cs typeface="Trebuchet MS"/>
              <a:sym typeface="Trebuchet MS"/>
            </a:endParaRPr>
          </a:p>
          <a:p>
            <a:pPr marL="12700" lvl="0" indent="0" algn="ctr" rtl="0">
              <a:lnSpc>
                <a:spcPct val="115000"/>
              </a:lnSpc>
              <a:spcBef>
                <a:spcPts val="100"/>
              </a:spcBef>
              <a:spcAft>
                <a:spcPts val="0"/>
              </a:spcAft>
              <a:buSzPts val="1100"/>
              <a:buNone/>
            </a:pPr>
            <a:r>
              <a:rPr lang="en" sz="1500" dirty="0">
                <a:solidFill>
                  <a:schemeClr val="dk1"/>
                </a:solidFill>
                <a:latin typeface="Trebuchet MS"/>
                <a:ea typeface="Trebuchet MS"/>
                <a:cs typeface="Trebuchet MS"/>
                <a:sym typeface="Trebuchet MS"/>
              </a:rPr>
              <a:t>External Company :- Shrinath Enterprises</a:t>
            </a:r>
            <a:endParaRPr sz="1500" dirty="0">
              <a:solidFill>
                <a:schemeClr val="dk1"/>
              </a:solidFill>
              <a:latin typeface="Trebuchet MS"/>
              <a:ea typeface="Trebuchet MS"/>
              <a:cs typeface="Trebuchet MS"/>
              <a:sym typeface="Trebuchet MS"/>
            </a:endParaRPr>
          </a:p>
          <a:p>
            <a:pPr marL="12700" lvl="0" indent="0" algn="ctr" rtl="0">
              <a:lnSpc>
                <a:spcPct val="115000"/>
              </a:lnSpc>
              <a:spcBef>
                <a:spcPts val="100"/>
              </a:spcBef>
              <a:spcAft>
                <a:spcPts val="0"/>
              </a:spcAft>
              <a:buClr>
                <a:schemeClr val="dk1"/>
              </a:buClr>
              <a:buSzPts val="1100"/>
              <a:buFont typeface="Arial"/>
              <a:buNone/>
            </a:pPr>
            <a:r>
              <a:rPr lang="en" sz="1500" dirty="0">
                <a:solidFill>
                  <a:schemeClr val="dk1"/>
                </a:solidFill>
                <a:latin typeface="Trebuchet MS"/>
                <a:ea typeface="Trebuchet MS"/>
                <a:cs typeface="Trebuchet MS"/>
                <a:sym typeface="Trebuchet MS"/>
              </a:rPr>
              <a:t>Student:-Mann dutiya</a:t>
            </a:r>
            <a:br>
              <a:rPr lang="en" sz="1500" dirty="0">
                <a:solidFill>
                  <a:schemeClr val="dk1"/>
                </a:solidFill>
                <a:latin typeface="Trebuchet MS"/>
                <a:ea typeface="Trebuchet MS"/>
                <a:cs typeface="Trebuchet MS"/>
                <a:sym typeface="Trebuchet MS"/>
              </a:rPr>
            </a:br>
            <a:r>
              <a:rPr lang="en" sz="1500" dirty="0">
                <a:solidFill>
                  <a:schemeClr val="dk1"/>
                </a:solidFill>
                <a:latin typeface="Trebuchet MS"/>
                <a:ea typeface="Trebuchet MS"/>
                <a:cs typeface="Trebuchet MS"/>
                <a:sym typeface="Trebuchet MS"/>
              </a:rPr>
              <a:t>Roll no: 16010123192</a:t>
            </a:r>
            <a:endParaRPr sz="1500" dirty="0">
              <a:solidFill>
                <a:schemeClr val="dk1"/>
              </a:solidFill>
              <a:latin typeface="Trebuchet MS"/>
              <a:ea typeface="Trebuchet MS"/>
              <a:cs typeface="Trebuchet MS"/>
              <a:sym typeface="Trebuchet MS"/>
            </a:endParaRPr>
          </a:p>
          <a:p>
            <a:pPr marL="520700" marR="520700" lvl="0" indent="0" algn="l" rtl="0">
              <a:lnSpc>
                <a:spcPct val="118133"/>
              </a:lnSpc>
              <a:spcBef>
                <a:spcPts val="0"/>
              </a:spcBef>
              <a:spcAft>
                <a:spcPts val="0"/>
              </a:spcAft>
              <a:buNone/>
            </a:pPr>
            <a:endParaRPr sz="1500" dirty="0">
              <a:latin typeface="Trebuchet MS"/>
              <a:ea typeface="Trebuchet MS"/>
              <a:cs typeface="Trebuchet MS"/>
              <a:sym typeface="Trebuchet MS"/>
            </a:endParaRPr>
          </a:p>
        </p:txBody>
      </p:sp>
      <p:grpSp>
        <p:nvGrpSpPr>
          <p:cNvPr id="109" name="Google Shape;109;p19"/>
          <p:cNvGrpSpPr/>
          <p:nvPr/>
        </p:nvGrpSpPr>
        <p:grpSpPr>
          <a:xfrm>
            <a:off x="0" y="4737108"/>
            <a:ext cx="9143999" cy="406392"/>
            <a:chOff x="0" y="9474215"/>
            <a:chExt cx="18287998" cy="812784"/>
          </a:xfrm>
        </p:grpSpPr>
        <p:pic>
          <p:nvPicPr>
            <p:cNvPr id="110" name="Google Shape;110;p19"/>
            <p:cNvPicPr preferRelativeResize="0"/>
            <p:nvPr/>
          </p:nvPicPr>
          <p:blipFill rotWithShape="1">
            <a:blip r:embed="rId5">
              <a:alphaModFix/>
            </a:blip>
            <a:srcRect/>
            <a:stretch/>
          </p:blipFill>
          <p:spPr>
            <a:xfrm>
              <a:off x="2" y="9730513"/>
              <a:ext cx="18287996" cy="556486"/>
            </a:xfrm>
            <a:prstGeom prst="rect">
              <a:avLst/>
            </a:prstGeom>
            <a:noFill/>
            <a:ln>
              <a:noFill/>
            </a:ln>
          </p:spPr>
        </p:pic>
        <p:pic>
          <p:nvPicPr>
            <p:cNvPr id="111" name="Google Shape;111;p19"/>
            <p:cNvPicPr preferRelativeResize="0"/>
            <p:nvPr/>
          </p:nvPicPr>
          <p:blipFill rotWithShape="1">
            <a:blip r:embed="rId6">
              <a:alphaModFix/>
            </a:blip>
            <a:srcRect/>
            <a:stretch/>
          </p:blipFill>
          <p:spPr>
            <a:xfrm>
              <a:off x="0" y="9474215"/>
              <a:ext cx="13999535" cy="272363"/>
            </a:xfrm>
            <a:prstGeom prst="rect">
              <a:avLst/>
            </a:prstGeom>
            <a:noFill/>
            <a:ln>
              <a:noFill/>
            </a:ln>
          </p:spPr>
        </p:pic>
      </p:grpSp>
      <p:pic>
        <p:nvPicPr>
          <p:cNvPr id="112" name="Google Shape;112;p19"/>
          <p:cNvPicPr preferRelativeResize="0"/>
          <p:nvPr/>
        </p:nvPicPr>
        <p:blipFill rotWithShape="1">
          <a:blip r:embed="rId7">
            <a:alphaModFix/>
          </a:blip>
          <a:srcRect/>
          <a:stretch/>
        </p:blipFill>
        <p:spPr>
          <a:xfrm>
            <a:off x="8451091" y="0"/>
            <a:ext cx="692909" cy="557316"/>
          </a:xfrm>
          <a:prstGeom prst="rect">
            <a:avLst/>
          </a:prstGeom>
          <a:noFill/>
          <a:ln>
            <a:noFill/>
          </a:ln>
        </p:spPr>
      </p:pic>
      <p:pic>
        <p:nvPicPr>
          <p:cNvPr id="113" name="Google Shape;113;p19"/>
          <p:cNvPicPr preferRelativeResize="0"/>
          <p:nvPr/>
        </p:nvPicPr>
        <p:blipFill rotWithShape="1">
          <a:blip r:embed="rId8">
            <a:alphaModFix/>
          </a:blip>
          <a:srcRect/>
          <a:stretch/>
        </p:blipFill>
        <p:spPr>
          <a:xfrm>
            <a:off x="146510" y="87549"/>
            <a:ext cx="1714172" cy="539885"/>
          </a:xfrm>
          <a:prstGeom prst="rect">
            <a:avLst/>
          </a:prstGeom>
          <a:noFill/>
          <a:ln>
            <a:noFill/>
          </a:ln>
        </p:spPr>
      </p:pic>
      <p:sp>
        <p:nvSpPr>
          <p:cNvPr id="114" name="Google Shape;114;p19"/>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0"/>
          <p:cNvSpPr txBox="1">
            <a:spLocks noGrp="1"/>
          </p:cNvSpPr>
          <p:nvPr>
            <p:ph type="title"/>
          </p:nvPr>
        </p:nvSpPr>
        <p:spPr>
          <a:xfrm>
            <a:off x="2110156" y="-77105"/>
            <a:ext cx="5347315" cy="851988"/>
          </a:xfrm>
          <a:prstGeom prst="rect">
            <a:avLst/>
          </a:prstGeom>
          <a:noFill/>
          <a:ln>
            <a:noFill/>
          </a:ln>
        </p:spPr>
        <p:txBody>
          <a:bodyPr spcFirstLastPara="1" wrap="square" lIns="0" tIns="279200" rIns="0" bIns="0" anchor="t" anchorCtr="0">
            <a:spAutoFit/>
          </a:bodyPr>
          <a:lstStyle/>
          <a:p>
            <a:pPr marL="1409700" lvl="0" indent="0" algn="l" rtl="0">
              <a:lnSpc>
                <a:spcPct val="100000"/>
              </a:lnSpc>
              <a:spcBef>
                <a:spcPts val="0"/>
              </a:spcBef>
              <a:spcAft>
                <a:spcPts val="0"/>
              </a:spcAft>
              <a:buNone/>
            </a:pPr>
            <a:r>
              <a:rPr lang="en"/>
              <a:t>Introduction</a:t>
            </a:r>
            <a:endParaRPr/>
          </a:p>
        </p:txBody>
      </p:sp>
      <p:sp>
        <p:nvSpPr>
          <p:cNvPr id="120" name="Google Shape;120;p20"/>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121" name="Google Shape;121;p20"/>
          <p:cNvSpPr txBox="1"/>
          <p:nvPr/>
        </p:nvSpPr>
        <p:spPr>
          <a:xfrm>
            <a:off x="415400" y="1026525"/>
            <a:ext cx="8144700" cy="3186300"/>
          </a:xfrm>
          <a:prstGeom prst="rect">
            <a:avLst/>
          </a:prstGeom>
          <a:noFill/>
          <a:ln>
            <a:noFill/>
          </a:ln>
        </p:spPr>
        <p:txBody>
          <a:bodyPr spcFirstLastPara="1" wrap="square" lIns="91425" tIns="91425" rIns="91425" bIns="91425" anchor="t" anchorCtr="0">
            <a:noAutofit/>
          </a:bodyPr>
          <a:lstStyle/>
          <a:p>
            <a:pPr marL="457200" lvl="0" indent="-323850" algn="l" rtl="0">
              <a:spcBef>
                <a:spcPts val="0"/>
              </a:spcBef>
              <a:spcAft>
                <a:spcPts val="0"/>
              </a:spcAft>
              <a:buClr>
                <a:schemeClr val="dk1"/>
              </a:buClr>
              <a:buSzPts val="1500"/>
              <a:buChar char="●"/>
            </a:pPr>
            <a:r>
              <a:rPr lang="en" sz="1500">
                <a:solidFill>
                  <a:schemeClr val="dk1"/>
                </a:solidFill>
              </a:rPr>
              <a:t>Many small and mid-scale businesses still rely on </a:t>
            </a:r>
            <a:r>
              <a:rPr lang="en" sz="1500" b="1">
                <a:solidFill>
                  <a:schemeClr val="dk1"/>
                </a:solidFill>
              </a:rPr>
              <a:t>manual processes or disconnected software</a:t>
            </a:r>
            <a:r>
              <a:rPr lang="en" sz="1500">
                <a:solidFill>
                  <a:schemeClr val="dk1"/>
                </a:solidFill>
              </a:rPr>
              <a:t> to manage operations such as </a:t>
            </a:r>
            <a:r>
              <a:rPr lang="en" sz="1500" b="1">
                <a:solidFill>
                  <a:schemeClr val="dk1"/>
                </a:solidFill>
              </a:rPr>
              <a:t>sales, accounting, HR, and inventory</a:t>
            </a:r>
            <a:r>
              <a:rPr lang="en" sz="1500">
                <a:solidFill>
                  <a:schemeClr val="dk1"/>
                </a:solidFill>
              </a:rPr>
              <a:t>, leading to inefficiencies and data silos.</a:t>
            </a:r>
            <a:endParaRPr sz="1500">
              <a:solidFill>
                <a:schemeClr val="dk1"/>
              </a:solidFill>
            </a:endParaRPr>
          </a:p>
          <a:p>
            <a:pPr marL="457200" lvl="0" indent="-323850" algn="l" rtl="0">
              <a:spcBef>
                <a:spcPts val="0"/>
              </a:spcBef>
              <a:spcAft>
                <a:spcPts val="0"/>
              </a:spcAft>
              <a:buClr>
                <a:schemeClr val="dk1"/>
              </a:buClr>
              <a:buSzPts val="1500"/>
              <a:buChar char="●"/>
            </a:pPr>
            <a:r>
              <a:rPr lang="en" sz="1500">
                <a:solidFill>
                  <a:schemeClr val="dk1"/>
                </a:solidFill>
              </a:rPr>
              <a:t>In real-world business environments, lack of integration results in </a:t>
            </a:r>
            <a:r>
              <a:rPr lang="en" sz="1500" b="1">
                <a:solidFill>
                  <a:schemeClr val="dk1"/>
                </a:solidFill>
              </a:rPr>
              <a:t>delayed decision-making, reduced operational visibility, and increased chances of human error</a:t>
            </a:r>
            <a:r>
              <a:rPr lang="en" sz="1500">
                <a:solidFill>
                  <a:schemeClr val="dk1"/>
                </a:solidFill>
              </a:rPr>
              <a:t>.</a:t>
            </a:r>
            <a:endParaRPr sz="1500">
              <a:solidFill>
                <a:schemeClr val="dk1"/>
              </a:solidFill>
            </a:endParaRPr>
          </a:p>
          <a:p>
            <a:pPr marL="457200" lvl="0" indent="-323850" algn="l" rtl="0">
              <a:spcBef>
                <a:spcPts val="0"/>
              </a:spcBef>
              <a:spcAft>
                <a:spcPts val="0"/>
              </a:spcAft>
              <a:buClr>
                <a:schemeClr val="dk1"/>
              </a:buClr>
              <a:buSzPts val="1500"/>
              <a:buChar char="●"/>
            </a:pPr>
            <a:r>
              <a:rPr lang="en" sz="1500">
                <a:solidFill>
                  <a:schemeClr val="dk1"/>
                </a:solidFill>
              </a:rPr>
              <a:t>This project, </a:t>
            </a:r>
            <a:r>
              <a:rPr lang="en" sz="1500" b="1" u="sng">
                <a:solidFill>
                  <a:schemeClr val="dk1"/>
                </a:solidFill>
              </a:rPr>
              <a:t>Integrated Business Operations Platform</a:t>
            </a:r>
            <a:r>
              <a:rPr lang="en" sz="1500" b="1">
                <a:solidFill>
                  <a:schemeClr val="dk1"/>
                </a:solidFill>
              </a:rPr>
              <a:t> (IBOP)</a:t>
            </a:r>
            <a:r>
              <a:rPr lang="en" sz="1500">
                <a:solidFill>
                  <a:schemeClr val="dk1"/>
                </a:solidFill>
              </a:rPr>
              <a:t>, is being developed in </a:t>
            </a:r>
            <a:r>
              <a:rPr lang="en" sz="1500" b="1">
                <a:solidFill>
                  <a:schemeClr val="dk1"/>
                </a:solidFill>
              </a:rPr>
              <a:t>collaboration with a real business </a:t>
            </a:r>
            <a:r>
              <a:rPr lang="en" sz="1500" b="1" u="sng">
                <a:solidFill>
                  <a:schemeClr val="dk1"/>
                </a:solidFill>
              </a:rPr>
              <a:t>(Shrinath Enterprises)</a:t>
            </a:r>
            <a:r>
              <a:rPr lang="en" sz="1500">
                <a:solidFill>
                  <a:schemeClr val="dk1"/>
                </a:solidFill>
              </a:rPr>
              <a:t> to address these challenges in a practical setting.</a:t>
            </a:r>
            <a:endParaRPr sz="1500">
              <a:solidFill>
                <a:schemeClr val="dk1"/>
              </a:solidFill>
            </a:endParaRPr>
          </a:p>
          <a:p>
            <a:pPr marL="457200" lvl="0" indent="-323850" algn="l" rtl="0">
              <a:spcBef>
                <a:spcPts val="0"/>
              </a:spcBef>
              <a:spcAft>
                <a:spcPts val="0"/>
              </a:spcAft>
              <a:buClr>
                <a:schemeClr val="dk1"/>
              </a:buClr>
              <a:buSzPts val="1500"/>
              <a:buChar char="●"/>
            </a:pPr>
            <a:r>
              <a:rPr lang="en" sz="1500">
                <a:solidFill>
                  <a:schemeClr val="dk1"/>
                </a:solidFill>
              </a:rPr>
              <a:t>The system focuses on building a </a:t>
            </a:r>
            <a:r>
              <a:rPr lang="en" sz="1500" b="1">
                <a:solidFill>
                  <a:schemeClr val="dk1"/>
                </a:solidFill>
              </a:rPr>
              <a:t>centralized, real-time platform</a:t>
            </a:r>
            <a:r>
              <a:rPr lang="en" sz="1500">
                <a:solidFill>
                  <a:schemeClr val="dk1"/>
                </a:solidFill>
              </a:rPr>
              <a:t> that integrates multiple business functions into a single interface, improving coordination and efficiency.</a:t>
            </a:r>
            <a:endParaRPr sz="1500">
              <a:solidFill>
                <a:schemeClr val="dk1"/>
              </a:solidFill>
            </a:endParaRPr>
          </a:p>
          <a:p>
            <a:pPr marL="457200" lvl="0" indent="-323850" algn="l" rtl="0">
              <a:spcBef>
                <a:spcPts val="0"/>
              </a:spcBef>
              <a:spcAft>
                <a:spcPts val="0"/>
              </a:spcAft>
              <a:buClr>
                <a:schemeClr val="dk1"/>
              </a:buClr>
              <a:buSzPts val="1500"/>
              <a:buChar char="●"/>
            </a:pPr>
            <a:r>
              <a:rPr lang="en" sz="1500">
                <a:solidFill>
                  <a:schemeClr val="dk1"/>
                </a:solidFill>
              </a:rPr>
              <a:t>It provides </a:t>
            </a:r>
            <a:r>
              <a:rPr lang="en" sz="1500" b="1">
                <a:solidFill>
                  <a:schemeClr val="dk1"/>
                </a:solidFill>
              </a:rPr>
              <a:t>live data tracking, role-based access, and streamlined workflows</a:t>
            </a:r>
            <a:r>
              <a:rPr lang="en" sz="1500">
                <a:solidFill>
                  <a:schemeClr val="dk1"/>
                </a:solidFill>
              </a:rPr>
              <a:t>, enabling better control over daily operations and informed decision-making.</a:t>
            </a:r>
            <a:endParaRPr sz="1500">
              <a:solidFill>
                <a:schemeClr val="dk1"/>
              </a:solidFill>
            </a:endParaRPr>
          </a:p>
          <a:p>
            <a:pPr marL="0" lvl="0" indent="0" algn="l" rtl="0">
              <a:spcBef>
                <a:spcPts val="0"/>
              </a:spcBef>
              <a:spcAft>
                <a:spcPts val="0"/>
              </a:spcAft>
              <a:buNone/>
            </a:pPr>
            <a:endParaRPr sz="1300">
              <a:solidFill>
                <a:srgbClr val="CC2B4B"/>
              </a:solidFill>
              <a:latin typeface="Tahoma"/>
              <a:ea typeface="Tahoma"/>
              <a:cs typeface="Tahoma"/>
              <a:sym typeface="Tahom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graphicFrame>
        <p:nvGraphicFramePr>
          <p:cNvPr id="127" name="Google Shape;127;p21"/>
          <p:cNvGraphicFramePr/>
          <p:nvPr>
            <p:extLst>
              <p:ext uri="{D42A27DB-BD31-4B8C-83A1-F6EECF244321}">
                <p14:modId xmlns:p14="http://schemas.microsoft.com/office/powerpoint/2010/main" val="1862436784"/>
              </p:ext>
            </p:extLst>
          </p:nvPr>
        </p:nvGraphicFramePr>
        <p:xfrm>
          <a:off x="0" y="862436"/>
          <a:ext cx="9198450" cy="3719210"/>
        </p:xfrm>
        <a:graphic>
          <a:graphicData uri="http://schemas.openxmlformats.org/drawingml/2006/table">
            <a:tbl>
              <a:tblPr firstRow="1" bandRow="1">
                <a:noFill/>
                <a:tableStyleId>{ACE46F92-1EF2-4096-A548-2BCCBEC776F4}</a:tableStyleId>
              </a:tblPr>
              <a:tblGrid>
                <a:gridCol w="4141700">
                  <a:extLst>
                    <a:ext uri="{9D8B030D-6E8A-4147-A177-3AD203B41FA5}">
                      <a16:colId xmlns:a16="http://schemas.microsoft.com/office/drawing/2014/main" val="20000"/>
                    </a:ext>
                  </a:extLst>
                </a:gridCol>
                <a:gridCol w="2119450">
                  <a:extLst>
                    <a:ext uri="{9D8B030D-6E8A-4147-A177-3AD203B41FA5}">
                      <a16:colId xmlns:a16="http://schemas.microsoft.com/office/drawing/2014/main" val="20001"/>
                    </a:ext>
                  </a:extLst>
                </a:gridCol>
                <a:gridCol w="2937300">
                  <a:extLst>
                    <a:ext uri="{9D8B030D-6E8A-4147-A177-3AD203B41FA5}">
                      <a16:colId xmlns:a16="http://schemas.microsoft.com/office/drawing/2014/main" val="20002"/>
                    </a:ext>
                  </a:extLst>
                </a:gridCol>
              </a:tblGrid>
              <a:tr h="457850">
                <a:tc>
                  <a:txBody>
                    <a:bodyPr/>
                    <a:lstStyle/>
                    <a:p>
                      <a:pPr marL="91440" marR="91440" lvl="0" indent="0" algn="ctr" rtl="0">
                        <a:lnSpc>
                          <a:spcPct val="100000"/>
                        </a:lnSpc>
                        <a:spcBef>
                          <a:spcPts val="0"/>
                        </a:spcBef>
                        <a:spcAft>
                          <a:spcPts val="0"/>
                        </a:spcAft>
                        <a:buNone/>
                      </a:pPr>
                      <a:r>
                        <a:rPr lang="en" b="1" dirty="0">
                          <a:latin typeface="Times New Roman"/>
                          <a:ea typeface="Times New Roman"/>
                          <a:cs typeface="Times New Roman"/>
                          <a:sym typeface="Times New Roman"/>
                        </a:rPr>
                        <a:t>Research Paper Review</a:t>
                      </a:r>
                      <a:endParaRPr b="1" u="none" strike="noStrike" cap="none" dirty="0">
                        <a:latin typeface="Times New Roman"/>
                        <a:ea typeface="Times New Roman"/>
                        <a:cs typeface="Times New Roman"/>
                        <a:sym typeface="Times New Roman"/>
                      </a:endParaRPr>
                    </a:p>
                  </a:txBody>
                  <a:tcPr marL="0" marR="0" marT="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EA9999"/>
                    </a:solidFill>
                  </a:tcPr>
                </a:tc>
                <a:tc>
                  <a:txBody>
                    <a:bodyPr/>
                    <a:lstStyle/>
                    <a:p>
                      <a:pPr marL="91440" marR="91440" lvl="0" indent="0" algn="ctr" rtl="0">
                        <a:lnSpc>
                          <a:spcPct val="100000"/>
                        </a:lnSpc>
                        <a:spcBef>
                          <a:spcPts val="0"/>
                        </a:spcBef>
                        <a:spcAft>
                          <a:spcPts val="0"/>
                        </a:spcAft>
                        <a:buNone/>
                      </a:pPr>
                      <a:r>
                        <a:rPr lang="en" b="1">
                          <a:latin typeface="Times New Roman"/>
                          <a:ea typeface="Times New Roman"/>
                          <a:cs typeface="Times New Roman"/>
                          <a:sym typeface="Times New Roman"/>
                        </a:rPr>
                        <a:t>Identified Gaps</a:t>
                      </a:r>
                      <a:endParaRPr b="1" u="none" strike="noStrike" cap="none">
                        <a:latin typeface="Times New Roman"/>
                        <a:ea typeface="Times New Roman"/>
                        <a:cs typeface="Times New Roman"/>
                        <a:sym typeface="Times New Roman"/>
                      </a:endParaRP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rgbClr val="EA9999"/>
                    </a:solidFill>
                  </a:tcPr>
                </a:tc>
                <a:tc>
                  <a:txBody>
                    <a:bodyPr/>
                    <a:lstStyle/>
                    <a:p>
                      <a:pPr marL="91440" marR="9144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u="none" strike="noStrike" cap="none" dirty="0">
                          <a:latin typeface="Times New Roman"/>
                          <a:ea typeface="Times New Roman"/>
                          <a:cs typeface="Times New Roman"/>
                          <a:sym typeface="Times New Roman"/>
                        </a:rPr>
                        <a:t>Citations</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1288850">
                <a:tc>
                  <a:txBody>
                    <a:bodyPr/>
                    <a:lstStyle/>
                    <a:p>
                      <a:pPr marL="91440" marR="91440" lvl="0" indent="0" algn="l" rtl="0">
                        <a:lnSpc>
                          <a:spcPct val="100000"/>
                        </a:lnSpc>
                        <a:spcBef>
                          <a:spcPts val="0"/>
                        </a:spcBef>
                        <a:spcAft>
                          <a:spcPts val="0"/>
                        </a:spcAft>
                        <a:buNone/>
                      </a:pPr>
                      <a:r>
                        <a:rPr lang="en" sz="1300" b="1" u="sng" dirty="0">
                          <a:latin typeface="Times New Roman"/>
                          <a:ea typeface="Times New Roman"/>
                          <a:cs typeface="Times New Roman"/>
                          <a:sym typeface="Times New Roman"/>
                        </a:rPr>
                        <a:t>A literature review on ERP implementation: Methodologies, module, software, and policy(2024):- </a:t>
                      </a:r>
                      <a:r>
                        <a:rPr lang="en" sz="1100" dirty="0">
                          <a:latin typeface="Arial"/>
                          <a:ea typeface="Arial"/>
                          <a:cs typeface="Arial"/>
                          <a:sym typeface="Arial"/>
                        </a:rPr>
                        <a:t>The paper conducts a literature review of 19 research papers on ERP implementation.</a:t>
                      </a:r>
                      <a:endParaRPr sz="11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It analyzes ERP systems based on implementation methodologies, software types (open-source vs closed-source), modules, and company size.</a:t>
                      </a:r>
                      <a:endParaRPr sz="1100" dirty="0">
                        <a:latin typeface="Arial"/>
                        <a:ea typeface="Arial"/>
                        <a:cs typeface="Arial"/>
                        <a:sym typeface="Arial"/>
                      </a:endParaRPr>
                    </a:p>
                    <a:p>
                      <a:pPr marL="91440" marR="91440" lvl="0" indent="0" algn="l" rtl="0">
                        <a:lnSpc>
                          <a:spcPct val="100000"/>
                        </a:lnSpc>
                        <a:spcBef>
                          <a:spcPts val="0"/>
                        </a:spcBef>
                        <a:spcAft>
                          <a:spcPts val="0"/>
                        </a:spcAft>
                        <a:buNone/>
                      </a:pPr>
                      <a:r>
                        <a:rPr lang="en" sz="1100" dirty="0">
                          <a:latin typeface="Arial"/>
                          <a:ea typeface="Arial"/>
                          <a:cs typeface="Arial"/>
                          <a:sym typeface="Arial"/>
                        </a:rPr>
                        <a:t>Different ERP implementation approaches (SAP ASAP, Oracle OUM, Odoo method) are compared and discussed.</a:t>
                      </a:r>
                      <a:endParaRPr sz="1300" dirty="0">
                        <a:latin typeface="Times New Roman"/>
                        <a:ea typeface="Times New Roman"/>
                        <a:cs typeface="Times New Roman"/>
                        <a:sym typeface="Times New Roman"/>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No experimental validation or real system</a:t>
                      </a:r>
                      <a:endParaRPr sz="11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No performance comparison between ERP systes</a:t>
                      </a:r>
                      <a:endParaRPr sz="11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Does not evaluate which methodology is best</a:t>
                      </a:r>
                      <a:endParaRPr sz="11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Lacks user experience / usability analysis</a:t>
                      </a:r>
                      <a:endParaRPr sz="1100" dirty="0">
                        <a:latin typeface="Arial"/>
                        <a:ea typeface="Arial"/>
                        <a:cs typeface="Arial"/>
                        <a:sym typeface="Arial"/>
                      </a:endParaRPr>
                    </a:p>
                    <a:p>
                      <a:pPr marL="91440" marR="91440" lvl="0" indent="0" algn="l" rtl="0">
                        <a:spcBef>
                          <a:spcPts val="0"/>
                        </a:spcBef>
                        <a:spcAft>
                          <a:spcPts val="0"/>
                        </a:spcAft>
                        <a:buSzPts val="1100"/>
                        <a:buNone/>
                      </a:pPr>
                      <a:r>
                        <a:rPr lang="en" sz="1100" dirty="0">
                          <a:latin typeface="Arial"/>
                          <a:ea typeface="Arial"/>
                          <a:cs typeface="Arial"/>
                          <a:sym typeface="Arial"/>
                        </a:rPr>
                        <a:t>No intelligent/automated ERP system (no AI/ML)</a:t>
                      </a:r>
                      <a:endParaRPr sz="1300" dirty="0">
                        <a:latin typeface="Times New Roman"/>
                        <a:ea typeface="Times New Roman"/>
                        <a:cs typeface="Times New Roman"/>
                        <a:sym typeface="Times New Roman"/>
                      </a:endParaRPr>
                    </a:p>
                  </a:txBody>
                  <a:tcPr marL="0" marR="0" marT="0" marB="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lt1"/>
                    </a:solidFill>
                  </a:tcPr>
                </a:tc>
                <a:tc>
                  <a:txBody>
                    <a:bodyPr/>
                    <a:lstStyle/>
                    <a:p>
                      <a:pPr marL="91440" marR="91440" lvl="0" indent="0" algn="l" rtl="0">
                        <a:spcBef>
                          <a:spcPts val="0"/>
                        </a:spcBef>
                        <a:spcAft>
                          <a:spcPts val="0"/>
                        </a:spcAft>
                        <a:buClr>
                          <a:schemeClr val="dk1"/>
                        </a:buClr>
                        <a:buSzPts val="1100"/>
                        <a:buFont typeface="Arial"/>
                        <a:buNone/>
                      </a:pPr>
                      <a:r>
                        <a:rPr lang="en-IN" sz="1200"/>
                        <a:t>A literature review on ERP implementation: Methodologies, module, software, and policy  Muhammad Faisal Ibrahim ; Yogantara Setya Dharmawan; Ngatini; M. Ilham Mustofa; Dana Marsetiya Utama</a:t>
                      </a:r>
                      <a:endParaRPr lang="en-US" sz="1300" dirty="0">
                        <a:latin typeface="Times New Roman"/>
                        <a:ea typeface="Times New Roman"/>
                        <a:cs typeface="Times New Roman"/>
                        <a:sym typeface="Times New Roman"/>
                      </a:endParaRPr>
                    </a:p>
                  </a:txBody>
                  <a:tcPr marL="0" marR="0" marT="0" marB="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285000">
                <a:tc>
                  <a:txBody>
                    <a:bodyPr/>
                    <a:lstStyle/>
                    <a:p>
                      <a:pPr marL="91440" marR="91440" lvl="0" indent="0" algn="l" rtl="0">
                        <a:lnSpc>
                          <a:spcPct val="100000"/>
                        </a:lnSpc>
                        <a:spcBef>
                          <a:spcPts val="0"/>
                        </a:spcBef>
                        <a:spcAft>
                          <a:spcPts val="0"/>
                        </a:spcAft>
                        <a:buNone/>
                      </a:pPr>
                      <a:r>
                        <a:rPr lang="en" sz="1300" b="1" u="sng" dirty="0">
                          <a:latin typeface="Times New Roman"/>
                          <a:ea typeface="Times New Roman"/>
                          <a:cs typeface="Times New Roman"/>
                          <a:sym typeface="Times New Roman"/>
                        </a:rPr>
                        <a:t>ERP ODOO IMPLEMENTATION IN SMALL RETAILERS:-</a:t>
                      </a:r>
                      <a:r>
                        <a:rPr lang="en" sz="1100" dirty="0">
                          <a:latin typeface="Arial"/>
                          <a:ea typeface="Arial"/>
                          <a:cs typeface="Arial"/>
                          <a:sym typeface="Arial"/>
                        </a:rPr>
                        <a:t>The study uses an ERP implementation approach with Business Process Re-engineering (BPR).</a:t>
                      </a:r>
                      <a:endParaRPr sz="11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100" dirty="0">
                          <a:latin typeface="Arial"/>
                          <a:ea typeface="Arial"/>
                          <a:cs typeface="Arial"/>
                          <a:sym typeface="Arial"/>
                        </a:rPr>
                        <a:t>It analyzes existing business processes (As-Is) and redesigns them into ERP-based processes (To-Be).</a:t>
                      </a:r>
                      <a:endParaRPr sz="1100" dirty="0">
                        <a:latin typeface="Arial"/>
                        <a:ea typeface="Arial"/>
                        <a:cs typeface="Arial"/>
                        <a:sym typeface="Arial"/>
                      </a:endParaRPr>
                    </a:p>
                    <a:p>
                      <a:pPr marL="91440" marR="91440" lvl="0" indent="0" algn="l" rtl="0">
                        <a:spcBef>
                          <a:spcPts val="0"/>
                        </a:spcBef>
                        <a:spcAft>
                          <a:spcPts val="0"/>
                        </a:spcAft>
                        <a:buSzPts val="1100"/>
                        <a:buNone/>
                      </a:pPr>
                      <a:r>
                        <a:rPr lang="en" sz="1100" dirty="0">
                          <a:latin typeface="Arial"/>
                          <a:ea typeface="Arial"/>
                          <a:cs typeface="Arial"/>
                          <a:sym typeface="Arial"/>
                        </a:rPr>
                        <a:t>A Fit/Gap analysis is used to compare manual and ERP-based processes.Implementation is carried out using Odoo ERP across modules like accounting, inventory, purchase, and POS.</a:t>
                      </a:r>
                      <a:endParaRPr sz="1300" u="sng" dirty="0">
                        <a:latin typeface="Times New Roman"/>
                        <a:ea typeface="Times New Roman"/>
                        <a:cs typeface="Times New Roman"/>
                        <a:sym typeface="Times New Roman"/>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91440" marR="91440" lvl="0" indent="0" algn="l" rtl="0">
                        <a:lnSpc>
                          <a:spcPct val="100000"/>
                        </a:lnSpc>
                        <a:spcBef>
                          <a:spcPts val="0"/>
                        </a:spcBef>
                        <a:spcAft>
                          <a:spcPts val="0"/>
                        </a:spcAft>
                        <a:buNone/>
                      </a:pPr>
                      <a:r>
                        <a:rPr lang="en" sz="1300" dirty="0">
                          <a:latin typeface="Arial"/>
                          <a:ea typeface="Arial"/>
                          <a:cs typeface="Arial"/>
                          <a:sym typeface="Arial"/>
                        </a:rPr>
                        <a:t>No comparison with other ERP systems</a:t>
                      </a:r>
                      <a:endParaRPr sz="1300" dirty="0">
                        <a:latin typeface="Arial"/>
                        <a:ea typeface="Arial"/>
                        <a:cs typeface="Arial"/>
                        <a:sym typeface="Arial"/>
                      </a:endParaRPr>
                    </a:p>
                    <a:p>
                      <a:pPr marL="91440" marR="91440" lvl="0" indent="0" algn="l" rtl="0">
                        <a:spcBef>
                          <a:spcPts val="0"/>
                        </a:spcBef>
                        <a:spcAft>
                          <a:spcPts val="0"/>
                        </a:spcAft>
                        <a:buClr>
                          <a:schemeClr val="dk1"/>
                        </a:buClr>
                        <a:buSzPts val="1100"/>
                        <a:buFont typeface="Arial"/>
                        <a:buNone/>
                      </a:pPr>
                      <a:r>
                        <a:rPr lang="en" sz="1300" dirty="0">
                          <a:latin typeface="Arial"/>
                          <a:ea typeface="Arial"/>
                          <a:cs typeface="Arial"/>
                          <a:sym typeface="Arial"/>
                        </a:rPr>
                        <a:t>No security or data privacy discussion</a:t>
                      </a:r>
                      <a:endParaRPr sz="1300" dirty="0">
                        <a:latin typeface="Arial"/>
                        <a:ea typeface="Arial"/>
                        <a:cs typeface="Arial"/>
                        <a:sym typeface="Arial"/>
                      </a:endParaRPr>
                    </a:p>
                    <a:p>
                      <a:pPr marL="91440" marR="91440" lvl="0" indent="0" algn="l" rtl="0">
                        <a:spcBef>
                          <a:spcPts val="0"/>
                        </a:spcBef>
                        <a:spcAft>
                          <a:spcPts val="0"/>
                        </a:spcAft>
                        <a:buSzPts val="1100"/>
                        <a:buNone/>
                      </a:pPr>
                      <a:r>
                        <a:rPr lang="en" sz="1300" dirty="0">
                          <a:latin typeface="Arial"/>
                          <a:ea typeface="Arial"/>
                          <a:cs typeface="Arial"/>
                          <a:sym typeface="Arial"/>
                        </a:rPr>
                        <a:t>No real-time analytics or decision support</a:t>
                      </a:r>
                      <a:endParaRPr sz="1300" dirty="0">
                        <a:latin typeface="Arial"/>
                        <a:ea typeface="Arial"/>
                        <a:cs typeface="Arial"/>
                        <a:sym typeface="Arial"/>
                      </a:endParaRPr>
                    </a:p>
                    <a:p>
                      <a:pPr marL="91440" marR="91440" lvl="0" indent="0" algn="l" rtl="0">
                        <a:spcBef>
                          <a:spcPts val="0"/>
                        </a:spcBef>
                        <a:spcAft>
                          <a:spcPts val="0"/>
                        </a:spcAft>
                        <a:buSzPts val="1100"/>
                        <a:buNone/>
                      </a:pPr>
                      <a:r>
                        <a:rPr lang="en" sz="1300" dirty="0">
                          <a:latin typeface="Arial"/>
                          <a:ea typeface="Arial"/>
                          <a:cs typeface="Arial"/>
                          <a:sym typeface="Arial"/>
                        </a:rPr>
                        <a:t>No reliable analytics dashborad</a:t>
                      </a:r>
                      <a:endParaRPr sz="1100" dirty="0">
                        <a:latin typeface="Arial"/>
                        <a:ea typeface="Arial"/>
                        <a:cs typeface="Arial"/>
                        <a:sym typeface="Arial"/>
                      </a:endParaRPr>
                    </a:p>
                  </a:txBody>
                  <a:tcPr marL="0" marR="0" marT="0" marB="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91440" marR="91440" lvl="0" indent="0" algn="l" rtl="0">
                        <a:lnSpc>
                          <a:spcPct val="100000"/>
                        </a:lnSpc>
                        <a:spcBef>
                          <a:spcPts val="0"/>
                        </a:spcBef>
                        <a:spcAft>
                          <a:spcPts val="0"/>
                        </a:spcAft>
                        <a:buNone/>
                      </a:pPr>
                      <a:r>
                        <a:rPr lang="en-IN" sz="1200" dirty="0"/>
                        <a:t>ERP ODOO IMPLEMENTATION IN SMALL RETAILERS Ary </a:t>
                      </a:r>
                      <a:r>
                        <a:rPr lang="en-IN" sz="1200" dirty="0" err="1"/>
                        <a:t>Arvianto</a:t>
                      </a:r>
                      <a:r>
                        <a:rPr lang="en-IN" sz="1200" dirty="0"/>
                        <a:t>, Zainal </a:t>
                      </a:r>
                      <a:r>
                        <a:rPr lang="en-IN" sz="1200" dirty="0" err="1"/>
                        <a:t>Fanani</a:t>
                      </a:r>
                      <a:r>
                        <a:rPr lang="en-IN" sz="1200" dirty="0"/>
                        <a:t> </a:t>
                      </a:r>
                      <a:r>
                        <a:rPr lang="en-IN" sz="1200" dirty="0" err="1"/>
                        <a:t>Rosyada</a:t>
                      </a:r>
                      <a:r>
                        <a:rPr lang="en-IN" sz="1200" dirty="0"/>
                        <a:t>, </a:t>
                      </a:r>
                      <a:r>
                        <a:rPr lang="en-IN" sz="1200" dirty="0" err="1"/>
                        <a:t>Singgih</a:t>
                      </a:r>
                      <a:r>
                        <a:rPr lang="en-IN" sz="1200" dirty="0"/>
                        <a:t> </a:t>
                      </a:r>
                      <a:r>
                        <a:rPr lang="en-IN" sz="1200" dirty="0" err="1"/>
                        <a:t>Saptadi</a:t>
                      </a:r>
                      <a:r>
                        <a:rPr lang="en-IN" sz="1200" dirty="0"/>
                        <a:t>, </a:t>
                      </a:r>
                      <a:r>
                        <a:rPr lang="en-IN" sz="1200" dirty="0" err="1"/>
                        <a:t>Wiwik</a:t>
                      </a:r>
                      <a:r>
                        <a:rPr lang="en-IN" sz="1200" dirty="0"/>
                        <a:t> </a:t>
                      </a:r>
                      <a:r>
                        <a:rPr lang="en-IN" sz="1200" dirty="0" err="1"/>
                        <a:t>Budiawan</a:t>
                      </a:r>
                      <a:r>
                        <a:rPr lang="en-IN" sz="1200" dirty="0"/>
                        <a:t> and Yasa Ewa </a:t>
                      </a:r>
                      <a:r>
                        <a:rPr lang="en-IN" sz="1200" dirty="0" err="1"/>
                        <a:t>Demilda</a:t>
                      </a:r>
                      <a:r>
                        <a:rPr lang="en-IN" sz="1200" dirty="0"/>
                        <a:t> </a:t>
                      </a:r>
                      <a:r>
                        <a:rPr lang="en-IN" sz="1200" dirty="0" err="1"/>
                        <a:t>Diponegoro</a:t>
                      </a:r>
                      <a:r>
                        <a:rPr lang="en-IN" sz="1200" dirty="0"/>
                        <a:t> University, Industrial Engineering Department, Semarang, </a:t>
                      </a:r>
                      <a:r>
                        <a:rPr lang="en-IN" sz="1200" dirty="0" err="1"/>
                        <a:t>Indonesi</a:t>
                      </a:r>
                      <a:endParaRPr lang="en-US" sz="1300" dirty="0">
                        <a:latin typeface="Times New Roman"/>
                        <a:ea typeface="Times New Roman"/>
                        <a:cs typeface="Times New Roman"/>
                        <a:sym typeface="Times New Roman"/>
                      </a:endParaRPr>
                    </a:p>
                  </a:txBody>
                  <a:tcPr marL="0" marR="0" marT="0" marB="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128" name="Google Shape;128;p21"/>
          <p:cNvSpPr txBox="1">
            <a:spLocks noGrp="1"/>
          </p:cNvSpPr>
          <p:nvPr>
            <p:ph type="title"/>
          </p:nvPr>
        </p:nvSpPr>
        <p:spPr>
          <a:xfrm>
            <a:off x="3040381" y="177319"/>
            <a:ext cx="3063300" cy="483900"/>
          </a:xfrm>
          <a:prstGeom prst="rect">
            <a:avLst/>
          </a:prstGeom>
          <a:noFill/>
          <a:ln>
            <a:noFill/>
          </a:ln>
        </p:spPr>
        <p:txBody>
          <a:bodyPr spcFirstLastPara="1" wrap="square" lIns="0" tIns="6675" rIns="0" bIns="0" anchor="t" anchorCtr="0">
            <a:spAutoFit/>
          </a:bodyPr>
          <a:lstStyle/>
          <a:p>
            <a:pPr marL="12700" lvl="0" indent="0" algn="l" rtl="0">
              <a:lnSpc>
                <a:spcPct val="100000"/>
              </a:lnSpc>
              <a:spcBef>
                <a:spcPts val="0"/>
              </a:spcBef>
              <a:spcAft>
                <a:spcPts val="0"/>
              </a:spcAft>
              <a:buNone/>
            </a:pPr>
            <a:r>
              <a:rPr lang="en"/>
              <a:t>Literature Review</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2"/>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graphicFrame>
        <p:nvGraphicFramePr>
          <p:cNvPr id="134" name="Google Shape;134;p22"/>
          <p:cNvGraphicFramePr/>
          <p:nvPr>
            <p:extLst>
              <p:ext uri="{D42A27DB-BD31-4B8C-83A1-F6EECF244321}">
                <p14:modId xmlns:p14="http://schemas.microsoft.com/office/powerpoint/2010/main" val="1278206401"/>
              </p:ext>
            </p:extLst>
          </p:nvPr>
        </p:nvGraphicFramePr>
        <p:xfrm>
          <a:off x="96537" y="731936"/>
          <a:ext cx="8907425" cy="3868575"/>
        </p:xfrm>
        <a:graphic>
          <a:graphicData uri="http://schemas.openxmlformats.org/drawingml/2006/table">
            <a:tbl>
              <a:tblPr firstRow="1" bandRow="1">
                <a:noFill/>
                <a:tableStyleId>{ACE46F92-1EF2-4096-A548-2BCCBEC776F4}</a:tableStyleId>
              </a:tblPr>
              <a:tblGrid>
                <a:gridCol w="3981525">
                  <a:extLst>
                    <a:ext uri="{9D8B030D-6E8A-4147-A177-3AD203B41FA5}">
                      <a16:colId xmlns:a16="http://schemas.microsoft.com/office/drawing/2014/main" val="20000"/>
                    </a:ext>
                  </a:extLst>
                </a:gridCol>
                <a:gridCol w="2064600">
                  <a:extLst>
                    <a:ext uri="{9D8B030D-6E8A-4147-A177-3AD203B41FA5}">
                      <a16:colId xmlns:a16="http://schemas.microsoft.com/office/drawing/2014/main" val="20001"/>
                    </a:ext>
                  </a:extLst>
                </a:gridCol>
                <a:gridCol w="2861300">
                  <a:extLst>
                    <a:ext uri="{9D8B030D-6E8A-4147-A177-3AD203B41FA5}">
                      <a16:colId xmlns:a16="http://schemas.microsoft.com/office/drawing/2014/main" val="20002"/>
                    </a:ext>
                  </a:extLst>
                </a:gridCol>
              </a:tblGrid>
              <a:tr h="584250">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Research Paper Review</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Identified Gaps</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u="none" strike="noStrike" cap="none" dirty="0">
                          <a:latin typeface="Times New Roman"/>
                          <a:ea typeface="Times New Roman"/>
                          <a:cs typeface="Times New Roman"/>
                          <a:sym typeface="Times New Roman"/>
                        </a:rPr>
                        <a:t>Citations</a:t>
                      </a: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1644625">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ERP SYSTEMS ARCHITECTURE FOR THE MODERN AGE: A REVIEW OF THE STATE OF THE ART TECHNOLOGIES:-</a:t>
                      </a:r>
                      <a:r>
                        <a:rPr lang="en" sz="1100">
                          <a:latin typeface="Arial"/>
                          <a:ea typeface="Arial"/>
                          <a:cs typeface="Arial"/>
                          <a:sym typeface="Arial"/>
                        </a:rPr>
                        <a:t>This paper follows a </a:t>
                      </a:r>
                      <a:r>
                        <a:rPr lang="en" sz="1100" b="1">
                          <a:latin typeface="Arial"/>
                          <a:ea typeface="Arial"/>
                          <a:cs typeface="Arial"/>
                          <a:sym typeface="Arial"/>
                        </a:rPr>
                        <a:t>systematic literature review approach</a:t>
                      </a:r>
                      <a:r>
                        <a:rPr lang="en" sz="1100">
                          <a:latin typeface="Arial"/>
                          <a:ea typeface="Arial"/>
                          <a:cs typeface="Arial"/>
                          <a:sym typeface="Arial"/>
                        </a:rPr>
                        <a:t>, analyzing multiple ERP architecture models and technologies from academic and industrial sources. It categorizes ERP architectures into different styles and evaluates their characteristics, advantages, and limitations.</a:t>
                      </a:r>
                      <a:endParaRPr sz="1300" b="1" u="sng">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lvl="0" indent="0" algn="l" rtl="0">
                        <a:spcBef>
                          <a:spcPts val="0"/>
                        </a:spcBef>
                        <a:spcAft>
                          <a:spcPts val="0"/>
                        </a:spcAft>
                        <a:buSzPts val="1100"/>
                        <a:buNone/>
                      </a:pPr>
                      <a:r>
                        <a:rPr lang="en" dirty="0">
                          <a:latin typeface="Times New Roman"/>
                          <a:ea typeface="Times New Roman"/>
                          <a:cs typeface="Times New Roman"/>
                          <a:sym typeface="Times New Roman"/>
                        </a:rPr>
                        <a:t>This paper does not give any real-world testing or performance comparison and it also lacks in giving optimization techniques</a:t>
                      </a:r>
                      <a:endParaRPr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IN" sz="1200" dirty="0"/>
                        <a:t>ERP SYSTEMS ARCHITECTURE FOR THE MODERN AGE: A REVIEW OF THE STATE OF THE ART TECHNOLOGIES Mohammad Amini Valashani1,* , Arnold Mashud Abukari2 1 Research </a:t>
                      </a:r>
                      <a:r>
                        <a:rPr lang="en-IN" sz="1200" dirty="0" err="1"/>
                        <a:t>Center</a:t>
                      </a:r>
                      <a:r>
                        <a:rPr lang="en-IN" sz="1200" dirty="0"/>
                        <a:t>, FANAP Co., Tehran, Iran; </a:t>
                      </a:r>
                      <a:r>
                        <a:rPr lang="en-IN" sz="1200" dirty="0" err="1"/>
                        <a:t>m.amini</a:t>
                      </a:r>
                      <a:r>
                        <a:rPr lang="en-IN" sz="1200" dirty="0"/>
                        <a:t> @fanap.ir 2 Computer Science Department, Tamale Technical University, Ghana. </a:t>
                      </a:r>
                      <a:endParaRPr sz="1200" b="1" dirty="0">
                        <a:latin typeface="Arial"/>
                        <a:ea typeface="Arial"/>
                        <a:cs typeface="Arial"/>
                        <a:sym typeface="Arial"/>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63970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Implementation of Odoo-Based ERP in The Case Study of Micro, Small and Medium Enterprises (MSME) :- </a:t>
                      </a:r>
                      <a:r>
                        <a:rPr lang="en" sz="1300">
                          <a:latin typeface="Times New Roman"/>
                          <a:ea typeface="Times New Roman"/>
                          <a:cs typeface="Times New Roman"/>
                          <a:sym typeface="Times New Roman"/>
                        </a:rPr>
                        <a:t>The paper follows a structured ERP implementation approach using Odoo.</a:t>
                      </a:r>
                      <a:endParaRPr sz="1300">
                        <a:latin typeface="Times New Roman"/>
                        <a:ea typeface="Times New Roman"/>
                        <a:cs typeface="Times New Roman"/>
                        <a:sym typeface="Times New Roman"/>
                      </a:endParaRPr>
                    </a:p>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It includes business need analysis, GAP analysis, system design using UML, module configuration, data migration, testing (Black Box &amp; UTAUT), and deployment on cloud VPS.</a:t>
                      </a:r>
                      <a:endParaRPr sz="130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a:latin typeface="Times New Roman"/>
                          <a:ea typeface="Times New Roman"/>
                          <a:cs typeface="Times New Roman"/>
                          <a:sym typeface="Times New Roman"/>
                        </a:rPr>
                        <a:t>Performance metrics were not used to track sales and other records of employees</a:t>
                      </a:r>
                      <a:endParaRPr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lvl="0" indent="0" algn="l" rtl="0">
                        <a:spcBef>
                          <a:spcPts val="0"/>
                        </a:spcBef>
                        <a:spcAft>
                          <a:spcPts val="0"/>
                        </a:spcAft>
                        <a:buSzPts val="1100"/>
                        <a:buNone/>
                      </a:pPr>
                      <a:r>
                        <a:rPr lang="en-IN" sz="1200" dirty="0"/>
                        <a:t>Implementation of Odoo-Based ERP in The Case Study of Micro, Small and Medium Enterprises (MSME) “Woody Moody Jakarta” </a:t>
                      </a:r>
                      <a:r>
                        <a:rPr lang="en-IN" sz="1200" dirty="0" err="1"/>
                        <a:t>Syafitri</a:t>
                      </a:r>
                      <a:r>
                        <a:rPr lang="en-IN" sz="1200" dirty="0"/>
                        <a:t> </a:t>
                      </a:r>
                      <a:r>
                        <a:rPr lang="en-IN" sz="1200" dirty="0" err="1"/>
                        <a:t>Lutfia</a:t>
                      </a:r>
                      <a:r>
                        <a:rPr lang="en-IN" sz="1200" dirty="0"/>
                        <a:t> Zahra1 , Syaifudin2 , Teddy Siswanto3* Information System Study123, Faculty of Industrial Technology, University of </a:t>
                      </a:r>
                      <a:r>
                        <a:rPr lang="en-IN" sz="1200" dirty="0" err="1"/>
                        <a:t>Trisakti</a:t>
                      </a:r>
                      <a:endParaRPr sz="1200" b="1" dirty="0">
                        <a:latin typeface="Arial"/>
                        <a:ea typeface="Arial"/>
                        <a:cs typeface="Arial"/>
                        <a:sym typeface="Arial"/>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135" name="Google Shape;135;p22"/>
          <p:cNvSpPr txBox="1">
            <a:spLocks noGrp="1"/>
          </p:cNvSpPr>
          <p:nvPr>
            <p:ph type="title"/>
          </p:nvPr>
        </p:nvSpPr>
        <p:spPr>
          <a:xfrm>
            <a:off x="3040406" y="253444"/>
            <a:ext cx="3063300" cy="483900"/>
          </a:xfrm>
          <a:prstGeom prst="rect">
            <a:avLst/>
          </a:prstGeom>
          <a:noFill/>
          <a:ln>
            <a:noFill/>
          </a:ln>
        </p:spPr>
        <p:txBody>
          <a:bodyPr spcFirstLastPara="1" wrap="square" lIns="0" tIns="6675" rIns="0" bIns="0" anchor="t" anchorCtr="0">
            <a:spAutoFit/>
          </a:bodyPr>
          <a:lstStyle/>
          <a:p>
            <a:pPr marL="12700" lvl="0" indent="0" algn="l" rtl="0">
              <a:lnSpc>
                <a:spcPct val="100000"/>
              </a:lnSpc>
              <a:spcBef>
                <a:spcPts val="0"/>
              </a:spcBef>
              <a:spcAft>
                <a:spcPts val="0"/>
              </a:spcAft>
              <a:buNone/>
            </a:pPr>
            <a:r>
              <a:rPr lang="en"/>
              <a:t>Literature Review</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3"/>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graphicFrame>
        <p:nvGraphicFramePr>
          <p:cNvPr id="141" name="Google Shape;141;p23"/>
          <p:cNvGraphicFramePr/>
          <p:nvPr>
            <p:extLst>
              <p:ext uri="{D42A27DB-BD31-4B8C-83A1-F6EECF244321}">
                <p14:modId xmlns:p14="http://schemas.microsoft.com/office/powerpoint/2010/main" val="3522221588"/>
              </p:ext>
            </p:extLst>
          </p:nvPr>
        </p:nvGraphicFramePr>
        <p:xfrm>
          <a:off x="96537" y="731936"/>
          <a:ext cx="8907425" cy="3857675"/>
        </p:xfrm>
        <a:graphic>
          <a:graphicData uri="http://schemas.openxmlformats.org/drawingml/2006/table">
            <a:tbl>
              <a:tblPr firstRow="1" bandRow="1">
                <a:noFill/>
                <a:tableStyleId>{ACE46F92-1EF2-4096-A548-2BCCBEC776F4}</a:tableStyleId>
              </a:tblPr>
              <a:tblGrid>
                <a:gridCol w="3981525">
                  <a:extLst>
                    <a:ext uri="{9D8B030D-6E8A-4147-A177-3AD203B41FA5}">
                      <a16:colId xmlns:a16="http://schemas.microsoft.com/office/drawing/2014/main" val="20000"/>
                    </a:ext>
                  </a:extLst>
                </a:gridCol>
                <a:gridCol w="2064600">
                  <a:extLst>
                    <a:ext uri="{9D8B030D-6E8A-4147-A177-3AD203B41FA5}">
                      <a16:colId xmlns:a16="http://schemas.microsoft.com/office/drawing/2014/main" val="20001"/>
                    </a:ext>
                  </a:extLst>
                </a:gridCol>
                <a:gridCol w="2861300">
                  <a:extLst>
                    <a:ext uri="{9D8B030D-6E8A-4147-A177-3AD203B41FA5}">
                      <a16:colId xmlns:a16="http://schemas.microsoft.com/office/drawing/2014/main" val="20002"/>
                    </a:ext>
                  </a:extLst>
                </a:gridCol>
              </a:tblGrid>
              <a:tr h="582600">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Research Paper Review</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Identified Gaps</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u="none" strike="noStrike" cap="none" dirty="0">
                          <a:latin typeface="Times New Roman"/>
                          <a:ea typeface="Times New Roman"/>
                          <a:cs typeface="Times New Roman"/>
                          <a:sym typeface="Times New Roman"/>
                        </a:rPr>
                        <a:t>Citations</a:t>
                      </a: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164000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Modular Architecture in .NET Enterprise Systems: Patterns, Practices, and Evolution toward Scalable Systems:-</a:t>
                      </a:r>
                      <a:r>
                        <a:rPr lang="en" sz="1300">
                          <a:latin typeface="Times New Roman"/>
                          <a:ea typeface="Times New Roman"/>
                          <a:cs typeface="Times New Roman"/>
                          <a:sym typeface="Times New Roman"/>
                        </a:rPr>
                        <a:t> The paper analyzes modular architecture patterns in enterprise systems, including layered architecture, composite applications, domain-driven design (DDD), and service-oriented architecture (SOA). It studies how systems evolve from monolithic to modular structures.</a:t>
                      </a:r>
                      <a:endParaRPr sz="1300" b="1" u="sng">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This paper does not take consideration of the business workflow integration for the project and is only a theoretical paper with no real implementation</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US" sz="1400" dirty="0"/>
                        <a:t>Modular Architecture in .NET Enterprise Systems: Patterns, Practices, and Evolution toward Scalable Systems Author: Hema Latha </a:t>
                      </a:r>
                      <a:r>
                        <a:rPr lang="en-US" sz="1400" dirty="0" err="1"/>
                        <a:t>Boddupally</a:t>
                      </a:r>
                      <a:r>
                        <a:rPr lang="en-US" sz="1400" dirty="0"/>
                        <a:t> Affiliation: Senior Application Lead</a:t>
                      </a:r>
                      <a:endParaRPr sz="1400"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635075">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Open-source ERP software;-</a:t>
                      </a:r>
                      <a:r>
                        <a:rPr lang="en" sz="1300">
                          <a:latin typeface="Times New Roman"/>
                          <a:ea typeface="Times New Roman"/>
                          <a:cs typeface="Times New Roman"/>
                          <a:sym typeface="Times New Roman"/>
                        </a:rPr>
                        <a:t>The paper provides a descriptive overview of various open-source ERP systems, comparing their features, scalability, and application areas.</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dirty="0">
                          <a:latin typeface="Times New Roman"/>
                          <a:ea typeface="Times New Roman"/>
                          <a:cs typeface="Times New Roman"/>
                          <a:sym typeface="Times New Roman"/>
                        </a:rPr>
                        <a:t>This paper is practically just a listing of the existing tools and having a comprehensive view of them, there is no real implementation or proper analysis  </a:t>
                      </a:r>
                      <a:endParaRPr sz="1300" u="none" strike="noStrike" cap="none"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r>
                        <a:rPr lang="en-IN" sz="1400" b="0" i="0" u="none" strike="noStrike" cap="none" dirty="0">
                          <a:solidFill>
                            <a:schemeClr val="dk1"/>
                          </a:solidFill>
                          <a:effectLst/>
                          <a:latin typeface="Calibri"/>
                          <a:ea typeface="Calibri"/>
                          <a:cs typeface="Calibri"/>
                          <a:sym typeface="Arial"/>
                        </a:rPr>
                        <a:t>Open-</a:t>
                      </a:r>
                      <a:r>
                        <a:rPr lang="en-IN" sz="1400" b="0" i="0" u="none" strike="noStrike" cap="none" dirty="0" err="1">
                          <a:solidFill>
                            <a:schemeClr val="dk1"/>
                          </a:solidFill>
                          <a:effectLst/>
                          <a:latin typeface="Calibri"/>
                          <a:ea typeface="Calibri"/>
                          <a:cs typeface="Calibri"/>
                          <a:sym typeface="Arial"/>
                        </a:rPr>
                        <a:t>SourceERP</a:t>
                      </a:r>
                      <a:r>
                        <a:rPr lang="en-IN" sz="1400" b="0" i="0" u="none" strike="noStrike" cap="none" dirty="0">
                          <a:solidFill>
                            <a:schemeClr val="dk1"/>
                          </a:solidFill>
                          <a:effectLst/>
                          <a:latin typeface="Calibri"/>
                          <a:ea typeface="Calibri"/>
                          <a:cs typeface="Calibri"/>
                          <a:sym typeface="Arial"/>
                        </a:rPr>
                        <a:t>.</a:t>
                      </a:r>
                      <a:r>
                        <a:rPr lang="en-IN" sz="1400" b="1" i="0" u="none" strike="noStrike" cap="none" dirty="0">
                          <a:solidFill>
                            <a:schemeClr val="dk1"/>
                          </a:solidFill>
                          <a:effectLst/>
                          <a:latin typeface="Calibri"/>
                          <a:ea typeface="Calibri"/>
                          <a:cs typeface="Calibri"/>
                          <a:sym typeface="Arial"/>
                          <a:hlinkClick r:id="rId3"/>
                        </a:rPr>
                        <a:t> Scott Nesbitt</a:t>
                      </a:r>
                      <a:endParaRPr lang="en-IN" sz="1400" b="0" i="0" u="none" strike="noStrike" cap="none" dirty="0">
                        <a:solidFill>
                          <a:schemeClr val="dk1"/>
                        </a:solidFill>
                        <a:effectLst/>
                        <a:latin typeface="Calibri"/>
                        <a:ea typeface="Calibri"/>
                        <a:cs typeface="Calibri"/>
                        <a:sym typeface="Arial"/>
                      </a:endParaRPr>
                    </a:p>
                    <a:p>
                      <a:r>
                        <a:rPr lang="en-IN" sz="1400" b="1" i="0" u="none" strike="noStrike" cap="none" dirty="0">
                          <a:solidFill>
                            <a:schemeClr val="dk1"/>
                          </a:solidFill>
                          <a:effectLst/>
                          <a:latin typeface="Calibri"/>
                          <a:ea typeface="Calibri"/>
                          <a:cs typeface="Calibri"/>
                          <a:sym typeface="Arial"/>
                          <a:hlinkClick r:id="rId4"/>
                        </a:rPr>
                        <a:t>Jason B</a:t>
                      </a:r>
                      <a:endParaRPr lang="en-IN" sz="1400" b="0" i="0" u="none" strike="noStrike" cap="none" dirty="0">
                        <a:solidFill>
                          <a:schemeClr val="dk1"/>
                        </a:solidFill>
                        <a:effectLst/>
                        <a:latin typeface="Calibri"/>
                        <a:ea typeface="Calibri"/>
                        <a:cs typeface="Calibri"/>
                        <a:sym typeface="Arial"/>
                      </a:endParaRPr>
                    </a:p>
                    <a:p>
                      <a:pPr marL="91440" marR="0" lvl="0" indent="0" algn="l" rtl="0">
                        <a:lnSpc>
                          <a:spcPct val="100000"/>
                        </a:lnSpc>
                        <a:spcBef>
                          <a:spcPts val="0"/>
                        </a:spcBef>
                        <a:spcAft>
                          <a:spcPts val="0"/>
                        </a:spcAft>
                        <a:buNone/>
                      </a:pPr>
                      <a:endParaRPr sz="1300" u="none" strike="noStrike" cap="none"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142" name="Google Shape;142;p23"/>
          <p:cNvSpPr txBox="1">
            <a:spLocks noGrp="1"/>
          </p:cNvSpPr>
          <p:nvPr>
            <p:ph type="title"/>
          </p:nvPr>
        </p:nvSpPr>
        <p:spPr>
          <a:xfrm>
            <a:off x="3040406" y="253444"/>
            <a:ext cx="3063300" cy="483900"/>
          </a:xfrm>
          <a:prstGeom prst="rect">
            <a:avLst/>
          </a:prstGeom>
          <a:noFill/>
          <a:ln>
            <a:noFill/>
          </a:ln>
        </p:spPr>
        <p:txBody>
          <a:bodyPr spcFirstLastPara="1" wrap="square" lIns="0" tIns="6675" rIns="0" bIns="0" anchor="t" anchorCtr="0">
            <a:spAutoFit/>
          </a:bodyPr>
          <a:lstStyle/>
          <a:p>
            <a:pPr marL="12700" lvl="0" indent="0" algn="l" rtl="0">
              <a:lnSpc>
                <a:spcPct val="100000"/>
              </a:lnSpc>
              <a:spcBef>
                <a:spcPts val="0"/>
              </a:spcBef>
              <a:spcAft>
                <a:spcPts val="0"/>
              </a:spcAft>
              <a:buNone/>
            </a:pPr>
            <a:r>
              <a:rPr lang="en"/>
              <a:t>Literature Review</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4"/>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graphicFrame>
        <p:nvGraphicFramePr>
          <p:cNvPr id="148" name="Google Shape;148;p24"/>
          <p:cNvGraphicFramePr/>
          <p:nvPr>
            <p:extLst>
              <p:ext uri="{D42A27DB-BD31-4B8C-83A1-F6EECF244321}">
                <p14:modId xmlns:p14="http://schemas.microsoft.com/office/powerpoint/2010/main" val="4068087197"/>
              </p:ext>
            </p:extLst>
          </p:nvPr>
        </p:nvGraphicFramePr>
        <p:xfrm>
          <a:off x="140037" y="887344"/>
          <a:ext cx="8863925" cy="4122415"/>
        </p:xfrm>
        <a:graphic>
          <a:graphicData uri="http://schemas.openxmlformats.org/drawingml/2006/table">
            <a:tbl>
              <a:tblPr firstRow="1" bandRow="1">
                <a:noFill/>
                <a:tableStyleId>{ACE46F92-1EF2-4096-A548-2BCCBEC776F4}</a:tableStyleId>
              </a:tblPr>
              <a:tblGrid>
                <a:gridCol w="3962075">
                  <a:extLst>
                    <a:ext uri="{9D8B030D-6E8A-4147-A177-3AD203B41FA5}">
                      <a16:colId xmlns:a16="http://schemas.microsoft.com/office/drawing/2014/main" val="20000"/>
                    </a:ext>
                  </a:extLst>
                </a:gridCol>
                <a:gridCol w="2054525">
                  <a:extLst>
                    <a:ext uri="{9D8B030D-6E8A-4147-A177-3AD203B41FA5}">
                      <a16:colId xmlns:a16="http://schemas.microsoft.com/office/drawing/2014/main" val="20001"/>
                    </a:ext>
                  </a:extLst>
                </a:gridCol>
                <a:gridCol w="2847325">
                  <a:extLst>
                    <a:ext uri="{9D8B030D-6E8A-4147-A177-3AD203B41FA5}">
                      <a16:colId xmlns:a16="http://schemas.microsoft.com/office/drawing/2014/main" val="20002"/>
                    </a:ext>
                  </a:extLst>
                </a:gridCol>
              </a:tblGrid>
              <a:tr h="449575">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Research Paper Review</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Identified Gaps</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b="1" u="none" strike="noStrike" cap="none" dirty="0">
                          <a:latin typeface="Times New Roman"/>
                          <a:ea typeface="Times New Roman"/>
                          <a:cs typeface="Times New Roman"/>
                          <a:sym typeface="Times New Roman"/>
                        </a:rPr>
                        <a:t>Citations</a:t>
                      </a: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126555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Design and Implementation of Inventory Management System for University :-</a:t>
                      </a:r>
                      <a:r>
                        <a:rPr lang="en" sz="1300">
                          <a:latin typeface="Times New Roman"/>
                          <a:ea typeface="Times New Roman"/>
                          <a:cs typeface="Times New Roman"/>
                          <a:sym typeface="Times New Roman"/>
                        </a:rPr>
                        <a:t>The system is developed using a web-based architecture with PHP, SQL, and frontend technologies. It follows a structured design including system architecture, module division, and database design. The Waterfall model is used for development.</a:t>
                      </a:r>
                      <a:endParaRPr sz="130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Only an Inventory management system not a integrated ERP System</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lvl="0" indent="0" algn="l" rtl="0">
                        <a:spcBef>
                          <a:spcPts val="0"/>
                        </a:spcBef>
                        <a:spcAft>
                          <a:spcPts val="0"/>
                        </a:spcAft>
                        <a:buClr>
                          <a:schemeClr val="dk1"/>
                        </a:buClr>
                        <a:buSzPts val="1100"/>
                        <a:buFont typeface="Arial"/>
                        <a:buNone/>
                      </a:pPr>
                      <a:r>
                        <a:rPr lang="en-IN" sz="1200" dirty="0"/>
                        <a:t>Design and Implementation of Inventory Management System for University Santosh Soni, Pankaj Chandra, Akanksha Gupta, Deepak Kant Netam, Sushant Kumar, Kaushik Tiwary santoshsoni.77@gmail.com, pankaj2684@gmail.com, akanksha.me2011@gmail.com, deepaknetam@gmail.com, kumar01sushant@gmail.com, casgguit@gmail.com </a:t>
                      </a:r>
                      <a:endParaRPr sz="1200" dirty="0">
                        <a:latin typeface="Arial"/>
                        <a:ea typeface="Arial"/>
                        <a:cs typeface="Arial"/>
                        <a:sym typeface="Arial"/>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26175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Proprietary vs. Open-Source ERP: The Case of SAP and Odoo:-</a:t>
                      </a:r>
                      <a:r>
                        <a:rPr lang="en" sz="1300">
                          <a:latin typeface="Times New Roman"/>
                          <a:ea typeface="Times New Roman"/>
                          <a:cs typeface="Times New Roman"/>
                          <a:sym typeface="Times New Roman"/>
                        </a:rPr>
                        <a:t>The paper performs a comparative analysis between proprietary ERP (SAP) and open-source ERP (Odoo) based on multiple factors such as cost, scalability, customization, and business suitability.</a:t>
                      </a:r>
                      <a:endParaRPr sz="130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This study doesnt have a performance comparison of the ERP tools</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lvl="0" indent="0" algn="l" rtl="0">
                        <a:spcBef>
                          <a:spcPts val="0"/>
                        </a:spcBef>
                        <a:spcAft>
                          <a:spcPts val="0"/>
                        </a:spcAft>
                        <a:buClr>
                          <a:schemeClr val="dk1"/>
                        </a:buClr>
                        <a:buSzPts val="1100"/>
                        <a:buFont typeface="Arial"/>
                        <a:buNone/>
                      </a:pPr>
                      <a:r>
                        <a:rPr lang="en-IN" sz="1100" dirty="0"/>
                        <a:t>Proprietary vs. Open-Source ERP: The Case of SAP and Odoo Ferenc Erdős Department of Informatics Széchenyi István University Győr, Hungary erdosf@sze.hu Barnabas Isoke Kasangaki Information Technology Section Kibaale District Local Government Kibaale, Uganda ekbarnabas26@gmail.com László Koloszár Alexandre </a:t>
                      </a:r>
                      <a:r>
                        <a:rPr lang="en-IN" sz="1100" dirty="0" err="1"/>
                        <a:t>Lamfalussy</a:t>
                      </a:r>
                      <a:r>
                        <a:rPr lang="en-IN" sz="1100" dirty="0"/>
                        <a:t> Faculty of Economics Institute of Business Studies University of Sopron </a:t>
                      </a:r>
                      <a:r>
                        <a:rPr lang="en-IN" sz="1100" dirty="0" err="1"/>
                        <a:t>Sopron</a:t>
                      </a:r>
                      <a:r>
                        <a:rPr lang="en-IN" sz="1100" dirty="0"/>
                        <a:t>, Hungary koloszar.laszlo@uni-sopron.hu</a:t>
                      </a:r>
                      <a:endParaRPr sz="1100" dirty="0">
                        <a:latin typeface="Arial"/>
                        <a:ea typeface="Arial"/>
                        <a:cs typeface="Arial"/>
                        <a:sym typeface="Arial"/>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149" name="Google Shape;149;p24"/>
          <p:cNvSpPr txBox="1">
            <a:spLocks noGrp="1"/>
          </p:cNvSpPr>
          <p:nvPr>
            <p:ph type="title"/>
          </p:nvPr>
        </p:nvSpPr>
        <p:spPr>
          <a:xfrm>
            <a:off x="3040406" y="253444"/>
            <a:ext cx="3063300" cy="483900"/>
          </a:xfrm>
          <a:prstGeom prst="rect">
            <a:avLst/>
          </a:prstGeom>
          <a:noFill/>
          <a:ln>
            <a:noFill/>
          </a:ln>
        </p:spPr>
        <p:txBody>
          <a:bodyPr spcFirstLastPara="1" wrap="square" lIns="0" tIns="6675" rIns="0" bIns="0" anchor="t" anchorCtr="0">
            <a:spAutoFit/>
          </a:bodyPr>
          <a:lstStyle/>
          <a:p>
            <a:pPr marL="12700" lvl="0" indent="0" algn="l" rtl="0">
              <a:lnSpc>
                <a:spcPct val="100000"/>
              </a:lnSpc>
              <a:spcBef>
                <a:spcPts val="0"/>
              </a:spcBef>
              <a:spcAft>
                <a:spcPts val="0"/>
              </a:spcAft>
              <a:buNone/>
            </a:pPr>
            <a:r>
              <a:rPr lang="en"/>
              <a:t>Literature Review</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5"/>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graphicFrame>
        <p:nvGraphicFramePr>
          <p:cNvPr id="155" name="Google Shape;155;p25"/>
          <p:cNvGraphicFramePr/>
          <p:nvPr>
            <p:extLst>
              <p:ext uri="{D42A27DB-BD31-4B8C-83A1-F6EECF244321}">
                <p14:modId xmlns:p14="http://schemas.microsoft.com/office/powerpoint/2010/main" val="2294564207"/>
              </p:ext>
            </p:extLst>
          </p:nvPr>
        </p:nvGraphicFramePr>
        <p:xfrm>
          <a:off x="194412" y="1003786"/>
          <a:ext cx="8863925" cy="3361045"/>
        </p:xfrm>
        <a:graphic>
          <a:graphicData uri="http://schemas.openxmlformats.org/drawingml/2006/table">
            <a:tbl>
              <a:tblPr firstRow="1" bandRow="1">
                <a:noFill/>
                <a:tableStyleId>{ACE46F92-1EF2-4096-A548-2BCCBEC776F4}</a:tableStyleId>
              </a:tblPr>
              <a:tblGrid>
                <a:gridCol w="3962075">
                  <a:extLst>
                    <a:ext uri="{9D8B030D-6E8A-4147-A177-3AD203B41FA5}">
                      <a16:colId xmlns:a16="http://schemas.microsoft.com/office/drawing/2014/main" val="20000"/>
                    </a:ext>
                  </a:extLst>
                </a:gridCol>
                <a:gridCol w="2054525">
                  <a:extLst>
                    <a:ext uri="{9D8B030D-6E8A-4147-A177-3AD203B41FA5}">
                      <a16:colId xmlns:a16="http://schemas.microsoft.com/office/drawing/2014/main" val="20001"/>
                    </a:ext>
                  </a:extLst>
                </a:gridCol>
                <a:gridCol w="2847325">
                  <a:extLst>
                    <a:ext uri="{9D8B030D-6E8A-4147-A177-3AD203B41FA5}">
                      <a16:colId xmlns:a16="http://schemas.microsoft.com/office/drawing/2014/main" val="20002"/>
                    </a:ext>
                  </a:extLst>
                </a:gridCol>
              </a:tblGrid>
              <a:tr h="449575">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Research Paper Review</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rtl="0">
                        <a:lnSpc>
                          <a:spcPct val="100000"/>
                        </a:lnSpc>
                        <a:spcBef>
                          <a:spcPts val="0"/>
                        </a:spcBef>
                        <a:spcAft>
                          <a:spcPts val="0"/>
                        </a:spcAft>
                        <a:buNone/>
                      </a:pPr>
                      <a:r>
                        <a:rPr lang="en" b="1">
                          <a:latin typeface="Times New Roman"/>
                          <a:ea typeface="Times New Roman"/>
                          <a:cs typeface="Times New Roman"/>
                          <a:sym typeface="Times New Roman"/>
                        </a:rPr>
                        <a:t>Identified Gaps</a:t>
                      </a:r>
                      <a:endParaRPr b="1" u="none" strike="noStrike" cap="none">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tc>
                  <a:txBody>
                    <a:bodyPr/>
                    <a:lstStyle/>
                    <a:p>
                      <a:pPr marL="91440" marR="0" lvl="0" indent="0" algn="ctr" rtl="0">
                        <a:lnSpc>
                          <a:spcPct val="100000"/>
                        </a:lnSpc>
                        <a:spcBef>
                          <a:spcPts val="0"/>
                        </a:spcBef>
                        <a:spcAft>
                          <a:spcPts val="0"/>
                        </a:spcAft>
                        <a:buNone/>
                      </a:pPr>
                      <a:r>
                        <a:rPr lang="en-US" b="1" u="none" strike="noStrike" cap="none" dirty="0">
                          <a:latin typeface="Times New Roman"/>
                          <a:ea typeface="Times New Roman"/>
                          <a:cs typeface="Times New Roman"/>
                          <a:sym typeface="Times New Roman"/>
                        </a:rPr>
                        <a:t>Citations</a:t>
                      </a:r>
                      <a:endParaRPr b="1" u="none" strike="noStrike" cap="none" dirty="0">
                        <a:latin typeface="Times New Roman"/>
                        <a:ea typeface="Times New Roman"/>
                        <a:cs typeface="Times New Roman"/>
                        <a:sym typeface="Times New Roman"/>
                      </a:endParaRPr>
                    </a:p>
                  </a:txBody>
                  <a:tcPr marL="0" marR="0" marT="0" marB="0"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EA9999"/>
                    </a:solidFill>
                  </a:tcPr>
                </a:tc>
                <a:extLst>
                  <a:ext uri="{0D108BD9-81ED-4DB2-BD59-A6C34878D82A}">
                    <a16:rowId xmlns:a16="http://schemas.microsoft.com/office/drawing/2014/main" val="10000"/>
                  </a:ext>
                </a:extLst>
              </a:tr>
              <a:tr h="126555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Small-Medium Business Enterprise Management Application:-</a:t>
                      </a:r>
                      <a:r>
                        <a:rPr lang="en" sz="1300">
                          <a:latin typeface="Times New Roman"/>
                          <a:ea typeface="Times New Roman"/>
                          <a:cs typeface="Times New Roman"/>
                          <a:sym typeface="Times New Roman"/>
                        </a:rPr>
                        <a:t>The system is developed using a structured software development lifecycle including requirement analysis, system design, development, testing, and deployment. It uses a cloud-based three-tier architecture with cross-platform support.</a:t>
                      </a:r>
                      <a:endParaRPr sz="1300"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Security concerns were not merasured with minimal analytics.</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IN" sz="1200" dirty="0"/>
                        <a:t>Small-Medium Business Enterprise Management Application Manish </a:t>
                      </a:r>
                      <a:r>
                        <a:rPr lang="en-IN" sz="1200" dirty="0" err="1"/>
                        <a:t>Andure</a:t>
                      </a:r>
                      <a:r>
                        <a:rPr lang="en-IN" sz="1200" dirty="0"/>
                        <a:t>, Shivam Khule, Aneri </a:t>
                      </a:r>
                      <a:r>
                        <a:rPr lang="en-IN" sz="1200" dirty="0" err="1"/>
                        <a:t>Lohakane</a:t>
                      </a:r>
                      <a:r>
                        <a:rPr lang="en-IN" sz="1200" dirty="0"/>
                        <a:t>, </a:t>
                      </a:r>
                      <a:r>
                        <a:rPr lang="en-IN" sz="1200" dirty="0" err="1"/>
                        <a:t>Prashik</a:t>
                      </a:r>
                      <a:r>
                        <a:rPr lang="en-IN" sz="1200" dirty="0"/>
                        <a:t> Damodar, Balaji Chaugule </a:t>
                      </a:r>
                      <a:endParaRPr sz="1300"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1261750">
                <a:tc>
                  <a:txBody>
                    <a:bodyPr/>
                    <a:lstStyle/>
                    <a:p>
                      <a:pPr marL="91440" marR="0" lvl="0" indent="0" algn="l" rtl="0">
                        <a:lnSpc>
                          <a:spcPct val="100000"/>
                        </a:lnSpc>
                        <a:spcBef>
                          <a:spcPts val="0"/>
                        </a:spcBef>
                        <a:spcAft>
                          <a:spcPts val="0"/>
                        </a:spcAft>
                        <a:buNone/>
                      </a:pPr>
                      <a:r>
                        <a:rPr lang="en" sz="1300" b="1" u="sng">
                          <a:latin typeface="Times New Roman"/>
                          <a:ea typeface="Times New Roman"/>
                          <a:cs typeface="Times New Roman"/>
                          <a:sym typeface="Times New Roman"/>
                        </a:rPr>
                        <a:t>Web – Based Intelligent Inventory Management System:-</a:t>
                      </a:r>
                      <a:r>
                        <a:rPr lang="en" sz="1300">
                          <a:latin typeface="Times New Roman"/>
                          <a:ea typeface="Times New Roman"/>
                          <a:cs typeface="Times New Roman"/>
                          <a:sym typeface="Times New Roman"/>
                        </a:rPr>
                        <a:t>The system is developed using a web-based distributed architecture with a client-server model. It integrates an intelligent system using fuzzy logic to manage inventory across multiple stores and determine reorder levels.</a:t>
                      </a:r>
                      <a:endParaRPr sz="1300">
                        <a:latin typeface="Times New Roman"/>
                        <a:ea typeface="Times New Roman"/>
                        <a:cs typeface="Times New Roman"/>
                        <a:sym typeface="Times New Roman"/>
                      </a:endParaRPr>
                    </a:p>
                    <a:p>
                      <a:pPr marL="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  Algorithm Used:Fuzzy Logic (Mamdani Inference System)</a:t>
                      </a:r>
                      <a:endParaRPr sz="1300"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 sz="1300">
                          <a:latin typeface="Times New Roman"/>
                          <a:ea typeface="Times New Roman"/>
                          <a:cs typeface="Times New Roman"/>
                          <a:sym typeface="Times New Roman"/>
                        </a:rPr>
                        <a:t>Not beginner friendly and way too complex due to the use of Fuzzy logic with limited scalability proof.</a:t>
                      </a:r>
                      <a:endParaRPr sz="1300" u="none" strike="noStrike" cap="none">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tc>
                  <a:txBody>
                    <a:bodyPr/>
                    <a:lstStyle/>
                    <a:p>
                      <a:pPr marL="91440" marR="0" lvl="0" indent="0" algn="l" rtl="0">
                        <a:lnSpc>
                          <a:spcPct val="100000"/>
                        </a:lnSpc>
                        <a:spcBef>
                          <a:spcPts val="0"/>
                        </a:spcBef>
                        <a:spcAft>
                          <a:spcPts val="0"/>
                        </a:spcAft>
                        <a:buNone/>
                      </a:pPr>
                      <a:r>
                        <a:rPr lang="en-US" sz="1200" dirty="0"/>
                        <a:t>Web – Based Intelligent Inventory Management System </a:t>
                      </a:r>
                      <a:r>
                        <a:rPr lang="en-US" sz="1200" dirty="0" err="1"/>
                        <a:t>Madamidola</a:t>
                      </a:r>
                      <a:r>
                        <a:rPr lang="en-US" sz="1200" dirty="0"/>
                        <a:t> O. A Department of Computer Science Federal University of Technology Akure Daramola O.A Department of Computer Science Federal University of Technology Akure Akintola K .G. Department of Computer Science Federal University of Technology Akure </a:t>
                      </a:r>
                      <a:endParaRPr sz="1300" dirty="0">
                        <a:latin typeface="Times New Roman"/>
                        <a:ea typeface="Times New Roman"/>
                        <a:cs typeface="Times New Roman"/>
                        <a:sym typeface="Times New Roman"/>
                      </a:endParaRPr>
                    </a:p>
                  </a:txBody>
                  <a:tcPr marL="0" marR="0" marT="0" marB="0">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
        <p:nvSpPr>
          <p:cNvPr id="156" name="Google Shape;156;p25"/>
          <p:cNvSpPr txBox="1">
            <a:spLocks noGrp="1"/>
          </p:cNvSpPr>
          <p:nvPr>
            <p:ph type="title"/>
          </p:nvPr>
        </p:nvSpPr>
        <p:spPr>
          <a:xfrm>
            <a:off x="3040406" y="253444"/>
            <a:ext cx="3063300" cy="483900"/>
          </a:xfrm>
          <a:prstGeom prst="rect">
            <a:avLst/>
          </a:prstGeom>
          <a:noFill/>
          <a:ln>
            <a:noFill/>
          </a:ln>
        </p:spPr>
        <p:txBody>
          <a:bodyPr spcFirstLastPara="1" wrap="square" lIns="0" tIns="6675" rIns="0" bIns="0" anchor="t" anchorCtr="0">
            <a:spAutoFit/>
          </a:bodyPr>
          <a:lstStyle/>
          <a:p>
            <a:pPr marL="12700" lvl="0" indent="0" algn="l" rtl="0">
              <a:lnSpc>
                <a:spcPct val="100000"/>
              </a:lnSpc>
              <a:spcBef>
                <a:spcPts val="0"/>
              </a:spcBef>
              <a:spcAft>
                <a:spcPts val="0"/>
              </a:spcAft>
              <a:buNone/>
            </a:pPr>
            <a:r>
              <a:rPr lang="en"/>
              <a:t>Literature Review</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6"/>
          <p:cNvSpPr txBox="1">
            <a:spLocks noGrp="1"/>
          </p:cNvSpPr>
          <p:nvPr>
            <p:ph type="title"/>
          </p:nvPr>
        </p:nvSpPr>
        <p:spPr>
          <a:xfrm>
            <a:off x="2110156" y="-77105"/>
            <a:ext cx="5347200" cy="852000"/>
          </a:xfrm>
          <a:prstGeom prst="rect">
            <a:avLst/>
          </a:prstGeom>
          <a:noFill/>
          <a:ln>
            <a:noFill/>
          </a:ln>
        </p:spPr>
        <p:txBody>
          <a:bodyPr spcFirstLastPara="1" wrap="square" lIns="0" tIns="337225" rIns="0" bIns="0" anchor="t" anchorCtr="0">
            <a:spAutoFit/>
          </a:bodyPr>
          <a:lstStyle/>
          <a:p>
            <a:pPr marL="774700" lvl="0" indent="0" algn="l" rtl="0">
              <a:lnSpc>
                <a:spcPct val="100000"/>
              </a:lnSpc>
              <a:spcBef>
                <a:spcPts val="0"/>
              </a:spcBef>
              <a:spcAft>
                <a:spcPts val="0"/>
              </a:spcAft>
              <a:buNone/>
            </a:pPr>
            <a:r>
              <a:rPr lang="en"/>
              <a:t>Problem Statement</a:t>
            </a:r>
            <a:endParaRPr/>
          </a:p>
        </p:txBody>
      </p:sp>
      <p:sp>
        <p:nvSpPr>
          <p:cNvPr id="162" name="Google Shape;162;p26"/>
          <p:cNvSpPr txBox="1">
            <a:spLocks noGrp="1"/>
          </p:cNvSpPr>
          <p:nvPr>
            <p:ph type="ftr" idx="11"/>
          </p:nvPr>
        </p:nvSpPr>
        <p:spPr>
          <a:xfrm>
            <a:off x="3621218" y="4871159"/>
            <a:ext cx="2010300" cy="1539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163" name="Google Shape;163;p26"/>
          <p:cNvSpPr txBox="1"/>
          <p:nvPr/>
        </p:nvSpPr>
        <p:spPr>
          <a:xfrm>
            <a:off x="562429" y="1245739"/>
            <a:ext cx="8127900" cy="3352849"/>
          </a:xfrm>
          <a:prstGeom prst="rect">
            <a:avLst/>
          </a:prstGeom>
          <a:noFill/>
          <a:ln>
            <a:noFill/>
          </a:ln>
        </p:spPr>
        <p:txBody>
          <a:bodyPr spcFirstLastPara="1" wrap="square" lIns="0" tIns="13025" rIns="0" bIns="0" anchor="t" anchorCtr="0">
            <a:spAutoFit/>
          </a:bodyPr>
          <a:lstStyle/>
          <a:p>
            <a:pPr marL="0" lvl="0" indent="0" algn="l" rtl="0">
              <a:lnSpc>
                <a:spcPct val="115000"/>
              </a:lnSpc>
              <a:spcBef>
                <a:spcPts val="1200"/>
              </a:spcBef>
              <a:spcAft>
                <a:spcPts val="0"/>
              </a:spcAft>
              <a:buClr>
                <a:schemeClr val="dk1"/>
              </a:buClr>
              <a:buSzPts val="1100"/>
              <a:buFont typeface="Arial"/>
              <a:buNone/>
            </a:pPr>
            <a:r>
              <a:rPr lang="en" sz="1800" dirty="0">
                <a:latin typeface="Trebuchet MS"/>
                <a:ea typeface="Trebuchet MS"/>
                <a:cs typeface="Trebuchet MS"/>
                <a:sym typeface="Trebuchet MS"/>
              </a:rPr>
              <a:t>Businesses, especially small and medium enterprises, often rely on multiple disconnected systems to manage sales, inventory, finance, and human resources. This leads to data inconsistency, manual and inefficient workflows, making it difficult to obtain real-time insights and make informed decisions.</a:t>
            </a:r>
            <a:endParaRPr sz="1800" dirty="0">
              <a:latin typeface="Trebuchet MS"/>
              <a:ea typeface="Trebuchet MS"/>
              <a:cs typeface="Trebuchet MS"/>
              <a:sym typeface="Trebuchet MS"/>
            </a:endParaRPr>
          </a:p>
          <a:p>
            <a:pPr marL="0" lvl="0" indent="0" algn="l" rtl="0">
              <a:lnSpc>
                <a:spcPct val="115000"/>
              </a:lnSpc>
              <a:spcBef>
                <a:spcPts val="1200"/>
              </a:spcBef>
              <a:spcAft>
                <a:spcPts val="0"/>
              </a:spcAft>
              <a:buClr>
                <a:schemeClr val="dk1"/>
              </a:buClr>
              <a:buSzPts val="1100"/>
              <a:buFont typeface="Arial"/>
              <a:buNone/>
            </a:pPr>
            <a:r>
              <a:rPr lang="en" sz="1800" dirty="0">
                <a:latin typeface="Trebuchet MS"/>
                <a:ea typeface="Trebuchet MS"/>
                <a:cs typeface="Trebuchet MS"/>
                <a:sym typeface="Trebuchet MS"/>
              </a:rPr>
              <a:t>This project aims to develop an Integrated Business Operations Platform (IBOP) that consolidates key business functions such as CRM, sales, inventory, finance, and HR into a centralized web-based system, improving operational efficiency and decision-making.</a:t>
            </a:r>
            <a:endParaRPr sz="1800" dirty="0">
              <a:latin typeface="Trebuchet MS"/>
              <a:ea typeface="Trebuchet MS"/>
              <a:cs typeface="Trebuchet MS"/>
              <a:sym typeface="Trebuchet MS"/>
            </a:endParaRPr>
          </a:p>
          <a:p>
            <a:pPr marL="12700" marR="0" lvl="0" indent="0" algn="just" rtl="0">
              <a:lnSpc>
                <a:spcPct val="118888"/>
              </a:lnSpc>
              <a:spcBef>
                <a:spcPts val="1200"/>
              </a:spcBef>
              <a:spcAft>
                <a:spcPts val="0"/>
              </a:spcAft>
              <a:buNone/>
            </a:pPr>
            <a:endParaRPr sz="1800" dirty="0">
              <a:latin typeface="Trebuchet MS"/>
              <a:ea typeface="Trebuchet MS"/>
              <a:cs typeface="Trebuchet MS"/>
              <a:sym typeface="Trebuchet M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7"/>
          <p:cNvSpPr txBox="1">
            <a:spLocks noGrp="1"/>
          </p:cNvSpPr>
          <p:nvPr>
            <p:ph type="title"/>
          </p:nvPr>
        </p:nvSpPr>
        <p:spPr>
          <a:xfrm>
            <a:off x="2110156" y="-77105"/>
            <a:ext cx="5347315" cy="851988"/>
          </a:xfrm>
          <a:prstGeom prst="rect">
            <a:avLst/>
          </a:prstGeom>
          <a:noFill/>
          <a:ln>
            <a:noFill/>
          </a:ln>
        </p:spPr>
        <p:txBody>
          <a:bodyPr spcFirstLastPara="1" wrap="square" lIns="0" tIns="279200" rIns="0" bIns="0" anchor="t" anchorCtr="0">
            <a:spAutoFit/>
          </a:bodyPr>
          <a:lstStyle/>
          <a:p>
            <a:pPr marL="1574800" lvl="0" indent="0" algn="l" rtl="0">
              <a:lnSpc>
                <a:spcPct val="100000"/>
              </a:lnSpc>
              <a:spcBef>
                <a:spcPts val="0"/>
              </a:spcBef>
              <a:spcAft>
                <a:spcPts val="0"/>
              </a:spcAft>
              <a:buNone/>
            </a:pPr>
            <a:r>
              <a:rPr lang="en"/>
              <a:t>Objectives</a:t>
            </a:r>
            <a:endParaRPr/>
          </a:p>
        </p:txBody>
      </p:sp>
      <p:sp>
        <p:nvSpPr>
          <p:cNvPr id="169" name="Google Shape;169;p27"/>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170" name="Google Shape;170;p27"/>
          <p:cNvSpPr txBox="1"/>
          <p:nvPr/>
        </p:nvSpPr>
        <p:spPr>
          <a:xfrm>
            <a:off x="723600" y="992804"/>
            <a:ext cx="7696800" cy="3274999"/>
          </a:xfrm>
          <a:prstGeom prst="rect">
            <a:avLst/>
          </a:prstGeom>
          <a:noFill/>
          <a:ln>
            <a:noFill/>
          </a:ln>
        </p:spPr>
        <p:txBody>
          <a:bodyPr spcFirstLastPara="1" wrap="square" lIns="0" tIns="6350" rIns="0" bIns="0" anchor="t" anchorCtr="0">
            <a:spAutoFit/>
          </a:bodyPr>
          <a:lstStyle/>
          <a:p>
            <a:pPr marL="457200" lvl="0" indent="-298450" algn="l" rtl="0">
              <a:lnSpc>
                <a:spcPct val="115000"/>
              </a:lnSpc>
              <a:spcBef>
                <a:spcPts val="1200"/>
              </a:spcBef>
              <a:spcAft>
                <a:spcPts val="0"/>
              </a:spcAft>
              <a:buClr>
                <a:schemeClr val="dk1"/>
              </a:buClr>
              <a:buSzPts val="1100"/>
              <a:buAutoNum type="arabicPeriod"/>
            </a:pPr>
            <a:r>
              <a:rPr lang="en" sz="1600" dirty="0">
                <a:latin typeface="Trebuchet MS"/>
                <a:ea typeface="Trebuchet MS"/>
                <a:cs typeface="Trebuchet MS"/>
                <a:sym typeface="Trebuchet MS"/>
              </a:rPr>
              <a:t>To design and develop a centralized platform that integrates multiple business operations including sales, inventory, finance, and human resources.</a:t>
            </a:r>
            <a:endParaRPr sz="1600" dirty="0">
              <a:latin typeface="Trebuchet MS"/>
              <a:ea typeface="Trebuchet MS"/>
              <a:cs typeface="Trebuchet MS"/>
              <a:sym typeface="Trebuchet MS"/>
            </a:endParaRPr>
          </a:p>
          <a:p>
            <a:pPr marL="457200" lvl="0" indent="-298450" algn="l" rtl="0">
              <a:lnSpc>
                <a:spcPct val="115000"/>
              </a:lnSpc>
              <a:spcBef>
                <a:spcPts val="0"/>
              </a:spcBef>
              <a:spcAft>
                <a:spcPts val="0"/>
              </a:spcAft>
              <a:buClr>
                <a:schemeClr val="dk1"/>
              </a:buClr>
              <a:buSzPts val="1100"/>
              <a:buAutoNum type="arabicPeriod"/>
            </a:pPr>
            <a:r>
              <a:rPr lang="en" sz="1600" dirty="0">
                <a:latin typeface="Trebuchet MS"/>
                <a:ea typeface="Trebuchet MS"/>
                <a:cs typeface="Trebuchet MS"/>
                <a:sym typeface="Trebuchet MS"/>
              </a:rPr>
              <a:t>To automate key workflows such as order processing, inventory updates, invoicing, and reporting to reduce manual effort and errors.</a:t>
            </a:r>
            <a:endParaRPr sz="1600" dirty="0">
              <a:latin typeface="Trebuchet MS"/>
              <a:ea typeface="Trebuchet MS"/>
              <a:cs typeface="Trebuchet MS"/>
              <a:sym typeface="Trebuchet MS"/>
            </a:endParaRPr>
          </a:p>
          <a:p>
            <a:pPr marL="457200" lvl="0" indent="-298450" algn="l" rtl="0">
              <a:lnSpc>
                <a:spcPct val="115000"/>
              </a:lnSpc>
              <a:spcBef>
                <a:spcPts val="0"/>
              </a:spcBef>
              <a:spcAft>
                <a:spcPts val="0"/>
              </a:spcAft>
              <a:buClr>
                <a:schemeClr val="dk1"/>
              </a:buClr>
              <a:buSzPts val="1100"/>
              <a:buAutoNum type="arabicPeriod"/>
            </a:pPr>
            <a:r>
              <a:rPr lang="en" sz="1600" dirty="0">
                <a:latin typeface="Trebuchet MS"/>
                <a:ea typeface="Trebuchet MS"/>
                <a:cs typeface="Trebuchet MS"/>
                <a:sym typeface="Trebuchet MS"/>
              </a:rPr>
              <a:t>To implement a role-based access system (Admin/User) for secure and controlled data management.</a:t>
            </a:r>
            <a:endParaRPr sz="1600" dirty="0">
              <a:latin typeface="Trebuchet MS"/>
              <a:ea typeface="Trebuchet MS"/>
              <a:cs typeface="Trebuchet MS"/>
              <a:sym typeface="Trebuchet MS"/>
            </a:endParaRPr>
          </a:p>
          <a:p>
            <a:pPr marL="457200" lvl="0" indent="-298450" algn="l" rtl="0">
              <a:lnSpc>
                <a:spcPct val="115000"/>
              </a:lnSpc>
              <a:spcBef>
                <a:spcPts val="0"/>
              </a:spcBef>
              <a:spcAft>
                <a:spcPts val="0"/>
              </a:spcAft>
              <a:buClr>
                <a:schemeClr val="dk1"/>
              </a:buClr>
              <a:buSzPts val="1100"/>
              <a:buAutoNum type="arabicPeriod"/>
            </a:pPr>
            <a:r>
              <a:rPr lang="en" sz="1600" dirty="0">
                <a:latin typeface="Trebuchet MS"/>
                <a:ea typeface="Trebuchet MS"/>
                <a:cs typeface="Trebuchet MS"/>
                <a:sym typeface="Trebuchet MS"/>
              </a:rPr>
              <a:t>To provide real-time data tracking and automated report generation for better business insights and decision-making.</a:t>
            </a:r>
            <a:endParaRPr sz="1600" dirty="0">
              <a:latin typeface="Trebuchet MS"/>
              <a:ea typeface="Trebuchet MS"/>
              <a:cs typeface="Trebuchet MS"/>
              <a:sym typeface="Trebuchet MS"/>
            </a:endParaRPr>
          </a:p>
          <a:p>
            <a:pPr marL="457200" lvl="0" indent="-298450" algn="l" rtl="0">
              <a:lnSpc>
                <a:spcPct val="115000"/>
              </a:lnSpc>
              <a:spcBef>
                <a:spcPts val="0"/>
              </a:spcBef>
              <a:spcAft>
                <a:spcPts val="0"/>
              </a:spcAft>
              <a:buClr>
                <a:schemeClr val="dk1"/>
              </a:buClr>
              <a:buSzPts val="1100"/>
              <a:buAutoNum type="arabicPeriod"/>
            </a:pPr>
            <a:r>
              <a:rPr lang="en" sz="1600" dirty="0">
                <a:latin typeface="Trebuchet MS"/>
                <a:ea typeface="Trebuchet MS"/>
                <a:cs typeface="Trebuchet MS"/>
                <a:sym typeface="Trebuchet MS"/>
              </a:rPr>
              <a:t>To build a scalable and customizable system that can adapt to different business requirements.</a:t>
            </a:r>
          </a:p>
          <a:p>
            <a:pPr marL="457200" lvl="0" indent="-298450">
              <a:lnSpc>
                <a:spcPct val="115000"/>
              </a:lnSpc>
              <a:buClr>
                <a:schemeClr val="dk1"/>
              </a:buClr>
              <a:buSzPts val="1100"/>
              <a:buAutoNum type="arabicPeriod"/>
            </a:pPr>
            <a:r>
              <a:rPr lang="en-US" sz="1600" dirty="0">
                <a:latin typeface="Trebuchet MS"/>
                <a:ea typeface="Trebuchet MS"/>
                <a:cs typeface="Trebuchet MS"/>
                <a:sym typeface="Trebuchet MS"/>
              </a:rPr>
              <a:t>To implement secure JWT-based authentication and RBAC</a:t>
            </a:r>
            <a:endParaRPr sz="1600" dirty="0">
              <a:latin typeface="Trebuchet MS"/>
              <a:ea typeface="Trebuchet MS"/>
              <a:cs typeface="Trebuchet MS"/>
              <a:sym typeface="Trebuchet M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8"/>
          <p:cNvSpPr txBox="1">
            <a:spLocks noGrp="1"/>
          </p:cNvSpPr>
          <p:nvPr>
            <p:ph type="title"/>
          </p:nvPr>
        </p:nvSpPr>
        <p:spPr>
          <a:xfrm>
            <a:off x="1832546" y="9680"/>
            <a:ext cx="5347200" cy="832961"/>
          </a:xfrm>
          <a:prstGeom prst="rect">
            <a:avLst/>
          </a:prstGeom>
          <a:noFill/>
          <a:ln>
            <a:noFill/>
          </a:ln>
        </p:spPr>
        <p:txBody>
          <a:bodyPr spcFirstLastPara="1" wrap="square" lIns="0" tIns="337225" rIns="0" bIns="0" anchor="t" anchorCtr="0">
            <a:spAutoFit/>
          </a:bodyPr>
          <a:lstStyle/>
          <a:p>
            <a:pPr lvl="0" algn="ctr"/>
            <a:r>
              <a:rPr lang="en-IN" sz="3200" dirty="0"/>
              <a:t>Core Features of IBOP</a:t>
            </a:r>
            <a:r>
              <a:rPr lang="en-IN" sz="3200" dirty="0">
                <a:solidFill>
                  <a:schemeClr val="dk1"/>
                </a:solidFill>
              </a:rPr>
              <a:t> </a:t>
            </a:r>
          </a:p>
        </p:txBody>
      </p:sp>
      <p:sp>
        <p:nvSpPr>
          <p:cNvPr id="176" name="Google Shape;176;p28"/>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177" name="Google Shape;177;p28"/>
          <p:cNvSpPr txBox="1"/>
          <p:nvPr/>
        </p:nvSpPr>
        <p:spPr>
          <a:xfrm>
            <a:off x="308750" y="880775"/>
            <a:ext cx="3799200" cy="3273600"/>
          </a:xfrm>
          <a:prstGeom prst="rect">
            <a:avLst/>
          </a:prstGeom>
          <a:noFill/>
          <a:ln>
            <a:noFill/>
          </a:ln>
        </p:spPr>
        <p:txBody>
          <a:bodyPr spcFirstLastPara="1" wrap="square" lIns="91425" tIns="91425" rIns="91425" bIns="91425" anchor="t" anchorCtr="0">
            <a:noAutofit/>
          </a:bodyPr>
          <a:lstStyle/>
          <a:p>
            <a:pPr marL="171450" indent="-171450">
              <a:buFont typeface="Arial" panose="020B0604020202020204" pitchFamily="34" charset="0"/>
              <a:buChar char="•"/>
            </a:pPr>
            <a:r>
              <a:rPr lang="en-IN" b="1" dirty="0"/>
              <a:t>Business Modules</a:t>
            </a:r>
          </a:p>
          <a:p>
            <a:pPr marL="171450" indent="-171450">
              <a:buFont typeface="Wingdings" panose="05000000000000000000" pitchFamily="2" charset="2"/>
              <a:buChar char="Ø"/>
            </a:pPr>
            <a:r>
              <a:rPr lang="en-IN" dirty="0"/>
              <a:t>Inventory Management </a:t>
            </a:r>
          </a:p>
          <a:p>
            <a:pPr marL="171450" indent="-171450">
              <a:buFont typeface="Wingdings" panose="05000000000000000000" pitchFamily="2" charset="2"/>
              <a:buChar char="Ø"/>
            </a:pPr>
            <a:r>
              <a:rPr lang="en-IN" dirty="0"/>
              <a:t>Sales Management </a:t>
            </a:r>
          </a:p>
          <a:p>
            <a:pPr marL="171450" indent="-171450">
              <a:buFont typeface="Wingdings" panose="05000000000000000000" pitchFamily="2" charset="2"/>
              <a:buChar char="Ø"/>
            </a:pPr>
            <a:r>
              <a:rPr lang="en-IN" dirty="0"/>
              <a:t>Invoice Generation </a:t>
            </a:r>
          </a:p>
          <a:p>
            <a:pPr marL="171450" indent="-171450">
              <a:buFont typeface="Wingdings" panose="05000000000000000000" pitchFamily="2" charset="2"/>
              <a:buChar char="Ø"/>
            </a:pPr>
            <a:r>
              <a:rPr lang="en-IN" dirty="0"/>
              <a:t>Expense Tracking </a:t>
            </a:r>
          </a:p>
          <a:p>
            <a:pPr marL="171450" indent="-171450">
              <a:buFont typeface="Wingdings" panose="05000000000000000000" pitchFamily="2" charset="2"/>
              <a:buChar char="Ø"/>
            </a:pPr>
            <a:r>
              <a:rPr lang="en-IN" dirty="0"/>
              <a:t>Employee Management </a:t>
            </a:r>
          </a:p>
          <a:p>
            <a:pPr marL="171450" indent="-171450">
              <a:buFont typeface="Wingdings" panose="05000000000000000000" pitchFamily="2" charset="2"/>
              <a:buChar char="Ø"/>
            </a:pPr>
            <a:r>
              <a:rPr lang="en-IN" dirty="0"/>
              <a:t>Financial Analytics </a:t>
            </a:r>
          </a:p>
          <a:p>
            <a:pPr marL="171450" indent="-171450">
              <a:buFont typeface="Arial" panose="020B0604020202020204" pitchFamily="34" charset="0"/>
              <a:buChar char="•"/>
            </a:pPr>
            <a:r>
              <a:rPr lang="en-IN" b="1" dirty="0"/>
              <a:t>Authentication &amp; Security</a:t>
            </a:r>
          </a:p>
          <a:p>
            <a:pPr marL="171450" indent="-171450">
              <a:buFont typeface="Wingdings" panose="05000000000000000000" pitchFamily="2" charset="2"/>
              <a:buChar char="Ø"/>
            </a:pPr>
            <a:r>
              <a:rPr lang="en-IN" dirty="0"/>
              <a:t>JWT Authentication </a:t>
            </a:r>
          </a:p>
          <a:p>
            <a:pPr marL="171450" indent="-171450">
              <a:buFont typeface="Wingdings" panose="05000000000000000000" pitchFamily="2" charset="2"/>
              <a:buChar char="Ø"/>
            </a:pPr>
            <a:r>
              <a:rPr lang="en-IN" dirty="0"/>
              <a:t>Role-Based Access Control (RBAC) </a:t>
            </a:r>
          </a:p>
          <a:p>
            <a:pPr marL="171450" indent="-171450">
              <a:buFont typeface="Wingdings" panose="05000000000000000000" pitchFamily="2" charset="2"/>
              <a:buChar char="Ø"/>
            </a:pPr>
            <a:r>
              <a:rPr lang="en-IN" dirty="0"/>
              <a:t>Protected API Routes </a:t>
            </a:r>
          </a:p>
          <a:p>
            <a:pPr marL="0" lvl="0" indent="0" algn="l" rtl="0">
              <a:lnSpc>
                <a:spcPct val="115000"/>
              </a:lnSpc>
              <a:spcBef>
                <a:spcPts val="1400"/>
              </a:spcBef>
              <a:spcAft>
                <a:spcPts val="0"/>
              </a:spcAft>
              <a:buClr>
                <a:schemeClr val="dk1"/>
              </a:buClr>
              <a:buSzPts val="1100"/>
              <a:buFont typeface="Arial"/>
              <a:buNone/>
            </a:pPr>
            <a:endParaRPr sz="1300" dirty="0">
              <a:solidFill>
                <a:schemeClr val="dk1"/>
              </a:solidFill>
              <a:latin typeface="Tahoma"/>
              <a:ea typeface="Tahoma"/>
              <a:cs typeface="Tahoma"/>
              <a:sym typeface="Tahoma"/>
            </a:endParaRPr>
          </a:p>
        </p:txBody>
      </p:sp>
      <p:sp>
        <p:nvSpPr>
          <p:cNvPr id="178" name="Google Shape;178;p28"/>
          <p:cNvSpPr txBox="1"/>
          <p:nvPr/>
        </p:nvSpPr>
        <p:spPr>
          <a:xfrm>
            <a:off x="4304875" y="934950"/>
            <a:ext cx="4445100" cy="3843900"/>
          </a:xfrm>
          <a:prstGeom prst="rect">
            <a:avLst/>
          </a:prstGeom>
          <a:noFill/>
          <a:ln>
            <a:noFill/>
          </a:ln>
        </p:spPr>
        <p:txBody>
          <a:bodyPr spcFirstLastPara="1" wrap="square" lIns="91425" tIns="91425" rIns="91425" bIns="91425" anchor="t" anchorCtr="0">
            <a:noAutofit/>
          </a:bodyPr>
          <a:lstStyle/>
          <a:p>
            <a:pPr marL="171450" indent="-171450">
              <a:buFont typeface="Arial" panose="020B0604020202020204" pitchFamily="34" charset="0"/>
              <a:buChar char="•"/>
            </a:pPr>
            <a:r>
              <a:rPr lang="en-IN" b="1" dirty="0"/>
              <a:t>User Interface</a:t>
            </a:r>
          </a:p>
          <a:p>
            <a:pPr marL="171450" indent="-171450">
              <a:buFont typeface="Wingdings" panose="05000000000000000000" pitchFamily="2" charset="2"/>
              <a:buChar char="Ø"/>
            </a:pPr>
            <a:r>
              <a:rPr lang="en-IN" dirty="0"/>
              <a:t>Responsive Dashboard </a:t>
            </a:r>
          </a:p>
          <a:p>
            <a:pPr marL="171450" indent="-171450">
              <a:buFont typeface="Wingdings" panose="05000000000000000000" pitchFamily="2" charset="2"/>
              <a:buChar char="Ø"/>
            </a:pPr>
            <a:r>
              <a:rPr lang="en-IN" dirty="0"/>
              <a:t>Dynamic Analytics </a:t>
            </a:r>
          </a:p>
          <a:p>
            <a:pPr marL="171450" indent="-171450">
              <a:buFont typeface="Wingdings" panose="05000000000000000000" pitchFamily="2" charset="2"/>
              <a:buChar char="Ø"/>
            </a:pPr>
            <a:r>
              <a:rPr lang="en-IN" dirty="0"/>
              <a:t>Modular ERP-style Navigation </a:t>
            </a:r>
          </a:p>
          <a:p>
            <a:pPr marL="285750" indent="-285750">
              <a:buFont typeface="Arial" panose="020B0604020202020204" pitchFamily="34" charset="0"/>
              <a:buChar char="•"/>
            </a:pPr>
            <a:r>
              <a:rPr lang="en-IN" b="1" dirty="0"/>
              <a:t>Technical Features</a:t>
            </a:r>
          </a:p>
          <a:p>
            <a:pPr marL="285750" indent="-285750">
              <a:buFont typeface="Wingdings" panose="05000000000000000000" pitchFamily="2" charset="2"/>
              <a:buChar char="Ø"/>
            </a:pPr>
            <a:r>
              <a:rPr lang="en-IN" dirty="0"/>
              <a:t>MERN Stack Architecture </a:t>
            </a:r>
          </a:p>
          <a:p>
            <a:pPr marL="285750" indent="-285750">
              <a:buFont typeface="Wingdings" panose="05000000000000000000" pitchFamily="2" charset="2"/>
              <a:buChar char="Ø"/>
            </a:pPr>
            <a:r>
              <a:rPr lang="en-IN" dirty="0"/>
              <a:t>MongoDB Atlas Integration </a:t>
            </a:r>
          </a:p>
          <a:p>
            <a:pPr marL="285750" indent="-285750">
              <a:buFont typeface="Wingdings" panose="05000000000000000000" pitchFamily="2" charset="2"/>
              <a:buChar char="Ø"/>
            </a:pPr>
            <a:r>
              <a:rPr lang="en-IN" dirty="0"/>
              <a:t>REST API Communication </a:t>
            </a:r>
          </a:p>
          <a:p>
            <a:pPr marL="285750" indent="-285750">
              <a:buFont typeface="Wingdings" panose="05000000000000000000" pitchFamily="2" charset="2"/>
              <a:buChar char="Ø"/>
            </a:pPr>
            <a:r>
              <a:rPr lang="en-IN" dirty="0"/>
              <a:t>Real-Time Workflow Synchronization </a:t>
            </a:r>
          </a:p>
          <a:p>
            <a:pPr marL="0" lvl="0" indent="0" algn="l" rtl="0">
              <a:spcBef>
                <a:spcPts val="1200"/>
              </a:spcBef>
              <a:spcAft>
                <a:spcPts val="0"/>
              </a:spcAft>
              <a:buNone/>
            </a:pPr>
            <a:endParaRPr sz="1300" dirty="0">
              <a:solidFill>
                <a:srgbClr val="CC2B4B"/>
              </a:solidFill>
              <a:latin typeface="Tahoma"/>
              <a:ea typeface="Tahoma"/>
              <a:cs typeface="Tahoma"/>
              <a:sym typeface="Tahom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9"/>
          <p:cNvSpPr txBox="1"/>
          <p:nvPr/>
        </p:nvSpPr>
        <p:spPr>
          <a:xfrm>
            <a:off x="240375" y="368827"/>
            <a:ext cx="4239000" cy="690900"/>
          </a:xfrm>
          <a:prstGeom prst="rect">
            <a:avLst/>
          </a:prstGeom>
          <a:solidFill>
            <a:srgbClr val="1700AC"/>
          </a:solidFill>
          <a:ln>
            <a:noFill/>
          </a:ln>
        </p:spPr>
        <p:txBody>
          <a:bodyPr spcFirstLastPara="1" wrap="square" lIns="0" tIns="44125" rIns="0" bIns="0" anchor="t" anchorCtr="0">
            <a:spAutoFit/>
          </a:bodyPr>
          <a:lstStyle/>
          <a:p>
            <a:pPr marL="0" lvl="0" indent="0" algn="l" rtl="0">
              <a:lnSpc>
                <a:spcPct val="100000"/>
              </a:lnSpc>
              <a:spcBef>
                <a:spcPts val="0"/>
              </a:spcBef>
              <a:spcAft>
                <a:spcPts val="0"/>
              </a:spcAft>
              <a:buNone/>
            </a:pPr>
            <a:endParaRPr sz="1400" dirty="0">
              <a:latin typeface="Times New Roman"/>
              <a:ea typeface="Times New Roman"/>
              <a:cs typeface="Times New Roman"/>
              <a:sym typeface="Times New Roman"/>
            </a:endParaRPr>
          </a:p>
          <a:p>
            <a:pPr marL="0" marR="38100" lvl="0" indent="0" algn="ctr" rtl="0">
              <a:lnSpc>
                <a:spcPct val="100000"/>
              </a:lnSpc>
              <a:spcBef>
                <a:spcPts val="0"/>
              </a:spcBef>
              <a:spcAft>
                <a:spcPts val="0"/>
              </a:spcAft>
              <a:buNone/>
            </a:pPr>
            <a:r>
              <a:rPr lang="en" dirty="0">
                <a:solidFill>
                  <a:srgbClr val="FFFFFF"/>
                </a:solidFill>
                <a:latin typeface="Trebuchet MS"/>
                <a:ea typeface="Trebuchet MS"/>
                <a:cs typeface="Trebuchet MS"/>
                <a:sym typeface="Trebuchet MS"/>
              </a:rPr>
              <a:t>System Components</a:t>
            </a:r>
            <a:endParaRPr dirty="0">
              <a:solidFill>
                <a:srgbClr val="FFFFFF"/>
              </a:solidFill>
              <a:latin typeface="Trebuchet MS"/>
              <a:ea typeface="Trebuchet MS"/>
              <a:cs typeface="Trebuchet MS"/>
              <a:sym typeface="Trebuchet MS"/>
            </a:endParaRPr>
          </a:p>
          <a:p>
            <a:pPr marL="0" marR="38100" lvl="0" indent="0" algn="ctr" rtl="0">
              <a:lnSpc>
                <a:spcPct val="100000"/>
              </a:lnSpc>
              <a:spcBef>
                <a:spcPts val="0"/>
              </a:spcBef>
              <a:spcAft>
                <a:spcPts val="0"/>
              </a:spcAft>
              <a:buNone/>
            </a:pPr>
            <a:endParaRPr dirty="0">
              <a:solidFill>
                <a:srgbClr val="FFFFFF"/>
              </a:solidFill>
              <a:latin typeface="Trebuchet MS"/>
              <a:ea typeface="Trebuchet MS"/>
              <a:cs typeface="Trebuchet MS"/>
              <a:sym typeface="Trebuchet MS"/>
            </a:endParaRPr>
          </a:p>
        </p:txBody>
      </p:sp>
      <p:sp>
        <p:nvSpPr>
          <p:cNvPr id="185" name="Google Shape;185;p29"/>
          <p:cNvSpPr/>
          <p:nvPr/>
        </p:nvSpPr>
        <p:spPr>
          <a:xfrm>
            <a:off x="4599479" y="1059729"/>
            <a:ext cx="4237355" cy="3766503"/>
          </a:xfrm>
          <a:custGeom>
            <a:avLst/>
            <a:gdLst/>
            <a:ahLst/>
            <a:cxnLst/>
            <a:rect l="l" t="t" r="r" b="b"/>
            <a:pathLst>
              <a:path w="8474710" h="7533005" extrusionOk="0">
                <a:moveTo>
                  <a:pt x="8328344" y="7532826"/>
                </a:moveTo>
                <a:lnTo>
                  <a:pt x="152400" y="7532826"/>
                </a:lnTo>
                <a:lnTo>
                  <a:pt x="104229" y="7525057"/>
                </a:lnTo>
                <a:lnTo>
                  <a:pt x="62394" y="7503422"/>
                </a:lnTo>
                <a:lnTo>
                  <a:pt x="29404" y="7470432"/>
                </a:lnTo>
                <a:lnTo>
                  <a:pt x="7769" y="7428597"/>
                </a:lnTo>
                <a:lnTo>
                  <a:pt x="0" y="7380426"/>
                </a:lnTo>
                <a:lnTo>
                  <a:pt x="0" y="152400"/>
                </a:lnTo>
                <a:lnTo>
                  <a:pt x="7769" y="104229"/>
                </a:lnTo>
                <a:lnTo>
                  <a:pt x="29404" y="62394"/>
                </a:lnTo>
                <a:lnTo>
                  <a:pt x="62394" y="29404"/>
                </a:lnTo>
                <a:lnTo>
                  <a:pt x="104229" y="7769"/>
                </a:lnTo>
                <a:lnTo>
                  <a:pt x="152400" y="0"/>
                </a:lnTo>
                <a:lnTo>
                  <a:pt x="8328344" y="0"/>
                </a:lnTo>
                <a:lnTo>
                  <a:pt x="8376514" y="7769"/>
                </a:lnTo>
                <a:lnTo>
                  <a:pt x="8418349" y="29404"/>
                </a:lnTo>
                <a:lnTo>
                  <a:pt x="8451339" y="62394"/>
                </a:lnTo>
                <a:lnTo>
                  <a:pt x="8472974" y="104229"/>
                </a:lnTo>
                <a:lnTo>
                  <a:pt x="8474430" y="113253"/>
                </a:lnTo>
                <a:lnTo>
                  <a:pt x="8474430" y="7419573"/>
                </a:lnTo>
                <a:lnTo>
                  <a:pt x="8451339" y="7470432"/>
                </a:lnTo>
                <a:lnTo>
                  <a:pt x="8418349" y="7503422"/>
                </a:lnTo>
                <a:lnTo>
                  <a:pt x="8376514" y="7525057"/>
                </a:lnTo>
                <a:lnTo>
                  <a:pt x="8328344" y="7532826"/>
                </a:lnTo>
                <a:close/>
              </a:path>
            </a:pathLst>
          </a:custGeom>
          <a:solidFill>
            <a:srgbClr val="C2DBFF"/>
          </a:solidFill>
          <a:ln>
            <a:noFill/>
          </a:ln>
        </p:spPr>
        <p:txBody>
          <a:bodyPr spcFirstLastPara="1" wrap="square" lIns="0" tIns="0" rIns="0" bIns="0" anchor="t" anchorCtr="0">
            <a:noAutofit/>
          </a:bodyPr>
          <a:lstStyle/>
          <a:p>
            <a:pPr marL="0" lvl="0" indent="0" algn="l" rtl="0">
              <a:spcBef>
                <a:spcPts val="0"/>
              </a:spcBef>
              <a:spcAft>
                <a:spcPts val="0"/>
              </a:spcAft>
              <a:buNone/>
            </a:pPr>
            <a:endParaRPr sz="700"/>
          </a:p>
        </p:txBody>
      </p:sp>
      <p:sp>
        <p:nvSpPr>
          <p:cNvPr id="186" name="Google Shape;186;p29"/>
          <p:cNvSpPr txBox="1"/>
          <p:nvPr/>
        </p:nvSpPr>
        <p:spPr>
          <a:xfrm>
            <a:off x="4598642" y="368829"/>
            <a:ext cx="4239000" cy="690900"/>
          </a:xfrm>
          <a:prstGeom prst="rect">
            <a:avLst/>
          </a:prstGeom>
          <a:solidFill>
            <a:srgbClr val="1700AC"/>
          </a:solidFill>
          <a:ln>
            <a:noFill/>
          </a:ln>
        </p:spPr>
        <p:txBody>
          <a:bodyPr spcFirstLastPara="1" wrap="square" lIns="0" tIns="44125" rIns="0" bIns="0" anchor="t" anchorCtr="0">
            <a:spAutoFit/>
          </a:bodyPr>
          <a:lstStyle/>
          <a:p>
            <a:pPr marL="0" lvl="0" indent="0" algn="l" rtl="0">
              <a:lnSpc>
                <a:spcPct val="100000"/>
              </a:lnSpc>
              <a:spcBef>
                <a:spcPts val="0"/>
              </a:spcBef>
              <a:spcAft>
                <a:spcPts val="0"/>
              </a:spcAft>
              <a:buNone/>
            </a:pPr>
            <a:endParaRPr sz="1400">
              <a:latin typeface="Times New Roman"/>
              <a:ea typeface="Times New Roman"/>
              <a:cs typeface="Times New Roman"/>
              <a:sym typeface="Times New Roman"/>
            </a:endParaRPr>
          </a:p>
          <a:p>
            <a:pPr marL="0" marR="38100" lvl="0" indent="0" algn="ctr" rtl="0">
              <a:lnSpc>
                <a:spcPct val="100000"/>
              </a:lnSpc>
              <a:spcBef>
                <a:spcPts val="0"/>
              </a:spcBef>
              <a:spcAft>
                <a:spcPts val="0"/>
              </a:spcAft>
              <a:buNone/>
            </a:pPr>
            <a:r>
              <a:rPr lang="en">
                <a:solidFill>
                  <a:srgbClr val="FFFFFF"/>
                </a:solidFill>
                <a:latin typeface="Trebuchet MS"/>
                <a:ea typeface="Trebuchet MS"/>
                <a:cs typeface="Trebuchet MS"/>
                <a:sym typeface="Trebuchet MS"/>
              </a:rPr>
              <a:t>Core Logic &amp; Feature</a:t>
            </a:r>
            <a:endParaRPr>
              <a:solidFill>
                <a:srgbClr val="FFFFFF"/>
              </a:solidFill>
              <a:latin typeface="Trebuchet MS"/>
              <a:ea typeface="Trebuchet MS"/>
              <a:cs typeface="Trebuchet MS"/>
              <a:sym typeface="Trebuchet MS"/>
            </a:endParaRPr>
          </a:p>
          <a:p>
            <a:pPr marL="0" marR="38100" lvl="0" indent="0" algn="ctr" rtl="0">
              <a:lnSpc>
                <a:spcPct val="100000"/>
              </a:lnSpc>
              <a:spcBef>
                <a:spcPts val="0"/>
              </a:spcBef>
              <a:spcAft>
                <a:spcPts val="0"/>
              </a:spcAft>
              <a:buNone/>
            </a:pPr>
            <a:endParaRPr>
              <a:solidFill>
                <a:srgbClr val="FFFFFF"/>
              </a:solidFill>
              <a:latin typeface="Trebuchet MS"/>
              <a:ea typeface="Trebuchet MS"/>
              <a:cs typeface="Trebuchet MS"/>
              <a:sym typeface="Trebuchet MS"/>
            </a:endParaRPr>
          </a:p>
        </p:txBody>
      </p:sp>
      <p:sp>
        <p:nvSpPr>
          <p:cNvPr id="187" name="Google Shape;187;p29"/>
          <p:cNvSpPr txBox="1">
            <a:spLocks noGrp="1"/>
          </p:cNvSpPr>
          <p:nvPr>
            <p:ph type="body" idx="1"/>
          </p:nvPr>
        </p:nvSpPr>
        <p:spPr>
          <a:xfrm>
            <a:off x="240375" y="1059726"/>
            <a:ext cx="4080900" cy="3738536"/>
          </a:xfrm>
          <a:prstGeom prst="rect">
            <a:avLst/>
          </a:prstGeom>
          <a:noFill/>
          <a:ln>
            <a:noFill/>
          </a:ln>
        </p:spPr>
        <p:txBody>
          <a:bodyPr spcFirstLastPara="1" wrap="square" lIns="0" tIns="14300" rIns="0" bIns="0" anchor="t" anchorCtr="0">
            <a:spAutoFit/>
          </a:bodyPr>
          <a:lstStyle/>
          <a:p>
            <a:r>
              <a:rPr lang="en-IN" sz="1100" b="1" dirty="0">
                <a:solidFill>
                  <a:schemeClr val="tx1"/>
                </a:solidFill>
              </a:rPr>
              <a:t>Frontend</a:t>
            </a:r>
          </a:p>
          <a:p>
            <a:pPr>
              <a:buFont typeface="Arial" panose="020B0604020202020204" pitchFamily="34" charset="0"/>
              <a:buChar char="•"/>
            </a:pPr>
            <a:r>
              <a:rPr lang="en-IN" sz="1100" dirty="0">
                <a:solidFill>
                  <a:schemeClr val="tx1"/>
                </a:solidFill>
              </a:rPr>
              <a:t>React.js </a:t>
            </a:r>
          </a:p>
          <a:p>
            <a:pPr>
              <a:buFont typeface="Arial" panose="020B0604020202020204" pitchFamily="34" charset="0"/>
              <a:buChar char="•"/>
            </a:pPr>
            <a:r>
              <a:rPr lang="en-IN" sz="1100" dirty="0">
                <a:solidFill>
                  <a:schemeClr val="tx1"/>
                </a:solidFill>
              </a:rPr>
              <a:t>Tailwind CSS </a:t>
            </a:r>
          </a:p>
          <a:p>
            <a:pPr>
              <a:buFont typeface="Arial" panose="020B0604020202020204" pitchFamily="34" charset="0"/>
              <a:buChar char="•"/>
            </a:pPr>
            <a:r>
              <a:rPr lang="en-IN" sz="1100" dirty="0">
                <a:solidFill>
                  <a:schemeClr val="tx1"/>
                </a:solidFill>
              </a:rPr>
              <a:t>React Router </a:t>
            </a:r>
          </a:p>
          <a:p>
            <a:endParaRPr lang="en-IN" sz="1100" dirty="0">
              <a:solidFill>
                <a:schemeClr val="tx1"/>
              </a:solidFill>
            </a:endParaRPr>
          </a:p>
          <a:p>
            <a:r>
              <a:rPr lang="en-IN" sz="1100" b="1" dirty="0">
                <a:solidFill>
                  <a:schemeClr val="tx1"/>
                </a:solidFill>
              </a:rPr>
              <a:t>Backend</a:t>
            </a:r>
          </a:p>
          <a:p>
            <a:pPr>
              <a:buFont typeface="Arial" panose="020B0604020202020204" pitchFamily="34" charset="0"/>
              <a:buChar char="•"/>
            </a:pPr>
            <a:r>
              <a:rPr lang="en-IN" sz="1100" dirty="0">
                <a:solidFill>
                  <a:schemeClr val="tx1"/>
                </a:solidFill>
              </a:rPr>
              <a:t>Node.js </a:t>
            </a:r>
          </a:p>
          <a:p>
            <a:pPr>
              <a:buFont typeface="Arial" panose="020B0604020202020204" pitchFamily="34" charset="0"/>
              <a:buChar char="•"/>
            </a:pPr>
            <a:r>
              <a:rPr lang="en-IN" sz="1100" dirty="0">
                <a:solidFill>
                  <a:schemeClr val="tx1"/>
                </a:solidFill>
              </a:rPr>
              <a:t>Express.js </a:t>
            </a:r>
          </a:p>
          <a:p>
            <a:pPr>
              <a:buFont typeface="Arial" panose="020B0604020202020204" pitchFamily="34" charset="0"/>
              <a:buChar char="•"/>
            </a:pPr>
            <a:r>
              <a:rPr lang="en-IN" sz="1100" dirty="0">
                <a:solidFill>
                  <a:schemeClr val="tx1"/>
                </a:solidFill>
              </a:rPr>
              <a:t>REST APIs </a:t>
            </a:r>
          </a:p>
          <a:p>
            <a:endParaRPr lang="en-IN" sz="1100" dirty="0">
              <a:solidFill>
                <a:schemeClr val="tx1"/>
              </a:solidFill>
            </a:endParaRPr>
          </a:p>
          <a:p>
            <a:r>
              <a:rPr lang="en-IN" sz="1100" b="1" dirty="0">
                <a:solidFill>
                  <a:schemeClr val="tx1"/>
                </a:solidFill>
              </a:rPr>
              <a:t>Database</a:t>
            </a:r>
          </a:p>
          <a:p>
            <a:pPr>
              <a:buFont typeface="Arial" panose="020B0604020202020204" pitchFamily="34" charset="0"/>
              <a:buChar char="•"/>
            </a:pPr>
            <a:r>
              <a:rPr lang="en-IN" sz="1100" dirty="0">
                <a:solidFill>
                  <a:schemeClr val="tx1"/>
                </a:solidFill>
              </a:rPr>
              <a:t>MongoDB Atlas </a:t>
            </a:r>
          </a:p>
          <a:p>
            <a:endParaRPr lang="en-IN" sz="1100" dirty="0">
              <a:solidFill>
                <a:schemeClr val="tx1"/>
              </a:solidFill>
            </a:endParaRPr>
          </a:p>
          <a:p>
            <a:r>
              <a:rPr lang="en-IN" sz="1100" b="1" dirty="0">
                <a:solidFill>
                  <a:schemeClr val="tx1"/>
                </a:solidFill>
              </a:rPr>
              <a:t>Security</a:t>
            </a:r>
          </a:p>
          <a:p>
            <a:pPr>
              <a:buFont typeface="Arial" panose="020B0604020202020204" pitchFamily="34" charset="0"/>
              <a:buChar char="•"/>
            </a:pPr>
            <a:r>
              <a:rPr lang="en-IN" sz="1100" dirty="0">
                <a:solidFill>
                  <a:schemeClr val="tx1"/>
                </a:solidFill>
              </a:rPr>
              <a:t>JWT Authentication </a:t>
            </a:r>
          </a:p>
          <a:p>
            <a:pPr>
              <a:buFont typeface="Arial" panose="020B0604020202020204" pitchFamily="34" charset="0"/>
              <a:buChar char="•"/>
            </a:pPr>
            <a:r>
              <a:rPr lang="en-IN" sz="1100" dirty="0">
                <a:solidFill>
                  <a:schemeClr val="tx1"/>
                </a:solidFill>
              </a:rPr>
              <a:t>Middleware-Based Authorization</a:t>
            </a:r>
          </a:p>
          <a:p>
            <a:pPr>
              <a:buFont typeface="Arial" panose="020B0604020202020204" pitchFamily="34" charset="0"/>
              <a:buChar char="•"/>
            </a:pPr>
            <a:endParaRPr lang="en-IN" sz="1100" dirty="0">
              <a:solidFill>
                <a:schemeClr val="tx1"/>
              </a:solidFill>
            </a:endParaRPr>
          </a:p>
          <a:p>
            <a:pPr>
              <a:buNone/>
            </a:pPr>
            <a:r>
              <a:rPr lang="en-US" sz="1100" b="1" dirty="0">
                <a:solidFill>
                  <a:schemeClr val="tx1"/>
                </a:solidFill>
              </a:rPr>
              <a:t>Architecture Features</a:t>
            </a:r>
          </a:p>
          <a:p>
            <a:pPr>
              <a:buFont typeface="Arial" panose="020B0604020202020204" pitchFamily="34" charset="0"/>
              <a:buChar char="•"/>
            </a:pPr>
            <a:r>
              <a:rPr lang="en-US" sz="1100" dirty="0">
                <a:solidFill>
                  <a:schemeClr val="tx1"/>
                </a:solidFill>
              </a:rPr>
              <a:t>Modular Design </a:t>
            </a:r>
          </a:p>
          <a:p>
            <a:pPr>
              <a:buFont typeface="Arial" panose="020B0604020202020204" pitchFamily="34" charset="0"/>
              <a:buChar char="•"/>
            </a:pPr>
            <a:r>
              <a:rPr lang="en-US" sz="1100" dirty="0">
                <a:solidFill>
                  <a:schemeClr val="tx1"/>
                </a:solidFill>
              </a:rPr>
              <a:t>Scalable Structure </a:t>
            </a:r>
          </a:p>
          <a:p>
            <a:pPr>
              <a:buFont typeface="Arial" panose="020B0604020202020204" pitchFamily="34" charset="0"/>
              <a:buChar char="•"/>
            </a:pPr>
            <a:r>
              <a:rPr lang="en-US" sz="1100" dirty="0">
                <a:solidFill>
                  <a:schemeClr val="tx1"/>
                </a:solidFill>
              </a:rPr>
              <a:t>Real-Time Data Synchronization</a:t>
            </a:r>
          </a:p>
          <a:p>
            <a:pPr marL="228600" indent="0"/>
            <a:endParaRPr lang="en-IN" sz="1100" dirty="0">
              <a:solidFill>
                <a:schemeClr val="tx1"/>
              </a:solidFill>
            </a:endParaRPr>
          </a:p>
        </p:txBody>
      </p:sp>
      <p:sp>
        <p:nvSpPr>
          <p:cNvPr id="189" name="Google Shape;189;p29"/>
          <p:cNvSpPr txBox="1">
            <a:spLocks noGrp="1"/>
          </p:cNvSpPr>
          <p:nvPr>
            <p:ph type="body" idx="2"/>
          </p:nvPr>
        </p:nvSpPr>
        <p:spPr>
          <a:xfrm>
            <a:off x="4626425" y="1154126"/>
            <a:ext cx="4040700" cy="1636089"/>
          </a:xfrm>
          <a:prstGeom prst="rect">
            <a:avLst/>
          </a:prstGeom>
          <a:noFill/>
          <a:ln>
            <a:noFill/>
          </a:ln>
        </p:spPr>
        <p:txBody>
          <a:bodyPr spcFirstLastPara="1" wrap="square" lIns="0" tIns="6350" rIns="0" bIns="0" anchor="t" anchorCtr="0">
            <a:spAutoFit/>
          </a:bodyPr>
          <a:lstStyle/>
          <a:p>
            <a:pPr marL="0" lvl="0" indent="0" algn="l" rtl="0">
              <a:lnSpc>
                <a:spcPct val="115000"/>
              </a:lnSpc>
              <a:spcBef>
                <a:spcPts val="1200"/>
              </a:spcBef>
              <a:spcAft>
                <a:spcPts val="0"/>
              </a:spcAft>
              <a:buClr>
                <a:schemeClr val="dk1"/>
              </a:buClr>
              <a:buSzPts val="1100"/>
              <a:buFont typeface="Arial"/>
              <a:buNone/>
            </a:pPr>
            <a:endParaRPr lang="en-IN" sz="1100" b="0" dirty="0">
              <a:latin typeface="Arial"/>
              <a:ea typeface="Arial"/>
              <a:cs typeface="Arial"/>
              <a:sym typeface="Arial"/>
            </a:endParaRPr>
          </a:p>
          <a:p>
            <a:pPr marL="0" lvl="0" indent="0" algn="l" rtl="0">
              <a:lnSpc>
                <a:spcPct val="115000"/>
              </a:lnSpc>
              <a:spcBef>
                <a:spcPts val="1200"/>
              </a:spcBef>
              <a:spcAft>
                <a:spcPts val="0"/>
              </a:spcAft>
              <a:buClr>
                <a:schemeClr val="dk1"/>
              </a:buClr>
              <a:buSzPts val="1100"/>
              <a:buFont typeface="Arial"/>
              <a:buNone/>
            </a:pPr>
            <a:r>
              <a:rPr lang="en" sz="1100" dirty="0">
                <a:latin typeface="Arial"/>
                <a:ea typeface="Arial"/>
                <a:cs typeface="Arial"/>
                <a:sym typeface="Arial"/>
              </a:rPr>
              <a:t>Project Advantages</a:t>
            </a:r>
            <a:endParaRPr sz="1100" dirty="0">
              <a:latin typeface="Arial"/>
              <a:ea typeface="Arial"/>
              <a:cs typeface="Arial"/>
              <a:sym typeface="Arial"/>
            </a:endParaRPr>
          </a:p>
          <a:p>
            <a:pPr marL="457200" lvl="0" indent="-298450" algn="l" rtl="0">
              <a:lnSpc>
                <a:spcPct val="115000"/>
              </a:lnSpc>
              <a:spcBef>
                <a:spcPts val="1200"/>
              </a:spcBef>
              <a:spcAft>
                <a:spcPts val="0"/>
              </a:spcAft>
              <a:buClr>
                <a:schemeClr val="dk1"/>
              </a:buClr>
              <a:buSzPts val="1100"/>
              <a:buChar char="●"/>
            </a:pPr>
            <a:r>
              <a:rPr lang="en" sz="1100" b="0" dirty="0">
                <a:latin typeface="Arial"/>
                <a:ea typeface="Arial"/>
                <a:cs typeface="Arial"/>
                <a:sym typeface="Arial"/>
              </a:rPr>
              <a:t>Real-time business operation tracking</a:t>
            </a:r>
            <a:endParaRPr sz="1100" b="0" dirty="0">
              <a:latin typeface="Arial"/>
              <a:ea typeface="Arial"/>
              <a:cs typeface="Arial"/>
              <a:sym typeface="Arial"/>
            </a:endParaRPr>
          </a:p>
          <a:p>
            <a:pPr marL="457200" lvl="0" indent="-298450" algn="l" rtl="0">
              <a:lnSpc>
                <a:spcPct val="115000"/>
              </a:lnSpc>
              <a:spcBef>
                <a:spcPts val="0"/>
              </a:spcBef>
              <a:spcAft>
                <a:spcPts val="0"/>
              </a:spcAft>
              <a:buClr>
                <a:schemeClr val="dk1"/>
              </a:buClr>
              <a:buSzPts val="1100"/>
              <a:buChar char="●"/>
            </a:pPr>
            <a:r>
              <a:rPr lang="en" sz="1100" b="0" dirty="0">
                <a:latin typeface="Arial"/>
                <a:ea typeface="Arial"/>
                <a:cs typeface="Arial"/>
                <a:sym typeface="Arial"/>
              </a:rPr>
              <a:t>Simple and user-friendly interface</a:t>
            </a:r>
            <a:endParaRPr sz="1100" b="0" dirty="0">
              <a:latin typeface="Arial"/>
              <a:ea typeface="Arial"/>
              <a:cs typeface="Arial"/>
              <a:sym typeface="Arial"/>
            </a:endParaRPr>
          </a:p>
          <a:p>
            <a:pPr marL="457200" lvl="0" indent="-298450" algn="l" rtl="0">
              <a:lnSpc>
                <a:spcPct val="115000"/>
              </a:lnSpc>
              <a:spcBef>
                <a:spcPts val="0"/>
              </a:spcBef>
              <a:spcAft>
                <a:spcPts val="0"/>
              </a:spcAft>
              <a:buClr>
                <a:schemeClr val="dk1"/>
              </a:buClr>
              <a:buSzPts val="1100"/>
              <a:buChar char="●"/>
            </a:pPr>
            <a:r>
              <a:rPr lang="en" sz="1100" b="0" dirty="0">
                <a:latin typeface="Arial"/>
                <a:ea typeface="Arial"/>
                <a:cs typeface="Arial"/>
                <a:sym typeface="Arial"/>
              </a:rPr>
              <a:t>Designed for real-world deployment in a pharma distribution business</a:t>
            </a:r>
            <a:endParaRPr dirty="0"/>
          </a:p>
        </p:txBody>
      </p:sp>
      <p:sp>
        <p:nvSpPr>
          <p:cNvPr id="190" name="Google Shape;190;p29"/>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322E2-9554-D48A-2F5D-F779881E3CDF}"/>
              </a:ext>
            </a:extLst>
          </p:cNvPr>
          <p:cNvSpPr>
            <a:spLocks noGrp="1"/>
          </p:cNvSpPr>
          <p:nvPr>
            <p:ph type="title"/>
          </p:nvPr>
        </p:nvSpPr>
        <p:spPr>
          <a:xfrm>
            <a:off x="2325747" y="883169"/>
            <a:ext cx="5347315" cy="477054"/>
          </a:xfrm>
        </p:spPr>
        <p:txBody>
          <a:bodyPr/>
          <a:lstStyle/>
          <a:p>
            <a:r>
              <a:rPr lang="en-IN" dirty="0"/>
              <a:t>Technologies Used</a:t>
            </a:r>
          </a:p>
        </p:txBody>
      </p:sp>
      <p:graphicFrame>
        <p:nvGraphicFramePr>
          <p:cNvPr id="4" name="Table 3">
            <a:extLst>
              <a:ext uri="{FF2B5EF4-FFF2-40B4-BE49-F238E27FC236}">
                <a16:creationId xmlns:a16="http://schemas.microsoft.com/office/drawing/2014/main" id="{9B233AC9-98C7-609F-BB0C-A1DF4C6BB312}"/>
              </a:ext>
            </a:extLst>
          </p:cNvPr>
          <p:cNvGraphicFramePr>
            <a:graphicFrameLocks noGrp="1"/>
          </p:cNvGraphicFramePr>
          <p:nvPr>
            <p:extLst>
              <p:ext uri="{D42A27DB-BD31-4B8C-83A1-F6EECF244321}">
                <p14:modId xmlns:p14="http://schemas.microsoft.com/office/powerpoint/2010/main" val="1843634052"/>
              </p:ext>
            </p:extLst>
          </p:nvPr>
        </p:nvGraphicFramePr>
        <p:xfrm>
          <a:off x="557213" y="1370012"/>
          <a:ext cx="7997824" cy="2438400"/>
        </p:xfrm>
        <a:graphic>
          <a:graphicData uri="http://schemas.openxmlformats.org/drawingml/2006/table">
            <a:tbl>
              <a:tblPr/>
              <a:tblGrid>
                <a:gridCol w="3998912">
                  <a:extLst>
                    <a:ext uri="{9D8B030D-6E8A-4147-A177-3AD203B41FA5}">
                      <a16:colId xmlns:a16="http://schemas.microsoft.com/office/drawing/2014/main" val="1676304900"/>
                    </a:ext>
                  </a:extLst>
                </a:gridCol>
                <a:gridCol w="3998912">
                  <a:extLst>
                    <a:ext uri="{9D8B030D-6E8A-4147-A177-3AD203B41FA5}">
                      <a16:colId xmlns:a16="http://schemas.microsoft.com/office/drawing/2014/main" val="4165789272"/>
                    </a:ext>
                  </a:extLst>
                </a:gridCol>
              </a:tblGrid>
              <a:tr h="304800">
                <a:tc>
                  <a:txBody>
                    <a:bodyPr/>
                    <a:lstStyle/>
                    <a:p>
                      <a:pPr>
                        <a:buNone/>
                      </a:pPr>
                      <a:r>
                        <a:rPr lang="en-IN" sz="1400" dirty="0"/>
                        <a:t>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4893396"/>
                  </a:ext>
                </a:extLst>
              </a:tr>
              <a:tr h="304800">
                <a:tc>
                  <a:txBody>
                    <a:bodyPr/>
                    <a:lstStyle/>
                    <a:p>
                      <a:pPr>
                        <a:buNone/>
                      </a:pPr>
                      <a:r>
                        <a:rPr lang="en-IN" sz="1400" dirty="0"/>
                        <a:t>Frontend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React.js, Tailwind CSS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469305"/>
                  </a:ext>
                </a:extLst>
              </a:tr>
              <a:tr h="304800">
                <a:tc>
                  <a:txBody>
                    <a:bodyPr/>
                    <a:lstStyle/>
                    <a:p>
                      <a:pPr>
                        <a:buNone/>
                      </a:pPr>
                      <a:r>
                        <a:rPr lang="en-IN" sz="1400" dirty="0"/>
                        <a:t>Backend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Node.js, Express.js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9564358"/>
                  </a:ext>
                </a:extLst>
              </a:tr>
              <a:tr h="304800">
                <a:tc>
                  <a:txBody>
                    <a:bodyPr/>
                    <a:lstStyle/>
                    <a:p>
                      <a:pPr>
                        <a:buNone/>
                      </a:pPr>
                      <a:r>
                        <a:rPr lang="en-IN" sz="1400" dirty="0"/>
                        <a:t>Database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MongoDB Atlas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3957943"/>
                  </a:ext>
                </a:extLst>
              </a:tr>
              <a:tr h="304800">
                <a:tc>
                  <a:txBody>
                    <a:bodyPr/>
                    <a:lstStyle/>
                    <a:p>
                      <a:pPr>
                        <a:buNone/>
                      </a:pPr>
                      <a:r>
                        <a:rPr lang="en-IN" sz="1400" dirty="0"/>
                        <a:t>Authentication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dirty="0"/>
                        <a:t>JWT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3659232"/>
                  </a:ext>
                </a:extLst>
              </a:tr>
              <a:tr h="304800">
                <a:tc>
                  <a:txBody>
                    <a:bodyPr/>
                    <a:lstStyle/>
                    <a:p>
                      <a:pPr>
                        <a:buNone/>
                      </a:pPr>
                      <a:r>
                        <a:rPr lang="en-IN" sz="1400" dirty="0"/>
                        <a:t>Routing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React Router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2700186"/>
                  </a:ext>
                </a:extLst>
              </a:tr>
              <a:tr h="304800">
                <a:tc>
                  <a:txBody>
                    <a:bodyPr/>
                    <a:lstStyle/>
                    <a:p>
                      <a:pPr>
                        <a:buNone/>
                      </a:pPr>
                      <a:r>
                        <a:rPr lang="en-IN" sz="1400" dirty="0"/>
                        <a:t>API Testing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a:t>Postman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7650003"/>
                  </a:ext>
                </a:extLst>
              </a:tr>
              <a:tr h="304800">
                <a:tc>
                  <a:txBody>
                    <a:bodyPr/>
                    <a:lstStyle/>
                    <a:p>
                      <a:pPr>
                        <a:buNone/>
                      </a:pPr>
                      <a:r>
                        <a:rPr lang="en-IN" sz="1400" dirty="0"/>
                        <a:t>Version Control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400" dirty="0"/>
                        <a:t>GitHub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1480140"/>
                  </a:ext>
                </a:extLst>
              </a:tr>
            </a:tbl>
          </a:graphicData>
        </a:graphic>
      </p:graphicFrame>
    </p:spTree>
    <p:extLst>
      <p:ext uri="{BB962C8B-B14F-4D97-AF65-F5344CB8AC3E}">
        <p14:creationId xmlns:p14="http://schemas.microsoft.com/office/powerpoint/2010/main" val="287047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0"/>
          <p:cNvSpPr txBox="1">
            <a:spLocks noGrp="1"/>
          </p:cNvSpPr>
          <p:nvPr>
            <p:ph type="title"/>
          </p:nvPr>
        </p:nvSpPr>
        <p:spPr>
          <a:xfrm>
            <a:off x="2110156" y="-77105"/>
            <a:ext cx="5347315" cy="851988"/>
          </a:xfrm>
          <a:prstGeom prst="rect">
            <a:avLst/>
          </a:prstGeom>
          <a:noFill/>
          <a:ln>
            <a:noFill/>
          </a:ln>
        </p:spPr>
        <p:txBody>
          <a:bodyPr spcFirstLastPara="1" wrap="square" lIns="0" tIns="265150" rIns="0" bIns="0" anchor="t" anchorCtr="0">
            <a:spAutoFit/>
          </a:bodyPr>
          <a:lstStyle/>
          <a:p>
            <a:pPr marL="1257300" lvl="0" indent="0" algn="l" rtl="0">
              <a:lnSpc>
                <a:spcPct val="100000"/>
              </a:lnSpc>
              <a:spcBef>
                <a:spcPts val="0"/>
              </a:spcBef>
              <a:spcAft>
                <a:spcPts val="0"/>
              </a:spcAft>
              <a:buNone/>
            </a:pPr>
            <a:r>
              <a:rPr lang="en" sz="2000">
                <a:latin typeface="Trebuchet MS"/>
                <a:ea typeface="Trebuchet MS"/>
                <a:cs typeface="Trebuchet MS"/>
                <a:sym typeface="Trebuchet MS"/>
              </a:rPr>
              <a:t>Architecture Diagram</a:t>
            </a:r>
            <a:endParaRPr sz="2000">
              <a:latin typeface="Trebuchet MS"/>
              <a:ea typeface="Trebuchet MS"/>
              <a:cs typeface="Trebuchet MS"/>
              <a:sym typeface="Trebuchet MS"/>
            </a:endParaRPr>
          </a:p>
        </p:txBody>
      </p:sp>
      <p:sp>
        <p:nvSpPr>
          <p:cNvPr id="196" name="Google Shape;196;p30"/>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pic>
        <p:nvPicPr>
          <p:cNvPr id="3" name="Picture 2">
            <a:hlinkClick r:id="rId3"/>
            <a:extLst>
              <a:ext uri="{FF2B5EF4-FFF2-40B4-BE49-F238E27FC236}">
                <a16:creationId xmlns:a16="http://schemas.microsoft.com/office/drawing/2014/main" id="{D51925E7-AB89-6F69-EDAF-FA4EFF0B51F0}"/>
              </a:ext>
            </a:extLst>
          </p:cNvPr>
          <p:cNvPicPr>
            <a:picLocks noChangeAspect="1"/>
          </p:cNvPicPr>
          <p:nvPr/>
        </p:nvPicPr>
        <p:blipFill>
          <a:blip r:embed="rId4"/>
          <a:stretch>
            <a:fillRect/>
          </a:stretch>
        </p:blipFill>
        <p:spPr>
          <a:xfrm>
            <a:off x="-56891" y="356839"/>
            <a:ext cx="9248175" cy="475384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1"/>
          <p:cNvSpPr txBox="1">
            <a:spLocks noGrp="1"/>
          </p:cNvSpPr>
          <p:nvPr>
            <p:ph type="title"/>
          </p:nvPr>
        </p:nvSpPr>
        <p:spPr>
          <a:xfrm>
            <a:off x="1055849" y="2208300"/>
            <a:ext cx="2482500" cy="622200"/>
          </a:xfrm>
          <a:prstGeom prst="rect">
            <a:avLst/>
          </a:prstGeom>
          <a:noFill/>
          <a:ln>
            <a:noFill/>
          </a:ln>
        </p:spPr>
        <p:txBody>
          <a:bodyPr spcFirstLastPara="1" wrap="square" lIns="0" tIns="6350" rIns="0" bIns="0" anchor="t" anchorCtr="0">
            <a:spAutoFit/>
          </a:bodyPr>
          <a:lstStyle/>
          <a:p>
            <a:pPr marL="12700" lvl="0"/>
            <a:r>
              <a:rPr lang="en-IN" sz="2000" dirty="0">
                <a:latin typeface="Trebuchet MS"/>
                <a:ea typeface="Trebuchet MS"/>
                <a:cs typeface="Trebuchet MS"/>
                <a:sym typeface="Trebuchet MS"/>
              </a:rPr>
              <a:t>Operational Workflow of IBOP</a:t>
            </a:r>
            <a:endParaRPr sz="2000" dirty="0">
              <a:latin typeface="Trebuchet MS"/>
              <a:ea typeface="Trebuchet MS"/>
              <a:cs typeface="Trebuchet MS"/>
              <a:sym typeface="Trebuchet MS"/>
            </a:endParaRPr>
          </a:p>
        </p:txBody>
      </p:sp>
      <p:sp>
        <p:nvSpPr>
          <p:cNvPr id="203" name="Google Shape;203;p31"/>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pic>
        <p:nvPicPr>
          <p:cNvPr id="204" name="Google Shape;204;p31" title="Untitled Diagram.drawio (5).png"/>
          <p:cNvPicPr preferRelativeResize="0"/>
          <p:nvPr/>
        </p:nvPicPr>
        <p:blipFill>
          <a:blip r:embed="rId3">
            <a:alphaModFix/>
          </a:blip>
          <a:stretch>
            <a:fillRect/>
          </a:stretch>
        </p:blipFill>
        <p:spPr>
          <a:xfrm>
            <a:off x="3621218" y="0"/>
            <a:ext cx="5038125" cy="5186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392E0-DBDF-9C72-7DDB-221A52F539FE}"/>
              </a:ext>
            </a:extLst>
          </p:cNvPr>
          <p:cNvSpPr>
            <a:spLocks noGrp="1"/>
          </p:cNvSpPr>
          <p:nvPr>
            <p:ph type="title"/>
          </p:nvPr>
        </p:nvSpPr>
        <p:spPr>
          <a:xfrm>
            <a:off x="2132458" y="458153"/>
            <a:ext cx="5347315" cy="477054"/>
          </a:xfrm>
        </p:spPr>
        <p:txBody>
          <a:bodyPr/>
          <a:lstStyle/>
          <a:p>
            <a:r>
              <a:rPr lang="en-IN" dirty="0"/>
              <a:t>RBAC Authentication Workflow</a:t>
            </a:r>
          </a:p>
        </p:txBody>
      </p:sp>
      <p:pic>
        <p:nvPicPr>
          <p:cNvPr id="4" name="Picture 3">
            <a:hlinkClick r:id="rId2"/>
            <a:extLst>
              <a:ext uri="{FF2B5EF4-FFF2-40B4-BE49-F238E27FC236}">
                <a16:creationId xmlns:a16="http://schemas.microsoft.com/office/drawing/2014/main" id="{772C7055-24DD-A0A8-0717-CC91092A7D46}"/>
              </a:ext>
            </a:extLst>
          </p:cNvPr>
          <p:cNvPicPr>
            <a:picLocks noChangeAspect="1"/>
          </p:cNvPicPr>
          <p:nvPr/>
        </p:nvPicPr>
        <p:blipFill>
          <a:blip r:embed="rId3"/>
          <a:stretch>
            <a:fillRect/>
          </a:stretch>
        </p:blipFill>
        <p:spPr>
          <a:xfrm>
            <a:off x="0" y="1025912"/>
            <a:ext cx="9144000" cy="3389971"/>
          </a:xfrm>
          <a:prstGeom prst="rect">
            <a:avLst/>
          </a:prstGeom>
        </p:spPr>
      </p:pic>
    </p:spTree>
    <p:extLst>
      <p:ext uri="{BB962C8B-B14F-4D97-AF65-F5344CB8AC3E}">
        <p14:creationId xmlns:p14="http://schemas.microsoft.com/office/powerpoint/2010/main" val="42489717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2"/>
          <p:cNvSpPr txBox="1">
            <a:spLocks noGrp="1"/>
          </p:cNvSpPr>
          <p:nvPr>
            <p:ph type="title"/>
          </p:nvPr>
        </p:nvSpPr>
        <p:spPr>
          <a:xfrm>
            <a:off x="2110156" y="-77105"/>
            <a:ext cx="5347200" cy="817800"/>
          </a:xfrm>
          <a:prstGeom prst="rect">
            <a:avLst/>
          </a:prstGeom>
          <a:noFill/>
          <a:ln>
            <a:noFill/>
          </a:ln>
        </p:spPr>
        <p:txBody>
          <a:bodyPr spcFirstLastPara="1" wrap="square" lIns="0" tIns="337225" rIns="0" bIns="0" anchor="t" anchorCtr="0">
            <a:spAutoFit/>
          </a:bodyPr>
          <a:lstStyle/>
          <a:p>
            <a:pPr marL="12700" lvl="0" indent="0" algn="ctr" rtl="0">
              <a:spcBef>
                <a:spcPts val="0"/>
              </a:spcBef>
              <a:spcAft>
                <a:spcPts val="0"/>
              </a:spcAft>
              <a:buClr>
                <a:schemeClr val="dk1"/>
              </a:buClr>
              <a:buFont typeface="Arial"/>
              <a:buNone/>
            </a:pPr>
            <a:r>
              <a:rPr lang="en"/>
              <a:t>Implementation</a:t>
            </a:r>
            <a:endParaRPr/>
          </a:p>
        </p:txBody>
      </p:sp>
      <p:sp>
        <p:nvSpPr>
          <p:cNvPr id="210" name="Google Shape;210;p32"/>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211" name="Google Shape;211;p32"/>
          <p:cNvSpPr txBox="1"/>
          <p:nvPr/>
        </p:nvSpPr>
        <p:spPr>
          <a:xfrm>
            <a:off x="691100" y="764725"/>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CC2B4B"/>
                </a:solidFill>
                <a:latin typeface="Tahoma"/>
                <a:ea typeface="Tahoma"/>
                <a:cs typeface="Tahoma"/>
                <a:sym typeface="Tahoma"/>
              </a:rPr>
              <a:t>Modular Dashboard</a:t>
            </a:r>
            <a:endParaRPr sz="1300">
              <a:solidFill>
                <a:srgbClr val="CC2B4B"/>
              </a:solidFill>
              <a:latin typeface="Tahoma"/>
              <a:ea typeface="Tahoma"/>
              <a:cs typeface="Tahoma"/>
              <a:sym typeface="Tahoma"/>
            </a:endParaRPr>
          </a:p>
        </p:txBody>
      </p:sp>
      <p:sp>
        <p:nvSpPr>
          <p:cNvPr id="214" name="Google Shape;214;p32"/>
          <p:cNvSpPr txBox="1"/>
          <p:nvPr/>
        </p:nvSpPr>
        <p:spPr>
          <a:xfrm>
            <a:off x="4967600" y="736550"/>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CC2B4B"/>
                </a:solidFill>
                <a:latin typeface="Tahoma"/>
                <a:ea typeface="Tahoma"/>
                <a:cs typeface="Tahoma"/>
                <a:sym typeface="Tahoma"/>
              </a:rPr>
              <a:t>Inventory</a:t>
            </a:r>
            <a:endParaRPr sz="1300">
              <a:solidFill>
                <a:srgbClr val="CC2B4B"/>
              </a:solidFill>
              <a:latin typeface="Tahoma"/>
              <a:ea typeface="Tahoma"/>
              <a:cs typeface="Tahoma"/>
              <a:sym typeface="Tahoma"/>
            </a:endParaRPr>
          </a:p>
        </p:txBody>
      </p:sp>
      <p:sp>
        <p:nvSpPr>
          <p:cNvPr id="217" name="Google Shape;217;p32"/>
          <p:cNvSpPr txBox="1"/>
          <p:nvPr/>
        </p:nvSpPr>
        <p:spPr>
          <a:xfrm>
            <a:off x="796909" y="2963562"/>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dirty="0">
                <a:solidFill>
                  <a:srgbClr val="CC2B4B"/>
                </a:solidFill>
                <a:latin typeface="Tahoma"/>
                <a:ea typeface="Tahoma"/>
                <a:cs typeface="Tahoma"/>
                <a:sym typeface="Tahoma"/>
              </a:rPr>
              <a:t>Sales</a:t>
            </a:r>
            <a:endParaRPr sz="1300" dirty="0">
              <a:solidFill>
                <a:srgbClr val="CC2B4B"/>
              </a:solidFill>
              <a:latin typeface="Tahoma"/>
              <a:ea typeface="Tahoma"/>
              <a:cs typeface="Tahoma"/>
              <a:sym typeface="Tahoma"/>
            </a:endParaRPr>
          </a:p>
        </p:txBody>
      </p:sp>
      <p:sp>
        <p:nvSpPr>
          <p:cNvPr id="218" name="Google Shape;218;p32"/>
          <p:cNvSpPr txBox="1"/>
          <p:nvPr/>
        </p:nvSpPr>
        <p:spPr>
          <a:xfrm>
            <a:off x="4572000" y="3025125"/>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300" dirty="0">
                <a:solidFill>
                  <a:srgbClr val="CC2B4B"/>
                </a:solidFill>
                <a:latin typeface="Tahoma"/>
                <a:ea typeface="Tahoma"/>
                <a:cs typeface="Tahoma"/>
                <a:sym typeface="Tahoma"/>
              </a:rPr>
              <a:t>Invoice</a:t>
            </a:r>
            <a:endParaRPr sz="1300" dirty="0">
              <a:solidFill>
                <a:srgbClr val="CC2B4B"/>
              </a:solidFill>
              <a:latin typeface="Tahoma"/>
              <a:ea typeface="Tahoma"/>
              <a:cs typeface="Tahoma"/>
              <a:sym typeface="Tahoma"/>
            </a:endParaRPr>
          </a:p>
        </p:txBody>
      </p:sp>
      <p:pic>
        <p:nvPicPr>
          <p:cNvPr id="3" name="Picture 2">
            <a:extLst>
              <a:ext uri="{FF2B5EF4-FFF2-40B4-BE49-F238E27FC236}">
                <a16:creationId xmlns:a16="http://schemas.microsoft.com/office/drawing/2014/main" id="{664BF08C-539E-523F-2EB3-EA68835D97CE}"/>
              </a:ext>
            </a:extLst>
          </p:cNvPr>
          <p:cNvPicPr>
            <a:picLocks noChangeAspect="1"/>
          </p:cNvPicPr>
          <p:nvPr/>
        </p:nvPicPr>
        <p:blipFill>
          <a:blip r:embed="rId3"/>
          <a:stretch>
            <a:fillRect/>
          </a:stretch>
        </p:blipFill>
        <p:spPr>
          <a:xfrm>
            <a:off x="691100" y="1010150"/>
            <a:ext cx="3096701" cy="1957557"/>
          </a:xfrm>
          <a:prstGeom prst="rect">
            <a:avLst/>
          </a:prstGeom>
        </p:spPr>
      </p:pic>
      <p:pic>
        <p:nvPicPr>
          <p:cNvPr id="5" name="Picture 4">
            <a:extLst>
              <a:ext uri="{FF2B5EF4-FFF2-40B4-BE49-F238E27FC236}">
                <a16:creationId xmlns:a16="http://schemas.microsoft.com/office/drawing/2014/main" id="{E56CD6D9-7087-6FF7-751C-F7E211BCB867}"/>
              </a:ext>
            </a:extLst>
          </p:cNvPr>
          <p:cNvPicPr>
            <a:picLocks noChangeAspect="1"/>
          </p:cNvPicPr>
          <p:nvPr/>
        </p:nvPicPr>
        <p:blipFill>
          <a:blip r:embed="rId4"/>
          <a:stretch>
            <a:fillRect/>
          </a:stretch>
        </p:blipFill>
        <p:spPr>
          <a:xfrm>
            <a:off x="4098963" y="1059561"/>
            <a:ext cx="3879576" cy="1957557"/>
          </a:xfrm>
          <a:prstGeom prst="rect">
            <a:avLst/>
          </a:prstGeom>
        </p:spPr>
      </p:pic>
      <p:pic>
        <p:nvPicPr>
          <p:cNvPr id="7" name="Picture 6">
            <a:extLst>
              <a:ext uri="{FF2B5EF4-FFF2-40B4-BE49-F238E27FC236}">
                <a16:creationId xmlns:a16="http://schemas.microsoft.com/office/drawing/2014/main" id="{33C279C7-17C8-B430-D9A2-09C65650C43C}"/>
              </a:ext>
            </a:extLst>
          </p:cNvPr>
          <p:cNvPicPr>
            <a:picLocks noChangeAspect="1"/>
          </p:cNvPicPr>
          <p:nvPr/>
        </p:nvPicPr>
        <p:blipFill>
          <a:blip r:embed="rId5"/>
          <a:stretch>
            <a:fillRect/>
          </a:stretch>
        </p:blipFill>
        <p:spPr>
          <a:xfrm>
            <a:off x="563723" y="3298725"/>
            <a:ext cx="3092865" cy="1740973"/>
          </a:xfrm>
          <a:prstGeom prst="rect">
            <a:avLst/>
          </a:prstGeom>
        </p:spPr>
      </p:pic>
      <p:pic>
        <p:nvPicPr>
          <p:cNvPr id="13" name="Picture 12">
            <a:extLst>
              <a:ext uri="{FF2B5EF4-FFF2-40B4-BE49-F238E27FC236}">
                <a16:creationId xmlns:a16="http://schemas.microsoft.com/office/drawing/2014/main" id="{EE6E90A8-0BA9-225F-CA4D-990DFBCFE6CD}"/>
              </a:ext>
            </a:extLst>
          </p:cNvPr>
          <p:cNvPicPr>
            <a:picLocks noChangeAspect="1"/>
          </p:cNvPicPr>
          <p:nvPr/>
        </p:nvPicPr>
        <p:blipFill>
          <a:blip r:embed="rId6"/>
          <a:stretch>
            <a:fillRect/>
          </a:stretch>
        </p:blipFill>
        <p:spPr>
          <a:xfrm>
            <a:off x="3991447" y="3306732"/>
            <a:ext cx="2722636" cy="1812214"/>
          </a:xfrm>
          <a:prstGeom prst="rect">
            <a:avLst/>
          </a:prstGeom>
        </p:spPr>
      </p:pic>
      <p:pic>
        <p:nvPicPr>
          <p:cNvPr id="15" name="Picture 14">
            <a:extLst>
              <a:ext uri="{FF2B5EF4-FFF2-40B4-BE49-F238E27FC236}">
                <a16:creationId xmlns:a16="http://schemas.microsoft.com/office/drawing/2014/main" id="{4881EA4A-0C5E-A500-11BD-0CEBC63C9BBD}"/>
              </a:ext>
            </a:extLst>
          </p:cNvPr>
          <p:cNvPicPr>
            <a:picLocks noChangeAspect="1"/>
          </p:cNvPicPr>
          <p:nvPr/>
        </p:nvPicPr>
        <p:blipFill>
          <a:blip r:embed="rId7"/>
          <a:stretch>
            <a:fillRect/>
          </a:stretch>
        </p:blipFill>
        <p:spPr>
          <a:xfrm>
            <a:off x="6706239" y="3306731"/>
            <a:ext cx="1679477" cy="176593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8">
          <a:extLst>
            <a:ext uri="{FF2B5EF4-FFF2-40B4-BE49-F238E27FC236}">
              <a16:creationId xmlns:a16="http://schemas.microsoft.com/office/drawing/2014/main" id="{1B71E217-910B-3565-060C-709F96092E60}"/>
            </a:ext>
          </a:extLst>
        </p:cNvPr>
        <p:cNvGrpSpPr/>
        <p:nvPr/>
      </p:nvGrpSpPr>
      <p:grpSpPr>
        <a:xfrm>
          <a:off x="0" y="0"/>
          <a:ext cx="0" cy="0"/>
          <a:chOff x="0" y="0"/>
          <a:chExt cx="0" cy="0"/>
        </a:xfrm>
      </p:grpSpPr>
      <p:sp>
        <p:nvSpPr>
          <p:cNvPr id="209" name="Google Shape;209;p32">
            <a:extLst>
              <a:ext uri="{FF2B5EF4-FFF2-40B4-BE49-F238E27FC236}">
                <a16:creationId xmlns:a16="http://schemas.microsoft.com/office/drawing/2014/main" id="{8A1D1ABE-D381-9140-6283-F1AB1FFE1724}"/>
              </a:ext>
            </a:extLst>
          </p:cNvPr>
          <p:cNvSpPr txBox="1">
            <a:spLocks noGrp="1"/>
          </p:cNvSpPr>
          <p:nvPr>
            <p:ph type="title"/>
          </p:nvPr>
        </p:nvSpPr>
        <p:spPr>
          <a:xfrm>
            <a:off x="2110156" y="-77105"/>
            <a:ext cx="5347200" cy="817800"/>
          </a:xfrm>
          <a:prstGeom prst="rect">
            <a:avLst/>
          </a:prstGeom>
          <a:noFill/>
          <a:ln>
            <a:noFill/>
          </a:ln>
        </p:spPr>
        <p:txBody>
          <a:bodyPr spcFirstLastPara="1" wrap="square" lIns="0" tIns="337225" rIns="0" bIns="0" anchor="t" anchorCtr="0">
            <a:spAutoFit/>
          </a:bodyPr>
          <a:lstStyle/>
          <a:p>
            <a:pPr marL="12700" lvl="0" indent="0" algn="ctr" rtl="0">
              <a:spcBef>
                <a:spcPts val="0"/>
              </a:spcBef>
              <a:spcAft>
                <a:spcPts val="0"/>
              </a:spcAft>
              <a:buClr>
                <a:schemeClr val="dk1"/>
              </a:buClr>
              <a:buFont typeface="Arial"/>
              <a:buNone/>
            </a:pPr>
            <a:r>
              <a:rPr lang="en"/>
              <a:t>Implementation</a:t>
            </a:r>
            <a:endParaRPr/>
          </a:p>
        </p:txBody>
      </p:sp>
      <p:sp>
        <p:nvSpPr>
          <p:cNvPr id="210" name="Google Shape;210;p32">
            <a:extLst>
              <a:ext uri="{FF2B5EF4-FFF2-40B4-BE49-F238E27FC236}">
                <a16:creationId xmlns:a16="http://schemas.microsoft.com/office/drawing/2014/main" id="{80A7E6BC-4537-019C-0EF5-896697D29245}"/>
              </a:ext>
            </a:extLst>
          </p:cNvPr>
          <p:cNvSpPr txBox="1">
            <a:spLocks noGrp="1"/>
          </p:cNvSpPr>
          <p:nvPr>
            <p:ph type="ftr" idx="11"/>
          </p:nvPr>
        </p:nvSpPr>
        <p:spPr>
          <a:xfrm>
            <a:off x="3621218" y="4871159"/>
            <a:ext cx="2010300" cy="138600"/>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211" name="Google Shape;211;p32">
            <a:extLst>
              <a:ext uri="{FF2B5EF4-FFF2-40B4-BE49-F238E27FC236}">
                <a16:creationId xmlns:a16="http://schemas.microsoft.com/office/drawing/2014/main" id="{21A6A301-2072-D5EA-10CE-4A12D619177E}"/>
              </a:ext>
            </a:extLst>
          </p:cNvPr>
          <p:cNvSpPr txBox="1"/>
          <p:nvPr/>
        </p:nvSpPr>
        <p:spPr>
          <a:xfrm>
            <a:off x="691100" y="764725"/>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IN" sz="1300" dirty="0">
                <a:solidFill>
                  <a:srgbClr val="CC2B4B"/>
                </a:solidFill>
                <a:latin typeface="Tahoma"/>
                <a:ea typeface="Tahoma"/>
                <a:cs typeface="Tahoma"/>
                <a:sym typeface="Tahoma"/>
              </a:rPr>
              <a:t>Employee Management</a:t>
            </a:r>
          </a:p>
        </p:txBody>
      </p:sp>
      <p:sp>
        <p:nvSpPr>
          <p:cNvPr id="214" name="Google Shape;214;p32">
            <a:extLst>
              <a:ext uri="{FF2B5EF4-FFF2-40B4-BE49-F238E27FC236}">
                <a16:creationId xmlns:a16="http://schemas.microsoft.com/office/drawing/2014/main" id="{61034BE8-A967-84D9-5291-B52515DFBA97}"/>
              </a:ext>
            </a:extLst>
          </p:cNvPr>
          <p:cNvSpPr txBox="1"/>
          <p:nvPr/>
        </p:nvSpPr>
        <p:spPr>
          <a:xfrm>
            <a:off x="4967600" y="736550"/>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IN" sz="1300" dirty="0">
                <a:solidFill>
                  <a:srgbClr val="CC2B4B"/>
                </a:solidFill>
                <a:latin typeface="Tahoma"/>
                <a:ea typeface="Tahoma"/>
                <a:cs typeface="Tahoma"/>
                <a:sym typeface="Tahoma"/>
              </a:rPr>
              <a:t>Finance Analytics</a:t>
            </a:r>
            <a:endParaRPr sz="1300" dirty="0">
              <a:solidFill>
                <a:srgbClr val="CC2B4B"/>
              </a:solidFill>
              <a:latin typeface="Tahoma"/>
              <a:ea typeface="Tahoma"/>
              <a:cs typeface="Tahoma"/>
              <a:sym typeface="Tahoma"/>
            </a:endParaRPr>
          </a:p>
        </p:txBody>
      </p:sp>
      <p:sp>
        <p:nvSpPr>
          <p:cNvPr id="217" name="Google Shape;217;p32">
            <a:extLst>
              <a:ext uri="{FF2B5EF4-FFF2-40B4-BE49-F238E27FC236}">
                <a16:creationId xmlns:a16="http://schemas.microsoft.com/office/drawing/2014/main" id="{89922A7A-8AC4-E943-8748-9B396CD39FCA}"/>
              </a:ext>
            </a:extLst>
          </p:cNvPr>
          <p:cNvSpPr txBox="1"/>
          <p:nvPr/>
        </p:nvSpPr>
        <p:spPr>
          <a:xfrm>
            <a:off x="752304" y="2971569"/>
            <a:ext cx="24318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IN" sz="1300" dirty="0">
                <a:solidFill>
                  <a:srgbClr val="CC2B4B"/>
                </a:solidFill>
                <a:latin typeface="Tahoma"/>
                <a:ea typeface="Tahoma"/>
                <a:cs typeface="Tahoma"/>
                <a:sym typeface="Tahoma"/>
              </a:rPr>
              <a:t>Expense Management</a:t>
            </a:r>
            <a:endParaRPr sz="1300" dirty="0">
              <a:solidFill>
                <a:srgbClr val="CC2B4B"/>
              </a:solidFill>
              <a:latin typeface="Tahoma"/>
              <a:ea typeface="Tahoma"/>
              <a:cs typeface="Tahoma"/>
              <a:sym typeface="Tahoma"/>
            </a:endParaRPr>
          </a:p>
        </p:txBody>
      </p:sp>
      <p:pic>
        <p:nvPicPr>
          <p:cNvPr id="7" name="Picture 6">
            <a:extLst>
              <a:ext uri="{FF2B5EF4-FFF2-40B4-BE49-F238E27FC236}">
                <a16:creationId xmlns:a16="http://schemas.microsoft.com/office/drawing/2014/main" id="{220944DA-D146-8E74-98C7-EF50CEFD8935}"/>
              </a:ext>
            </a:extLst>
          </p:cNvPr>
          <p:cNvPicPr>
            <a:picLocks noChangeAspect="1"/>
          </p:cNvPicPr>
          <p:nvPr/>
        </p:nvPicPr>
        <p:blipFill>
          <a:blip r:embed="rId3"/>
          <a:stretch>
            <a:fillRect/>
          </a:stretch>
        </p:blipFill>
        <p:spPr>
          <a:xfrm>
            <a:off x="563723" y="3298725"/>
            <a:ext cx="3092865" cy="1740973"/>
          </a:xfrm>
          <a:prstGeom prst="rect">
            <a:avLst/>
          </a:prstGeom>
        </p:spPr>
      </p:pic>
      <p:pic>
        <p:nvPicPr>
          <p:cNvPr id="4" name="Picture 3">
            <a:extLst>
              <a:ext uri="{FF2B5EF4-FFF2-40B4-BE49-F238E27FC236}">
                <a16:creationId xmlns:a16="http://schemas.microsoft.com/office/drawing/2014/main" id="{6ECEB9A0-138F-D23D-5C2F-6849873E8D44}"/>
              </a:ext>
            </a:extLst>
          </p:cNvPr>
          <p:cNvPicPr>
            <a:picLocks noChangeAspect="1"/>
          </p:cNvPicPr>
          <p:nvPr/>
        </p:nvPicPr>
        <p:blipFill>
          <a:blip r:embed="rId4"/>
          <a:stretch>
            <a:fillRect/>
          </a:stretch>
        </p:blipFill>
        <p:spPr>
          <a:xfrm>
            <a:off x="475250" y="1046332"/>
            <a:ext cx="3164499" cy="1917230"/>
          </a:xfrm>
          <a:prstGeom prst="rect">
            <a:avLst/>
          </a:prstGeom>
        </p:spPr>
      </p:pic>
      <p:pic>
        <p:nvPicPr>
          <p:cNvPr id="8" name="Picture 7">
            <a:extLst>
              <a:ext uri="{FF2B5EF4-FFF2-40B4-BE49-F238E27FC236}">
                <a16:creationId xmlns:a16="http://schemas.microsoft.com/office/drawing/2014/main" id="{810ADB52-5B57-F9D9-10C9-4B0EDF3FBEC4}"/>
              </a:ext>
            </a:extLst>
          </p:cNvPr>
          <p:cNvPicPr>
            <a:picLocks noChangeAspect="1"/>
          </p:cNvPicPr>
          <p:nvPr/>
        </p:nvPicPr>
        <p:blipFill>
          <a:blip r:embed="rId5"/>
          <a:stretch>
            <a:fillRect/>
          </a:stretch>
        </p:blipFill>
        <p:spPr>
          <a:xfrm>
            <a:off x="4572000" y="1046332"/>
            <a:ext cx="3601450" cy="3897460"/>
          </a:xfrm>
          <a:prstGeom prst="rect">
            <a:avLst/>
          </a:prstGeom>
        </p:spPr>
      </p:pic>
    </p:spTree>
    <p:extLst>
      <p:ext uri="{BB962C8B-B14F-4D97-AF65-F5344CB8AC3E}">
        <p14:creationId xmlns:p14="http://schemas.microsoft.com/office/powerpoint/2010/main" val="921236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16808-FADC-B2C6-DFF1-F5759EAA2B8F}"/>
              </a:ext>
            </a:extLst>
          </p:cNvPr>
          <p:cNvSpPr>
            <a:spLocks noGrp="1"/>
          </p:cNvSpPr>
          <p:nvPr>
            <p:ph type="title"/>
          </p:nvPr>
        </p:nvSpPr>
        <p:spPr>
          <a:xfrm>
            <a:off x="2117590" y="92986"/>
            <a:ext cx="5347315" cy="477054"/>
          </a:xfrm>
        </p:spPr>
        <p:txBody>
          <a:bodyPr/>
          <a:lstStyle/>
          <a:p>
            <a:r>
              <a:rPr lang="en-IN" dirty="0"/>
              <a:t>Results Achieved</a:t>
            </a:r>
          </a:p>
        </p:txBody>
      </p:sp>
      <p:sp>
        <p:nvSpPr>
          <p:cNvPr id="3" name="TextBox 2">
            <a:extLst>
              <a:ext uri="{FF2B5EF4-FFF2-40B4-BE49-F238E27FC236}">
                <a16:creationId xmlns:a16="http://schemas.microsoft.com/office/drawing/2014/main" id="{A71BB954-6BA6-7C50-2BAE-322843AC0544}"/>
              </a:ext>
            </a:extLst>
          </p:cNvPr>
          <p:cNvSpPr txBox="1"/>
          <p:nvPr/>
        </p:nvSpPr>
        <p:spPr>
          <a:xfrm>
            <a:off x="821474" y="631171"/>
            <a:ext cx="7010400" cy="4278094"/>
          </a:xfrm>
          <a:prstGeom prst="rect">
            <a:avLst/>
          </a:prstGeom>
          <a:noFill/>
        </p:spPr>
        <p:txBody>
          <a:bodyPr wrap="square" rtlCol="0">
            <a:spAutoFit/>
          </a:bodyPr>
          <a:lstStyle/>
          <a:p>
            <a:pPr marL="285750" indent="-285750">
              <a:buFont typeface="Wingdings" panose="05000000000000000000" pitchFamily="2" charset="2"/>
              <a:buChar char="ü"/>
            </a:pPr>
            <a:r>
              <a:rPr lang="en-US" sz="1600" dirty="0"/>
              <a:t>Developed a centralized ERP-style business management platform integrating multiple operational modules into a single system.</a:t>
            </a:r>
          </a:p>
          <a:p>
            <a:pPr marL="285750" indent="-285750">
              <a:buFont typeface="Wingdings" panose="05000000000000000000" pitchFamily="2" charset="2"/>
              <a:buChar char="ü"/>
            </a:pPr>
            <a:r>
              <a:rPr lang="en-US" sz="1600" dirty="0"/>
              <a:t>Successfully implemented Inventory Management, Sales Management, Invoice Generation, Expense Tracking, and Employee Management workflows.</a:t>
            </a:r>
          </a:p>
          <a:p>
            <a:pPr marL="285750" indent="-285750">
              <a:buFont typeface="Wingdings" panose="05000000000000000000" pitchFamily="2" charset="2"/>
              <a:buChar char="ü"/>
            </a:pPr>
            <a:r>
              <a:rPr lang="en-US" sz="1600" dirty="0"/>
              <a:t> Integrated frontend and backend modules using the MERN stack architecture (MongoDB, Express.js, React.js, Node.js).</a:t>
            </a:r>
          </a:p>
          <a:p>
            <a:pPr marL="285750" indent="-285750">
              <a:buFont typeface="Wingdings" panose="05000000000000000000" pitchFamily="2" charset="2"/>
              <a:buChar char="ü"/>
            </a:pPr>
            <a:r>
              <a:rPr lang="en-US" sz="1600" dirty="0"/>
              <a:t> Implemented JWT-based authentication and Role-Based Access Control (RBAC) for secure system accessibility.</a:t>
            </a:r>
          </a:p>
          <a:p>
            <a:pPr marL="285750" indent="-285750">
              <a:buFont typeface="Wingdings" panose="05000000000000000000" pitchFamily="2" charset="2"/>
              <a:buChar char="ü"/>
            </a:pPr>
            <a:r>
              <a:rPr lang="en-US" sz="1600" dirty="0"/>
              <a:t> Achieved real-time synchronization between sales transactions and inventory updates. </a:t>
            </a:r>
          </a:p>
          <a:p>
            <a:pPr marL="285750" indent="-285750">
              <a:buFont typeface="Wingdings" panose="05000000000000000000" pitchFamily="2" charset="2"/>
              <a:buChar char="ü"/>
            </a:pPr>
            <a:r>
              <a:rPr lang="en-US" sz="1600" dirty="0"/>
              <a:t>Automated invoice generation and financial record handling to reduce manual operational effort.</a:t>
            </a:r>
          </a:p>
          <a:p>
            <a:pPr marL="285750" indent="-285750">
              <a:buFont typeface="Wingdings" panose="05000000000000000000" pitchFamily="2" charset="2"/>
              <a:buChar char="ü"/>
            </a:pPr>
            <a:r>
              <a:rPr lang="en-US" sz="1600" dirty="0"/>
              <a:t> Developed responsive dashboards and analytics interfaces for improved operational monitoring.</a:t>
            </a:r>
          </a:p>
          <a:p>
            <a:pPr marL="285750" indent="-285750">
              <a:buFont typeface="Wingdings" panose="05000000000000000000" pitchFamily="2" charset="2"/>
              <a:buChar char="ü"/>
            </a:pPr>
            <a:r>
              <a:rPr lang="en-US" sz="1600" dirty="0"/>
              <a:t> Successfully deployed and tested the platform as an industry-oriented solution for Shrinath Enterprises.</a:t>
            </a:r>
            <a:endParaRPr lang="en-IN" sz="1600" dirty="0"/>
          </a:p>
        </p:txBody>
      </p:sp>
    </p:spTree>
    <p:extLst>
      <p:ext uri="{BB962C8B-B14F-4D97-AF65-F5344CB8AC3E}">
        <p14:creationId xmlns:p14="http://schemas.microsoft.com/office/powerpoint/2010/main" val="3311846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51289-6E7D-9B0B-0A7D-4AD8B9FA3371}"/>
              </a:ext>
            </a:extLst>
          </p:cNvPr>
          <p:cNvSpPr>
            <a:spLocks noGrp="1"/>
          </p:cNvSpPr>
          <p:nvPr>
            <p:ph type="title"/>
          </p:nvPr>
        </p:nvSpPr>
        <p:spPr>
          <a:xfrm>
            <a:off x="2437259" y="294603"/>
            <a:ext cx="5347315" cy="477054"/>
          </a:xfrm>
        </p:spPr>
        <p:txBody>
          <a:bodyPr/>
          <a:lstStyle/>
          <a:p>
            <a:r>
              <a:rPr lang="en-IN" dirty="0"/>
              <a:t>Future Scope</a:t>
            </a:r>
          </a:p>
        </p:txBody>
      </p:sp>
      <p:sp>
        <p:nvSpPr>
          <p:cNvPr id="3" name="TextBox 2">
            <a:extLst>
              <a:ext uri="{FF2B5EF4-FFF2-40B4-BE49-F238E27FC236}">
                <a16:creationId xmlns:a16="http://schemas.microsoft.com/office/drawing/2014/main" id="{0225C56C-24A7-62EF-0667-227AABD5C133}"/>
              </a:ext>
            </a:extLst>
          </p:cNvPr>
          <p:cNvSpPr txBox="1"/>
          <p:nvPr/>
        </p:nvSpPr>
        <p:spPr>
          <a:xfrm>
            <a:off x="944137" y="1353015"/>
            <a:ext cx="6906322" cy="3970318"/>
          </a:xfrm>
          <a:prstGeom prst="rect">
            <a:avLst/>
          </a:prstGeom>
          <a:noFill/>
        </p:spPr>
        <p:txBody>
          <a:bodyPr wrap="square" rtlCol="0">
            <a:spAutoFit/>
          </a:bodyPr>
          <a:lstStyle/>
          <a:p>
            <a:pPr marL="285750" indent="-285750">
              <a:buFont typeface="Arial" panose="020B0604020202020204" pitchFamily="34" charset="0"/>
              <a:buChar char="•"/>
            </a:pPr>
            <a:r>
              <a:rPr lang="en-US" dirty="0"/>
              <a:t>AI-based business analytics and sales forecasting for intelligent operational insights. </a:t>
            </a:r>
          </a:p>
          <a:p>
            <a:pPr marL="285750" indent="-285750">
              <a:buFont typeface="Arial" panose="020B0604020202020204" pitchFamily="34" charset="0"/>
              <a:buChar char="•"/>
            </a:pPr>
            <a:r>
              <a:rPr lang="en-US" dirty="0"/>
              <a:t>Barcode and QR-code integration for faster inventory handling and product tracking. </a:t>
            </a:r>
          </a:p>
          <a:p>
            <a:pPr marL="285750" indent="-285750">
              <a:buFont typeface="Arial" panose="020B0604020202020204" pitchFamily="34" charset="0"/>
              <a:buChar char="•"/>
            </a:pPr>
            <a:r>
              <a:rPr lang="en-US" dirty="0"/>
              <a:t>Mobile application development for remote business management and monitoring. </a:t>
            </a:r>
          </a:p>
          <a:p>
            <a:pPr marL="285750" indent="-285750">
              <a:buFont typeface="Arial" panose="020B0604020202020204" pitchFamily="34" charset="0"/>
              <a:buChar char="•"/>
            </a:pPr>
            <a:r>
              <a:rPr lang="en-US" dirty="0"/>
              <a:t>Multi-branch business support with centralized cloud synchronization. </a:t>
            </a:r>
          </a:p>
          <a:p>
            <a:pPr marL="285750" indent="-285750">
              <a:buFont typeface="Arial" panose="020B0604020202020204" pitchFamily="34" charset="0"/>
              <a:buChar char="•"/>
            </a:pPr>
            <a:r>
              <a:rPr lang="en-US" dirty="0"/>
              <a:t>Advanced financial analytics and automated reporting systems. </a:t>
            </a:r>
          </a:p>
          <a:p>
            <a:pPr marL="285750" indent="-285750">
              <a:buFont typeface="Arial" panose="020B0604020202020204" pitchFamily="34" charset="0"/>
              <a:buChar char="•"/>
            </a:pPr>
            <a:r>
              <a:rPr lang="en-US" dirty="0"/>
              <a:t>Integration with online payment gateways and digital billing solutions. </a:t>
            </a:r>
          </a:p>
          <a:p>
            <a:pPr marL="285750" indent="-285750">
              <a:buFont typeface="Arial" panose="020B0604020202020204" pitchFamily="34" charset="0"/>
              <a:buChar char="•"/>
            </a:pPr>
            <a:r>
              <a:rPr lang="en-US" dirty="0"/>
              <a:t>Email and SMS notification system for invoices, stock alerts, and operational updates. </a:t>
            </a:r>
          </a:p>
          <a:p>
            <a:pPr marL="285750" indent="-285750">
              <a:buFont typeface="Arial" panose="020B0604020202020204" pitchFamily="34" charset="0"/>
              <a:buChar char="•"/>
            </a:pPr>
            <a:r>
              <a:rPr lang="en-US" dirty="0"/>
              <a:t>Cloud deployment optimization for large-scale enterprise scalability. </a:t>
            </a:r>
          </a:p>
          <a:p>
            <a:pPr marL="285750" indent="-285750">
              <a:buFont typeface="Arial" panose="020B0604020202020204" pitchFamily="34" charset="0"/>
              <a:buChar char="•"/>
            </a:pPr>
            <a:r>
              <a:rPr lang="en-US" dirty="0"/>
              <a:t>Advanced audit logging and cybersecurity monitoring mechanisms. </a:t>
            </a:r>
          </a:p>
          <a:p>
            <a:pPr marL="285750" indent="-285750">
              <a:buFont typeface="Arial" panose="020B0604020202020204" pitchFamily="34" charset="0"/>
              <a:buChar char="•"/>
            </a:pPr>
            <a:r>
              <a:rPr lang="en-US" dirty="0"/>
              <a:t>Integration of CRM and customer relationship management features in future versions. </a:t>
            </a:r>
          </a:p>
          <a:p>
            <a:br>
              <a:rPr lang="en-US" dirty="0"/>
            </a:br>
            <a:endParaRPr lang="en-US" dirty="0"/>
          </a:p>
          <a:p>
            <a:endParaRPr lang="en-IN" dirty="0"/>
          </a:p>
        </p:txBody>
      </p:sp>
    </p:spTree>
    <p:extLst>
      <p:ext uri="{BB962C8B-B14F-4D97-AF65-F5344CB8AC3E}">
        <p14:creationId xmlns:p14="http://schemas.microsoft.com/office/powerpoint/2010/main" val="18571636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3"/>
          <p:cNvSpPr txBox="1">
            <a:spLocks noGrp="1"/>
          </p:cNvSpPr>
          <p:nvPr>
            <p:ph type="title"/>
          </p:nvPr>
        </p:nvSpPr>
        <p:spPr>
          <a:xfrm>
            <a:off x="2110156" y="-77105"/>
            <a:ext cx="5347315" cy="851988"/>
          </a:xfrm>
          <a:prstGeom prst="rect">
            <a:avLst/>
          </a:prstGeom>
          <a:noFill/>
          <a:ln>
            <a:noFill/>
          </a:ln>
        </p:spPr>
        <p:txBody>
          <a:bodyPr spcFirstLastPara="1" wrap="square" lIns="0" tIns="337225" rIns="0" bIns="0" anchor="t" anchorCtr="0">
            <a:spAutoFit/>
          </a:bodyPr>
          <a:lstStyle/>
          <a:p>
            <a:pPr marL="1511300" lvl="0" indent="0" algn="l" rtl="0">
              <a:lnSpc>
                <a:spcPct val="100000"/>
              </a:lnSpc>
              <a:spcBef>
                <a:spcPts val="0"/>
              </a:spcBef>
              <a:spcAft>
                <a:spcPts val="0"/>
              </a:spcAft>
              <a:buNone/>
            </a:pPr>
            <a:r>
              <a:rPr lang="en"/>
              <a:t>Conclusion</a:t>
            </a:r>
            <a:endParaRPr/>
          </a:p>
        </p:txBody>
      </p:sp>
      <p:sp>
        <p:nvSpPr>
          <p:cNvPr id="224" name="Google Shape;224;p33"/>
          <p:cNvSpPr txBox="1"/>
          <p:nvPr/>
        </p:nvSpPr>
        <p:spPr>
          <a:xfrm>
            <a:off x="959205" y="1403302"/>
            <a:ext cx="7676700" cy="296100"/>
          </a:xfrm>
          <a:prstGeom prst="rect">
            <a:avLst/>
          </a:prstGeom>
          <a:noFill/>
          <a:ln>
            <a:noFill/>
          </a:ln>
        </p:spPr>
        <p:txBody>
          <a:bodyPr spcFirstLastPara="1" wrap="square" lIns="0" tIns="18725" rIns="0" bIns="0" anchor="t" anchorCtr="0">
            <a:spAutoFit/>
          </a:bodyPr>
          <a:lstStyle/>
          <a:p>
            <a:pPr marL="12700" marR="0" lvl="0" indent="0" algn="l" rtl="0">
              <a:lnSpc>
                <a:spcPct val="119178"/>
              </a:lnSpc>
              <a:spcBef>
                <a:spcPts val="0"/>
              </a:spcBef>
              <a:spcAft>
                <a:spcPts val="0"/>
              </a:spcAft>
              <a:buNone/>
            </a:pPr>
            <a:endParaRPr sz="1800">
              <a:latin typeface="Trebuchet MS"/>
              <a:ea typeface="Trebuchet MS"/>
              <a:cs typeface="Trebuchet MS"/>
              <a:sym typeface="Trebuchet MS"/>
            </a:endParaRPr>
          </a:p>
        </p:txBody>
      </p:sp>
      <p:sp>
        <p:nvSpPr>
          <p:cNvPr id="225" name="Google Shape;225;p33"/>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
        <p:nvSpPr>
          <p:cNvPr id="226" name="Google Shape;226;p33"/>
          <p:cNvSpPr txBox="1"/>
          <p:nvPr/>
        </p:nvSpPr>
        <p:spPr>
          <a:xfrm>
            <a:off x="524125" y="1059150"/>
            <a:ext cx="7992600" cy="3371100"/>
          </a:xfrm>
          <a:prstGeom prst="rect">
            <a:avLst/>
          </a:prstGeom>
          <a:noFill/>
          <a:ln>
            <a:noFill/>
          </a:ln>
        </p:spPr>
        <p:txBody>
          <a:bodyPr spcFirstLastPara="1" wrap="square" lIns="91425" tIns="91425" rIns="91425" bIns="91425" anchor="t" anchorCtr="0">
            <a:noAutofit/>
          </a:bodyPr>
          <a:lstStyle/>
          <a:p>
            <a:pPr lvl="0"/>
            <a:r>
              <a:rPr lang="en-US" sz="1500" dirty="0">
                <a:solidFill>
                  <a:schemeClr val="dk1"/>
                </a:solidFill>
                <a:latin typeface="Tahoma"/>
                <a:ea typeface="Tahoma"/>
                <a:cs typeface="Tahoma"/>
                <a:sym typeface="Tahoma"/>
              </a:rPr>
              <a:t>Developed a centralized business operations platform integrating inventory, sales, finance, employee management, and analytics workflows.</a:t>
            </a:r>
            <a:r>
              <a:rPr lang="en" sz="1500" dirty="0">
                <a:solidFill>
                  <a:schemeClr val="dk1"/>
                </a:solidFill>
                <a:latin typeface="Tahoma"/>
                <a:ea typeface="Tahoma"/>
                <a:cs typeface="Tahoma"/>
                <a:sym typeface="Tahoma"/>
              </a:rPr>
              <a:t>The platform implements a modular ERP-like structure, allowing different components to interact seamlessly while maintaining a clean and scalable architecture.</a:t>
            </a:r>
            <a:endParaRPr sz="1500" dirty="0">
              <a:solidFill>
                <a:schemeClr val="dk1"/>
              </a:solidFill>
              <a:latin typeface="Tahoma"/>
              <a:ea typeface="Tahoma"/>
              <a:cs typeface="Tahoma"/>
              <a:sym typeface="Tahoma"/>
            </a:endParaRPr>
          </a:p>
          <a:p>
            <a:pPr marL="0" lvl="0" indent="0" algn="l" rtl="0">
              <a:lnSpc>
                <a:spcPct val="115000"/>
              </a:lnSpc>
              <a:spcBef>
                <a:spcPts val="1200"/>
              </a:spcBef>
              <a:spcAft>
                <a:spcPts val="0"/>
              </a:spcAft>
              <a:buClr>
                <a:schemeClr val="dk1"/>
              </a:buClr>
              <a:buSzPts val="1100"/>
              <a:buFont typeface="Arial"/>
              <a:buNone/>
            </a:pPr>
            <a:r>
              <a:rPr lang="en" sz="1500" dirty="0">
                <a:solidFill>
                  <a:schemeClr val="dk1"/>
                </a:solidFill>
                <a:latin typeface="Tahoma"/>
                <a:ea typeface="Tahoma"/>
                <a:cs typeface="Tahoma"/>
                <a:sym typeface="Tahoma"/>
              </a:rPr>
              <a:t>I developed core functionalities including product management, sales creation, automatic stock updates, and real-time calculations for transactions. The system ensures data consistency by linking sales directly with inventory, reducing manual intervention and minimizing errors.</a:t>
            </a:r>
            <a:endParaRPr sz="1500" dirty="0">
              <a:solidFill>
                <a:schemeClr val="dk1"/>
              </a:solidFill>
              <a:latin typeface="Tahoma"/>
              <a:ea typeface="Tahoma"/>
              <a:cs typeface="Tahoma"/>
              <a:sym typeface="Tahoma"/>
            </a:endParaRPr>
          </a:p>
          <a:p>
            <a:pPr marL="0" lvl="0" indent="0" algn="l" rtl="0">
              <a:lnSpc>
                <a:spcPct val="115000"/>
              </a:lnSpc>
              <a:spcBef>
                <a:spcPts val="1200"/>
              </a:spcBef>
              <a:spcAft>
                <a:spcPts val="0"/>
              </a:spcAft>
              <a:buClr>
                <a:schemeClr val="dk1"/>
              </a:buClr>
              <a:buSzPts val="1100"/>
              <a:buFont typeface="Arial"/>
              <a:buNone/>
            </a:pPr>
            <a:r>
              <a:rPr lang="en" sz="1500" dirty="0">
                <a:solidFill>
                  <a:schemeClr val="dk1"/>
                </a:solidFill>
                <a:latin typeface="Tahoma"/>
                <a:ea typeface="Tahoma"/>
                <a:cs typeface="Tahoma"/>
                <a:sym typeface="Tahoma"/>
              </a:rPr>
              <a:t>The application was built using modern frontend technologies with a focus on simplicity, usability, and real-world applicability. Features such as centralized state management, role-based workflow design, and a modular dashboard demonstrate how business operations can be digitized effectively.</a:t>
            </a:r>
            <a:endParaRPr sz="1500" dirty="0">
              <a:solidFill>
                <a:schemeClr val="dk1"/>
              </a:solidFill>
              <a:latin typeface="Tahoma"/>
              <a:ea typeface="Tahoma"/>
              <a:cs typeface="Tahoma"/>
              <a:sym typeface="Tahoma"/>
            </a:endParaRPr>
          </a:p>
          <a:p>
            <a:pPr marL="0" lvl="0" indent="0" algn="l" rtl="0">
              <a:spcBef>
                <a:spcPts val="1200"/>
              </a:spcBef>
              <a:spcAft>
                <a:spcPts val="0"/>
              </a:spcAft>
              <a:buNone/>
            </a:pPr>
            <a:endParaRPr sz="1500" dirty="0">
              <a:solidFill>
                <a:schemeClr val="dk1"/>
              </a:solidFill>
              <a:latin typeface="Tahoma"/>
              <a:ea typeface="Tahoma"/>
              <a:cs typeface="Tahoma"/>
              <a:sym typeface="Tahom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4"/>
          <p:cNvSpPr txBox="1">
            <a:spLocks noGrp="1"/>
          </p:cNvSpPr>
          <p:nvPr>
            <p:ph type="title"/>
          </p:nvPr>
        </p:nvSpPr>
        <p:spPr>
          <a:xfrm>
            <a:off x="2110156" y="-77105"/>
            <a:ext cx="5347315" cy="851988"/>
          </a:xfrm>
          <a:prstGeom prst="rect">
            <a:avLst/>
          </a:prstGeom>
          <a:noFill/>
          <a:ln>
            <a:noFill/>
          </a:ln>
        </p:spPr>
        <p:txBody>
          <a:bodyPr spcFirstLastPara="1" wrap="square" lIns="0" tIns="380175" rIns="0" bIns="0" anchor="t" anchorCtr="0">
            <a:spAutoFit/>
          </a:bodyPr>
          <a:lstStyle/>
          <a:p>
            <a:pPr marL="1511300" lvl="0" indent="0" algn="l" rtl="0">
              <a:lnSpc>
                <a:spcPct val="100000"/>
              </a:lnSpc>
              <a:spcBef>
                <a:spcPts val="0"/>
              </a:spcBef>
              <a:spcAft>
                <a:spcPts val="0"/>
              </a:spcAft>
              <a:buNone/>
            </a:pPr>
            <a:r>
              <a:rPr lang="en"/>
              <a:t>References</a:t>
            </a:r>
            <a:endParaRPr/>
          </a:p>
        </p:txBody>
      </p:sp>
      <p:sp>
        <p:nvSpPr>
          <p:cNvPr id="232" name="Google Shape;232;p34"/>
          <p:cNvSpPr txBox="1"/>
          <p:nvPr/>
        </p:nvSpPr>
        <p:spPr>
          <a:xfrm>
            <a:off x="689030" y="1005255"/>
            <a:ext cx="7759500" cy="3779400"/>
          </a:xfrm>
          <a:prstGeom prst="rect">
            <a:avLst/>
          </a:prstGeom>
          <a:noFill/>
          <a:ln>
            <a:noFill/>
          </a:ln>
        </p:spPr>
        <p:txBody>
          <a:bodyPr spcFirstLastPara="1" wrap="square" lIns="0" tIns="7625" rIns="0" bIns="0" anchor="t" anchorCtr="0">
            <a:spAutoFit/>
          </a:bodyPr>
          <a:lstStyle/>
          <a:p>
            <a:pPr marL="254000" marR="2032000" lvl="0" indent="0" algn="l" rtl="0">
              <a:lnSpc>
                <a:spcPct val="117777"/>
              </a:lnSpc>
              <a:spcBef>
                <a:spcPts val="100"/>
              </a:spcBef>
              <a:spcAft>
                <a:spcPts val="0"/>
              </a:spcAft>
              <a:buNone/>
            </a:pPr>
            <a:r>
              <a:rPr lang="en" sz="1100">
                <a:latin typeface="Trebuchet MS"/>
                <a:ea typeface="Trebuchet MS"/>
                <a:cs typeface="Trebuchet MS"/>
                <a:sym typeface="Trebuchet MS"/>
              </a:rPr>
              <a:t>Literature review papers:</a:t>
            </a:r>
            <a:endParaRPr sz="1100">
              <a:latin typeface="Trebuchet MS"/>
              <a:ea typeface="Trebuchet MS"/>
              <a:cs typeface="Trebuchet MS"/>
              <a:sym typeface="Trebuchet MS"/>
            </a:endParaRPr>
          </a:p>
          <a:p>
            <a:pPr marL="457200" marR="2032000" lvl="0" indent="-298450" algn="l" rtl="0">
              <a:lnSpc>
                <a:spcPct val="117777"/>
              </a:lnSpc>
              <a:spcBef>
                <a:spcPts val="100"/>
              </a:spcBef>
              <a:spcAft>
                <a:spcPts val="0"/>
              </a:spcAft>
              <a:buClr>
                <a:srgbClr val="131314"/>
              </a:buClr>
              <a:buSzPts val="1100"/>
              <a:buFont typeface="Manrope"/>
              <a:buChar char="●"/>
            </a:pPr>
            <a:r>
              <a:rPr lang="en" sz="1100">
                <a:solidFill>
                  <a:srgbClr val="131314"/>
                </a:solidFill>
                <a:highlight>
                  <a:srgbClr val="FFFFFF"/>
                </a:highlight>
                <a:latin typeface="Manrope"/>
                <a:ea typeface="Manrope"/>
                <a:cs typeface="Manrope"/>
                <a:sym typeface="Manrope"/>
              </a:rPr>
              <a:t>A literature review on ERP implementation: Methodologies, module, software, and policy-</a:t>
            </a:r>
            <a:r>
              <a:rPr lang="en" sz="1100" u="sng">
                <a:solidFill>
                  <a:schemeClr val="hlink"/>
                </a:solidFill>
                <a:highlight>
                  <a:srgbClr val="FFFFFF"/>
                </a:highlight>
                <a:latin typeface="Manrope"/>
                <a:ea typeface="Manrope"/>
                <a:cs typeface="Manrope"/>
                <a:sym typeface="Manrope"/>
                <a:hlinkClick r:id="rId3"/>
              </a:rPr>
              <a:t>https://www.researchgate.net/publication/379348882_A_literature_review_on_ERP_implementation_Methodologies_module_software_and_policy</a:t>
            </a:r>
            <a:endParaRPr sz="1100">
              <a:solidFill>
                <a:srgbClr val="131314"/>
              </a:solidFill>
              <a:highlight>
                <a:srgbClr val="FFFFFF"/>
              </a:highlight>
              <a:latin typeface="Manrope"/>
              <a:ea typeface="Manrope"/>
              <a:cs typeface="Manrope"/>
              <a:sym typeface="Manrope"/>
            </a:endParaRPr>
          </a:p>
          <a:p>
            <a:pPr marL="457200" marR="2032000" lvl="0" indent="-298450" algn="l" rtl="0">
              <a:lnSpc>
                <a:spcPct val="117777"/>
              </a:lnSpc>
              <a:spcBef>
                <a:spcPts val="0"/>
              </a:spcBef>
              <a:spcAft>
                <a:spcPts val="0"/>
              </a:spcAft>
              <a:buClr>
                <a:srgbClr val="131314"/>
              </a:buClr>
              <a:buSzPts val="1100"/>
              <a:buFont typeface="Manrope"/>
              <a:buChar char="●"/>
            </a:pPr>
            <a:r>
              <a:rPr lang="en" sz="1100">
                <a:solidFill>
                  <a:srgbClr val="131314"/>
                </a:solidFill>
                <a:highlight>
                  <a:srgbClr val="FFFFFF"/>
                </a:highlight>
                <a:latin typeface="Manrope"/>
                <a:ea typeface="Manrope"/>
                <a:cs typeface="Manrope"/>
                <a:sym typeface="Manrope"/>
              </a:rPr>
              <a:t>International Journal of Applied Science and Engineering Review- </a:t>
            </a:r>
            <a:r>
              <a:rPr lang="en" sz="1100" u="sng">
                <a:solidFill>
                  <a:schemeClr val="hlink"/>
                </a:solidFill>
                <a:highlight>
                  <a:srgbClr val="FFFFFF"/>
                </a:highlight>
                <a:latin typeface="Manrope"/>
                <a:ea typeface="Manrope"/>
                <a:cs typeface="Manrope"/>
                <a:sym typeface="Manrope"/>
                <a:hlinkClick r:id="rId4"/>
              </a:rPr>
              <a:t>https://akjournals.com/view/journals/1848/1848-overview.xml</a:t>
            </a:r>
            <a:endParaRPr sz="1100">
              <a:solidFill>
                <a:srgbClr val="131314"/>
              </a:solidFill>
              <a:highlight>
                <a:srgbClr val="FFFFFF"/>
              </a:highlight>
              <a:latin typeface="Manrope"/>
              <a:ea typeface="Manrope"/>
              <a:cs typeface="Manrope"/>
              <a:sym typeface="Manrope"/>
            </a:endParaRPr>
          </a:p>
          <a:p>
            <a:pPr marL="457200" marR="2032000" lvl="0" indent="-298450" algn="l" rtl="0">
              <a:lnSpc>
                <a:spcPct val="117777"/>
              </a:lnSpc>
              <a:spcBef>
                <a:spcPts val="0"/>
              </a:spcBef>
              <a:spcAft>
                <a:spcPts val="0"/>
              </a:spcAft>
              <a:buClr>
                <a:srgbClr val="131314"/>
              </a:buClr>
              <a:buSzPts val="1100"/>
              <a:buFont typeface="Manrope"/>
              <a:buChar char="●"/>
            </a:pPr>
            <a:r>
              <a:rPr lang="en" sz="1100">
                <a:solidFill>
                  <a:srgbClr val="131314"/>
                </a:solidFill>
                <a:highlight>
                  <a:srgbClr val="FFFFFF"/>
                </a:highlight>
                <a:latin typeface="Manrope"/>
                <a:ea typeface="Manrope"/>
                <a:cs typeface="Manrope"/>
                <a:sym typeface="Manrope"/>
              </a:rPr>
              <a:t>ERP SYSTEMS ARCHITECTURE FOR THE MODERN AGE: A REVIEW OF THE STATE OF THE ART TECHNOLOGIES- </a:t>
            </a:r>
            <a:r>
              <a:rPr lang="en" sz="1100" u="sng">
                <a:solidFill>
                  <a:schemeClr val="hlink"/>
                </a:solidFill>
                <a:highlight>
                  <a:srgbClr val="FFFFFF"/>
                </a:highlight>
                <a:latin typeface="Manrope"/>
                <a:ea typeface="Manrope"/>
                <a:cs typeface="Manrope"/>
                <a:sym typeface="Manrope"/>
                <a:hlinkClick r:id="rId5"/>
              </a:rPr>
              <a:t>https://www.researchgate.net/publication/343450571_ERP_SYSTEMS_ARCHITECTURE_FOR_THE_MODERN_AGE_A_REVIEW_OF_THE_STATE_OF_THE_ART_TECHNOLOGIES</a:t>
            </a:r>
            <a:endParaRPr sz="1100">
              <a:solidFill>
                <a:srgbClr val="131314"/>
              </a:solidFill>
              <a:highlight>
                <a:srgbClr val="FFFFFF"/>
              </a:highlight>
              <a:latin typeface="Manrope"/>
              <a:ea typeface="Manrope"/>
              <a:cs typeface="Manrope"/>
              <a:sym typeface="Manrope"/>
            </a:endParaRPr>
          </a:p>
          <a:p>
            <a:pPr marL="457200" marR="2032000" lvl="0" indent="-298450" algn="l" rtl="0">
              <a:lnSpc>
                <a:spcPct val="117777"/>
              </a:lnSpc>
              <a:spcBef>
                <a:spcPts val="0"/>
              </a:spcBef>
              <a:spcAft>
                <a:spcPts val="0"/>
              </a:spcAft>
              <a:buClr>
                <a:srgbClr val="131314"/>
              </a:buClr>
              <a:buSzPts val="1100"/>
              <a:buFont typeface="Manrope"/>
              <a:buChar char="●"/>
            </a:pPr>
            <a:r>
              <a:rPr lang="en" sz="1100">
                <a:solidFill>
                  <a:srgbClr val="131314"/>
                </a:solidFill>
                <a:highlight>
                  <a:srgbClr val="FFFFFF"/>
                </a:highlight>
                <a:latin typeface="Manrope"/>
                <a:ea typeface="Manrope"/>
                <a:cs typeface="Manrope"/>
                <a:sym typeface="Manrope"/>
              </a:rPr>
              <a:t>Implementation of Odoo-Based ERP in The Case Study of Micro, Small and Medium Enterprises (MSME) “Woody Moody Jakarta”</a:t>
            </a:r>
            <a:r>
              <a:rPr lang="en" sz="1100" u="sng">
                <a:solidFill>
                  <a:schemeClr val="hlink"/>
                </a:solidFill>
                <a:highlight>
                  <a:srgbClr val="FFFFFF"/>
                </a:highlight>
                <a:latin typeface="Manrope"/>
                <a:ea typeface="Manrope"/>
                <a:cs typeface="Manrope"/>
                <a:sym typeface="Manrope"/>
                <a:hlinkClick r:id="rId6"/>
              </a:rPr>
              <a:t>https://www.researchgate.net/publication/374833941_Implementation_of_Odoo-Based_ERP_in_The_Case_Study_of_Micro_Small_and_Medium_EnterprisesMSME_Woody_Moody_Jakarta</a:t>
            </a:r>
            <a:endParaRPr sz="1100">
              <a:solidFill>
                <a:srgbClr val="131314"/>
              </a:solidFill>
              <a:highlight>
                <a:srgbClr val="FFFFFF"/>
              </a:highlight>
              <a:latin typeface="Manrope"/>
              <a:ea typeface="Manrope"/>
              <a:cs typeface="Manrope"/>
              <a:sym typeface="Manrope"/>
            </a:endParaRPr>
          </a:p>
          <a:p>
            <a:pPr marL="457200" marR="2032000" lvl="0" indent="-298450" algn="l" rtl="0">
              <a:lnSpc>
                <a:spcPct val="117777"/>
              </a:lnSpc>
              <a:spcBef>
                <a:spcPts val="0"/>
              </a:spcBef>
              <a:spcAft>
                <a:spcPts val="0"/>
              </a:spcAft>
              <a:buClr>
                <a:srgbClr val="131314"/>
              </a:buClr>
              <a:buSzPts val="1100"/>
              <a:buFont typeface="Manrope"/>
              <a:buChar char="●"/>
            </a:pPr>
            <a:r>
              <a:rPr lang="en" sz="1100">
                <a:solidFill>
                  <a:srgbClr val="131314"/>
                </a:solidFill>
                <a:highlight>
                  <a:srgbClr val="FFFFFF"/>
                </a:highlight>
                <a:latin typeface="Manrope"/>
                <a:ea typeface="Manrope"/>
                <a:cs typeface="Manrope"/>
                <a:sym typeface="Manrope"/>
              </a:rPr>
              <a:t>Modular Architecture in .NET Enterprise Systems: Patterns, Practices, and Evolution toward Scalable Systemshttps://papers.ssrn.com/sol3/papers.cfm?abstract_id=6258779</a:t>
            </a:r>
            <a:endParaRPr sz="1100">
              <a:solidFill>
                <a:srgbClr val="131314"/>
              </a:solidFill>
              <a:highlight>
                <a:srgbClr val="FFFFFF"/>
              </a:highlight>
              <a:latin typeface="Manrope"/>
              <a:ea typeface="Manrope"/>
              <a:cs typeface="Manrope"/>
              <a:sym typeface="Manrope"/>
            </a:endParaRPr>
          </a:p>
        </p:txBody>
      </p:sp>
      <p:sp>
        <p:nvSpPr>
          <p:cNvPr id="233" name="Google Shape;233;p34"/>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5"/>
          <p:cNvSpPr txBox="1">
            <a:spLocks noGrp="1"/>
          </p:cNvSpPr>
          <p:nvPr>
            <p:ph type="title"/>
          </p:nvPr>
        </p:nvSpPr>
        <p:spPr>
          <a:xfrm>
            <a:off x="2110156" y="-77105"/>
            <a:ext cx="5347315" cy="851988"/>
          </a:xfrm>
          <a:prstGeom prst="rect">
            <a:avLst/>
          </a:prstGeom>
          <a:noFill/>
          <a:ln>
            <a:noFill/>
          </a:ln>
        </p:spPr>
        <p:txBody>
          <a:bodyPr spcFirstLastPara="1" wrap="square" lIns="0" tIns="380175" rIns="0" bIns="0" anchor="t" anchorCtr="0">
            <a:spAutoFit/>
          </a:bodyPr>
          <a:lstStyle/>
          <a:p>
            <a:pPr marL="1511300" lvl="0" indent="0" algn="l" rtl="0">
              <a:lnSpc>
                <a:spcPct val="100000"/>
              </a:lnSpc>
              <a:spcBef>
                <a:spcPts val="0"/>
              </a:spcBef>
              <a:spcAft>
                <a:spcPts val="0"/>
              </a:spcAft>
              <a:buNone/>
            </a:pPr>
            <a:r>
              <a:rPr lang="en"/>
              <a:t>References</a:t>
            </a:r>
            <a:endParaRPr/>
          </a:p>
        </p:txBody>
      </p:sp>
      <p:sp>
        <p:nvSpPr>
          <p:cNvPr id="239" name="Google Shape;239;p35"/>
          <p:cNvSpPr txBox="1">
            <a:spLocks noGrp="1"/>
          </p:cNvSpPr>
          <p:nvPr>
            <p:ph type="body" idx="1"/>
          </p:nvPr>
        </p:nvSpPr>
        <p:spPr>
          <a:xfrm>
            <a:off x="557175" y="948553"/>
            <a:ext cx="7997400" cy="2590800"/>
          </a:xfrm>
          <a:prstGeom prst="rect">
            <a:avLst/>
          </a:prstGeom>
          <a:noFill/>
          <a:ln>
            <a:noFill/>
          </a:ln>
        </p:spPr>
        <p:txBody>
          <a:bodyPr spcFirstLastPara="1" wrap="square" lIns="0" tIns="8575" rIns="0" bIns="0" anchor="t" anchorCtr="0">
            <a:spAutoFit/>
          </a:bodyPr>
          <a:lstStyle/>
          <a:p>
            <a:pPr marL="457200" marR="241300" lvl="0" indent="-298450" algn="l" rtl="0">
              <a:lnSpc>
                <a:spcPct val="118750"/>
              </a:lnSpc>
              <a:spcBef>
                <a:spcPts val="0"/>
              </a:spcBef>
              <a:spcAft>
                <a:spcPts val="0"/>
              </a:spcAft>
              <a:buClr>
                <a:schemeClr val="dk1"/>
              </a:buClr>
              <a:buSzPts val="1100"/>
              <a:buFont typeface="Trebuchet MS"/>
              <a:buChar char="●"/>
            </a:pPr>
            <a:r>
              <a:rPr lang="en" sz="1100">
                <a:solidFill>
                  <a:schemeClr val="dk1"/>
                </a:solidFill>
                <a:highlight>
                  <a:schemeClr val="lt1"/>
                </a:highlight>
              </a:rPr>
              <a:t>Open-SourceERP.pdf </a:t>
            </a:r>
            <a:r>
              <a:rPr lang="en" sz="1100" u="sng">
                <a:solidFill>
                  <a:schemeClr val="hlink"/>
                </a:solidFill>
                <a:highlight>
                  <a:schemeClr val="lt1"/>
                </a:highlight>
                <a:hlinkClick r:id="rId3"/>
              </a:rPr>
              <a:t>https://www.researchgate.net/publication/394306023_Open-Source_ERP</a:t>
            </a:r>
            <a:endParaRPr sz="1100">
              <a:solidFill>
                <a:schemeClr val="dk1"/>
              </a:solidFill>
              <a:highlight>
                <a:schemeClr val="lt1"/>
              </a:highlight>
            </a:endParaRPr>
          </a:p>
          <a:p>
            <a:pPr marL="457200" marR="241300" lvl="0" indent="-298450" algn="l" rtl="0">
              <a:lnSpc>
                <a:spcPct val="118750"/>
              </a:lnSpc>
              <a:spcBef>
                <a:spcPts val="0"/>
              </a:spcBef>
              <a:spcAft>
                <a:spcPts val="0"/>
              </a:spcAft>
              <a:buClr>
                <a:schemeClr val="dk1"/>
              </a:buClr>
              <a:buSzPts val="1100"/>
              <a:buChar char="●"/>
            </a:pPr>
            <a:r>
              <a:rPr lang="en" sz="1100">
                <a:solidFill>
                  <a:schemeClr val="dk1"/>
                </a:solidFill>
                <a:highlight>
                  <a:schemeClr val="lt1"/>
                </a:highlight>
              </a:rPr>
              <a:t>Design and Implementation of Inventory Management System for Universityhttps://</a:t>
            </a:r>
            <a:r>
              <a:rPr lang="en" sz="1100" u="sng">
                <a:solidFill>
                  <a:schemeClr val="hlink"/>
                </a:solidFill>
                <a:highlight>
                  <a:schemeClr val="lt1"/>
                </a:highlight>
                <a:hlinkClick r:id="rId4"/>
              </a:rPr>
              <a:t>www.researchgate.net/publication/371989579_Design_and_Implementation_of_Inventory_Management_System_for_University</a:t>
            </a:r>
            <a:endParaRPr sz="1100">
              <a:solidFill>
                <a:schemeClr val="dk1"/>
              </a:solidFill>
              <a:highlight>
                <a:schemeClr val="lt1"/>
              </a:highlight>
            </a:endParaRPr>
          </a:p>
          <a:p>
            <a:pPr marL="457200" marR="241300" lvl="0" indent="-298450" algn="l" rtl="0">
              <a:lnSpc>
                <a:spcPct val="118750"/>
              </a:lnSpc>
              <a:spcBef>
                <a:spcPts val="0"/>
              </a:spcBef>
              <a:spcAft>
                <a:spcPts val="0"/>
              </a:spcAft>
              <a:buClr>
                <a:schemeClr val="dk1"/>
              </a:buClr>
              <a:buSzPts val="1100"/>
              <a:buChar char="●"/>
            </a:pPr>
            <a:r>
              <a:rPr lang="en" sz="1100">
                <a:solidFill>
                  <a:schemeClr val="dk1"/>
                </a:solidFill>
                <a:highlight>
                  <a:schemeClr val="lt1"/>
                </a:highlight>
              </a:rPr>
              <a:t>Proprietary vs. Open-Source ERP: The Case of SAP and Odoohttps://</a:t>
            </a:r>
            <a:r>
              <a:rPr lang="en" sz="1100" u="sng">
                <a:solidFill>
                  <a:schemeClr val="hlink"/>
                </a:solidFill>
                <a:highlight>
                  <a:schemeClr val="lt1"/>
                </a:highlight>
                <a:hlinkClick r:id="rId5"/>
              </a:rPr>
              <a:t>www.researchgate.net/publication/387763540_Proprietary_vs_Open-Source_ERP_The_Case_of_SAP_and_Odoo</a:t>
            </a:r>
            <a:endParaRPr sz="1100">
              <a:solidFill>
                <a:schemeClr val="dk1"/>
              </a:solidFill>
              <a:highlight>
                <a:schemeClr val="lt1"/>
              </a:highlight>
            </a:endParaRPr>
          </a:p>
          <a:p>
            <a:pPr marL="457200" marR="241300" lvl="0" indent="-298450" algn="l" rtl="0">
              <a:lnSpc>
                <a:spcPct val="118750"/>
              </a:lnSpc>
              <a:spcBef>
                <a:spcPts val="0"/>
              </a:spcBef>
              <a:spcAft>
                <a:spcPts val="0"/>
              </a:spcAft>
              <a:buClr>
                <a:schemeClr val="dk1"/>
              </a:buClr>
              <a:buSzPts val="1100"/>
              <a:buChar char="●"/>
            </a:pPr>
            <a:r>
              <a:rPr lang="en" sz="1100">
                <a:solidFill>
                  <a:schemeClr val="dk1"/>
                </a:solidFill>
                <a:highlight>
                  <a:schemeClr val="lt1"/>
                </a:highlight>
              </a:rPr>
              <a:t>Small-Medium Business Enterprise Management Applicationhttps://</a:t>
            </a:r>
            <a:r>
              <a:rPr lang="en" sz="1100" u="sng">
                <a:solidFill>
                  <a:schemeClr val="hlink"/>
                </a:solidFill>
                <a:highlight>
                  <a:schemeClr val="lt1"/>
                </a:highlight>
                <a:hlinkClick r:id="rId6"/>
              </a:rPr>
              <a:t>papers.ssrn.com/sol3/papers.cfm?abstract_id=5214661</a:t>
            </a:r>
            <a:endParaRPr sz="1100">
              <a:solidFill>
                <a:schemeClr val="dk1"/>
              </a:solidFill>
              <a:highlight>
                <a:schemeClr val="lt1"/>
              </a:highlight>
            </a:endParaRPr>
          </a:p>
          <a:p>
            <a:pPr marL="457200" marR="241300" lvl="0" indent="-298450" algn="l" rtl="0">
              <a:lnSpc>
                <a:spcPct val="118750"/>
              </a:lnSpc>
              <a:spcBef>
                <a:spcPts val="0"/>
              </a:spcBef>
              <a:spcAft>
                <a:spcPts val="0"/>
              </a:spcAft>
              <a:buClr>
                <a:schemeClr val="dk1"/>
              </a:buClr>
              <a:buSzPts val="1100"/>
              <a:buChar char="●"/>
            </a:pPr>
            <a:r>
              <a:rPr lang="en" sz="1100">
                <a:solidFill>
                  <a:schemeClr val="dk1"/>
                </a:solidFill>
                <a:highlight>
                  <a:schemeClr val="lt1"/>
                </a:highlight>
              </a:rPr>
              <a:t>Web – Based Intelligent Inventory Management Systemhttps://www.researchgate.net/publication/317276986_WEB_-_BASED_INTELLIGENT_INVENTORY_MANAGEMENT_SYSTEM</a:t>
            </a:r>
            <a:endParaRPr sz="1100">
              <a:solidFill>
                <a:schemeClr val="dk1"/>
              </a:solidFill>
              <a:highlight>
                <a:schemeClr val="lt1"/>
              </a:highlight>
            </a:endParaRPr>
          </a:p>
          <a:p>
            <a:pPr marL="457200" marR="241300" lvl="0" indent="0" algn="l" rtl="0">
              <a:lnSpc>
                <a:spcPct val="118750"/>
              </a:lnSpc>
              <a:spcBef>
                <a:spcPts val="0"/>
              </a:spcBef>
              <a:spcAft>
                <a:spcPts val="0"/>
              </a:spcAft>
              <a:buNone/>
            </a:pPr>
            <a:endParaRPr sz="1100">
              <a:solidFill>
                <a:schemeClr val="dk1"/>
              </a:solidFill>
              <a:highlight>
                <a:schemeClr val="lt1"/>
              </a:highlight>
            </a:endParaRPr>
          </a:p>
        </p:txBody>
      </p:sp>
      <p:sp>
        <p:nvSpPr>
          <p:cNvPr id="240" name="Google Shape;240;p35"/>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6"/>
          <p:cNvSpPr txBox="1">
            <a:spLocks noGrp="1"/>
          </p:cNvSpPr>
          <p:nvPr>
            <p:ph type="title"/>
          </p:nvPr>
        </p:nvSpPr>
        <p:spPr>
          <a:xfrm>
            <a:off x="2989646" y="1738344"/>
            <a:ext cx="3273742" cy="805180"/>
          </a:xfrm>
          <a:prstGeom prst="rect">
            <a:avLst/>
          </a:prstGeom>
          <a:noFill/>
          <a:ln>
            <a:noFill/>
          </a:ln>
        </p:spPr>
        <p:txBody>
          <a:bodyPr spcFirstLastPara="1" wrap="square" lIns="0" tIns="6350" rIns="0" bIns="0" anchor="t" anchorCtr="0">
            <a:spAutoFit/>
          </a:bodyPr>
          <a:lstStyle/>
          <a:p>
            <a:pPr marL="12700" lvl="0" indent="0" algn="l" rtl="0">
              <a:lnSpc>
                <a:spcPct val="100000"/>
              </a:lnSpc>
              <a:spcBef>
                <a:spcPts val="0"/>
              </a:spcBef>
              <a:spcAft>
                <a:spcPts val="0"/>
              </a:spcAft>
              <a:buNone/>
            </a:pPr>
            <a:r>
              <a:rPr lang="en" sz="5200">
                <a:solidFill>
                  <a:srgbClr val="000000"/>
                </a:solidFill>
                <a:latin typeface="Trebuchet MS"/>
                <a:ea typeface="Trebuchet MS"/>
                <a:cs typeface="Trebuchet MS"/>
                <a:sym typeface="Trebuchet MS"/>
              </a:rPr>
              <a:t>THANK YOU</a:t>
            </a:r>
            <a:endParaRPr sz="5200">
              <a:latin typeface="Trebuchet MS"/>
              <a:ea typeface="Trebuchet MS"/>
              <a:cs typeface="Trebuchet MS"/>
              <a:sym typeface="Trebuchet MS"/>
            </a:endParaRPr>
          </a:p>
        </p:txBody>
      </p:sp>
      <p:sp>
        <p:nvSpPr>
          <p:cNvPr id="246" name="Google Shape;246;p36"/>
          <p:cNvSpPr txBox="1">
            <a:spLocks noGrp="1"/>
          </p:cNvSpPr>
          <p:nvPr>
            <p:ph type="ftr" idx="11"/>
          </p:nvPr>
        </p:nvSpPr>
        <p:spPr>
          <a:xfrm>
            <a:off x="3621218" y="4871159"/>
            <a:ext cx="2010410" cy="153988"/>
          </a:xfrm>
          <a:prstGeom prst="rect">
            <a:avLst/>
          </a:prstGeom>
          <a:noFill/>
          <a:ln>
            <a:noFill/>
          </a:ln>
        </p:spPr>
        <p:txBody>
          <a:bodyPr spcFirstLastPara="1" wrap="square" lIns="0" tIns="0" rIns="0" bIns="0" anchor="t" anchorCtr="0">
            <a:spAutoFit/>
          </a:bodyPr>
          <a:lstStyle/>
          <a:p>
            <a:pPr marL="12700" lvl="0" indent="0" algn="l" rtl="0">
              <a:lnSpc>
                <a:spcPct val="122222"/>
              </a:lnSpc>
              <a:spcBef>
                <a:spcPts val="0"/>
              </a:spcBef>
              <a:spcAft>
                <a:spcPts val="0"/>
              </a:spcAft>
              <a:buNone/>
            </a:pPr>
            <a:r>
              <a:rPr lang="en"/>
              <a:t>Department of Computer Engineering</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4AAC"/>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TotalTime>
  <Words>2525</Words>
  <Application>Microsoft Office PowerPoint</Application>
  <PresentationFormat>On-screen Show (16:9)</PresentationFormat>
  <Paragraphs>223</Paragraphs>
  <Slides>23</Slides>
  <Notes>19</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23</vt:i4>
      </vt:variant>
    </vt:vector>
  </HeadingPairs>
  <TitlesOfParts>
    <vt:vector size="32" baseType="lpstr">
      <vt:lpstr>Arial</vt:lpstr>
      <vt:lpstr>Wingdings</vt:lpstr>
      <vt:lpstr>Trebuchet MS</vt:lpstr>
      <vt:lpstr>Times New Roman</vt:lpstr>
      <vt:lpstr>Calibri</vt:lpstr>
      <vt:lpstr>Tahoma</vt:lpstr>
      <vt:lpstr>Manrope</vt:lpstr>
      <vt:lpstr>Simple Light</vt:lpstr>
      <vt:lpstr>Office Theme</vt:lpstr>
      <vt:lpstr>Integrated Business Operations Platform  (IBOP)</vt:lpstr>
      <vt:lpstr>Introduction</vt:lpstr>
      <vt:lpstr>Literature Review</vt:lpstr>
      <vt:lpstr>Literature Review</vt:lpstr>
      <vt:lpstr>Literature Review</vt:lpstr>
      <vt:lpstr>Literature Review</vt:lpstr>
      <vt:lpstr>Literature Review</vt:lpstr>
      <vt:lpstr>Problem Statement</vt:lpstr>
      <vt:lpstr>Objectives</vt:lpstr>
      <vt:lpstr>Core Features of IBOP </vt:lpstr>
      <vt:lpstr>PowerPoint Presentation</vt:lpstr>
      <vt:lpstr>Technologies Used</vt:lpstr>
      <vt:lpstr>Architecture Diagram</vt:lpstr>
      <vt:lpstr>Operational Workflow of IBOP</vt:lpstr>
      <vt:lpstr>RBAC Authentication Workflow</vt:lpstr>
      <vt:lpstr>Implementation</vt:lpstr>
      <vt:lpstr>Implementation</vt:lpstr>
      <vt:lpstr>Results Achieved</vt:lpstr>
      <vt:lpstr>Future Scope</vt:lpstr>
      <vt:lpstr>Conclusion</vt:lpstr>
      <vt:lpstr>References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mann79000@gmail.com</cp:lastModifiedBy>
  <cp:revision>4</cp:revision>
  <dcterms:modified xsi:type="dcterms:W3CDTF">2026-05-19T07:19:51Z</dcterms:modified>
</cp:coreProperties>
</file>
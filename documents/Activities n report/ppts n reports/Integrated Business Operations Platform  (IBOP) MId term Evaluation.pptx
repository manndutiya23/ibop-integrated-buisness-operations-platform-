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5"/>
    <p:sldMasterId id="214748366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embeddedFontLst>
    <p:embeddedFont>
      <p:font typeface="Manrope"/>
      <p:regular r:id="rId26"/>
      <p:bold r:id="rId27"/>
    </p:embeddedFont>
    <p:embeddedFont>
      <p:font typeface="Tahoma"/>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CE46F92-1EF2-4096-A548-2BCCBEC776F4}">
  <a:tblStyle styleId="{ACE46F92-1EF2-4096-A548-2BCCBEC776F4}"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Manrope-regular.fntdata"/><Relationship Id="rId25" Type="http://schemas.openxmlformats.org/officeDocument/2006/relationships/slide" Target="slides/slide18.xml"/><Relationship Id="rId28" Type="http://schemas.openxmlformats.org/officeDocument/2006/relationships/font" Target="fonts/Tahoma-regular.fntdata"/><Relationship Id="rId27" Type="http://schemas.openxmlformats.org/officeDocument/2006/relationships/font" Target="fonts/Manrope-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Tahoma-bold.fntdata"/><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d8ba41f628_2_51:notes"/>
          <p:cNvSpPr txBox="1"/>
          <p:nvPr>
            <p:ph idx="1" type="body"/>
          </p:nvPr>
        </p:nvSpPr>
        <p:spPr>
          <a:xfrm>
            <a:off x="685800" y="4343400"/>
            <a:ext cx="5486400" cy="41148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t/>
            </a:r>
            <a:endParaRPr/>
          </a:p>
        </p:txBody>
      </p:sp>
      <p:sp>
        <p:nvSpPr>
          <p:cNvPr id="103" name="Google Shape;103;g3d8ba41f628_2_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d8ba41f628_2_65:notes"/>
          <p:cNvSpPr txBox="1"/>
          <p:nvPr>
            <p:ph idx="1" type="body"/>
          </p:nvPr>
        </p:nvSpPr>
        <p:spPr>
          <a:xfrm>
            <a:off x="685800" y="4343400"/>
            <a:ext cx="5486400" cy="41148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t/>
            </a:r>
            <a:endParaRPr/>
          </a:p>
        </p:txBody>
      </p:sp>
      <p:sp>
        <p:nvSpPr>
          <p:cNvPr id="117" name="Google Shape;117;g3d8ba41f628_2_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8ba41f628_2_76:notes"/>
          <p:cNvSpPr txBox="1"/>
          <p:nvPr>
            <p:ph idx="1" type="body"/>
          </p:nvPr>
        </p:nvSpPr>
        <p:spPr>
          <a:xfrm>
            <a:off x="685800" y="4343400"/>
            <a:ext cx="5486400" cy="41148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t/>
            </a:r>
            <a:endParaRPr/>
          </a:p>
        </p:txBody>
      </p:sp>
      <p:sp>
        <p:nvSpPr>
          <p:cNvPr id="124" name="Google Shape;124;g3d8ba41f628_2_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d8ba41f628_0_26:notes"/>
          <p:cNvSpPr txBox="1"/>
          <p:nvPr>
            <p:ph idx="1" type="body"/>
          </p:nvPr>
        </p:nvSpPr>
        <p:spPr>
          <a:xfrm>
            <a:off x="685800" y="4343400"/>
            <a:ext cx="5486400" cy="41148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t/>
            </a:r>
            <a:endParaRPr/>
          </a:p>
        </p:txBody>
      </p:sp>
      <p:sp>
        <p:nvSpPr>
          <p:cNvPr id="131" name="Google Shape;131;g3d8ba41f628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8ba41f628_0_32:notes"/>
          <p:cNvSpPr txBox="1"/>
          <p:nvPr>
            <p:ph idx="1" type="body"/>
          </p:nvPr>
        </p:nvSpPr>
        <p:spPr>
          <a:xfrm>
            <a:off x="685800" y="4343400"/>
            <a:ext cx="5486400" cy="41148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t/>
            </a:r>
            <a:endParaRPr/>
          </a:p>
        </p:txBody>
      </p:sp>
      <p:sp>
        <p:nvSpPr>
          <p:cNvPr id="138" name="Google Shape;138;g3d8ba41f628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d8ba41f628_0_38:notes"/>
          <p:cNvSpPr txBox="1"/>
          <p:nvPr>
            <p:ph idx="1" type="body"/>
          </p:nvPr>
        </p:nvSpPr>
        <p:spPr>
          <a:xfrm>
            <a:off x="685800" y="4343400"/>
            <a:ext cx="5486400" cy="41148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t/>
            </a:r>
            <a:endParaRPr/>
          </a:p>
        </p:txBody>
      </p:sp>
      <p:sp>
        <p:nvSpPr>
          <p:cNvPr id="145" name="Google Shape;145;g3d8ba41f628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d8ba41f628_0_44:notes"/>
          <p:cNvSpPr txBox="1"/>
          <p:nvPr>
            <p:ph idx="1" type="body"/>
          </p:nvPr>
        </p:nvSpPr>
        <p:spPr>
          <a:xfrm>
            <a:off x="685800" y="4343400"/>
            <a:ext cx="5486400" cy="41148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t/>
            </a:r>
            <a:endParaRPr/>
          </a:p>
        </p:txBody>
      </p:sp>
      <p:sp>
        <p:nvSpPr>
          <p:cNvPr id="152" name="Google Shape;152;g3d8ba41f628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d8ba41f628_2_112:notes"/>
          <p:cNvSpPr txBox="1"/>
          <p:nvPr>
            <p:ph idx="1" type="body"/>
          </p:nvPr>
        </p:nvSpPr>
        <p:spPr>
          <a:xfrm>
            <a:off x="685800" y="4343400"/>
            <a:ext cx="5486400" cy="41148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t/>
            </a:r>
            <a:endParaRPr/>
          </a:p>
        </p:txBody>
      </p:sp>
      <p:sp>
        <p:nvSpPr>
          <p:cNvPr id="159" name="Google Shape;159;g3d8ba41f628_2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8ba41f628_2_118:notes"/>
          <p:cNvSpPr txBox="1"/>
          <p:nvPr>
            <p:ph idx="1" type="body"/>
          </p:nvPr>
        </p:nvSpPr>
        <p:spPr>
          <a:xfrm>
            <a:off x="685800" y="4343400"/>
            <a:ext cx="5486400" cy="41148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t/>
            </a:r>
            <a:endParaRPr/>
          </a:p>
        </p:txBody>
      </p:sp>
      <p:sp>
        <p:nvSpPr>
          <p:cNvPr id="166" name="Google Shape;166;g3d8ba41f628_2_1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d8ba41f628_2_124:notes"/>
          <p:cNvSpPr txBox="1"/>
          <p:nvPr>
            <p:ph idx="1" type="body"/>
          </p:nvPr>
        </p:nvSpPr>
        <p:spPr>
          <a:xfrm>
            <a:off x="685800" y="4343400"/>
            <a:ext cx="5486400" cy="41148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t/>
            </a:r>
            <a:endParaRPr/>
          </a:p>
        </p:txBody>
      </p:sp>
      <p:sp>
        <p:nvSpPr>
          <p:cNvPr id="173" name="Google Shape;173;g3d8ba41f628_2_1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d8ba41f628_2_145:notes"/>
          <p:cNvSpPr txBox="1"/>
          <p:nvPr>
            <p:ph idx="1" type="body"/>
          </p:nvPr>
        </p:nvSpPr>
        <p:spPr>
          <a:xfrm>
            <a:off x="685800" y="4343400"/>
            <a:ext cx="5486400" cy="41148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t/>
            </a:r>
            <a:endParaRPr/>
          </a:p>
        </p:txBody>
      </p:sp>
      <p:sp>
        <p:nvSpPr>
          <p:cNvPr id="182" name="Google Shape;182;g3d8ba41f628_2_1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d8ba41f628_2_169:notes"/>
          <p:cNvSpPr txBox="1"/>
          <p:nvPr>
            <p:ph idx="1" type="body"/>
          </p:nvPr>
        </p:nvSpPr>
        <p:spPr>
          <a:xfrm>
            <a:off x="685800" y="4343400"/>
            <a:ext cx="5486400" cy="41148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t/>
            </a:r>
            <a:endParaRPr/>
          </a:p>
        </p:txBody>
      </p:sp>
      <p:sp>
        <p:nvSpPr>
          <p:cNvPr id="193" name="Google Shape;193;g3d8ba41f628_2_1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d8ba41f628_2_175:notes"/>
          <p:cNvSpPr txBox="1"/>
          <p:nvPr>
            <p:ph idx="1" type="body"/>
          </p:nvPr>
        </p:nvSpPr>
        <p:spPr>
          <a:xfrm>
            <a:off x="685800" y="4343400"/>
            <a:ext cx="5486400" cy="41148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t/>
            </a:r>
            <a:endParaRPr/>
          </a:p>
        </p:txBody>
      </p:sp>
      <p:sp>
        <p:nvSpPr>
          <p:cNvPr id="200" name="Google Shape;200;g3d8ba41f628_2_1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d8ba41f628_0_124:notes"/>
          <p:cNvSpPr txBox="1"/>
          <p:nvPr>
            <p:ph idx="1" type="body"/>
          </p:nvPr>
        </p:nvSpPr>
        <p:spPr>
          <a:xfrm>
            <a:off x="685800" y="4343400"/>
            <a:ext cx="5486400" cy="41148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t/>
            </a:r>
            <a:endParaRPr/>
          </a:p>
        </p:txBody>
      </p:sp>
      <p:sp>
        <p:nvSpPr>
          <p:cNvPr id="207" name="Google Shape;207;g3d8ba41f628_0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d8ba41f628_2_187:notes"/>
          <p:cNvSpPr txBox="1"/>
          <p:nvPr>
            <p:ph idx="1" type="body"/>
          </p:nvPr>
        </p:nvSpPr>
        <p:spPr>
          <a:xfrm>
            <a:off x="685800" y="4343400"/>
            <a:ext cx="5486400" cy="41148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t/>
            </a:r>
            <a:endParaRPr/>
          </a:p>
        </p:txBody>
      </p:sp>
      <p:sp>
        <p:nvSpPr>
          <p:cNvPr id="221" name="Google Shape;221;g3d8ba41f628_2_1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d8ba41f628_2_198:notes"/>
          <p:cNvSpPr txBox="1"/>
          <p:nvPr>
            <p:ph idx="1" type="body"/>
          </p:nvPr>
        </p:nvSpPr>
        <p:spPr>
          <a:xfrm>
            <a:off x="685800" y="4343400"/>
            <a:ext cx="5486400" cy="41148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t/>
            </a:r>
            <a:endParaRPr/>
          </a:p>
        </p:txBody>
      </p:sp>
      <p:sp>
        <p:nvSpPr>
          <p:cNvPr id="229" name="Google Shape;229;g3d8ba41f628_2_19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d8ba41f628_2_210:notes"/>
          <p:cNvSpPr txBox="1"/>
          <p:nvPr>
            <p:ph idx="1" type="body"/>
          </p:nvPr>
        </p:nvSpPr>
        <p:spPr>
          <a:xfrm>
            <a:off x="685800" y="4343400"/>
            <a:ext cx="5486400" cy="41148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t/>
            </a:r>
            <a:endParaRPr/>
          </a:p>
        </p:txBody>
      </p:sp>
      <p:sp>
        <p:nvSpPr>
          <p:cNvPr id="236" name="Google Shape;236;g3d8ba41f628_2_2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d8ba41f628_2_223:notes"/>
          <p:cNvSpPr txBox="1"/>
          <p:nvPr>
            <p:ph idx="1" type="body"/>
          </p:nvPr>
        </p:nvSpPr>
        <p:spPr>
          <a:xfrm>
            <a:off x="685800" y="4343400"/>
            <a:ext cx="5486400" cy="4114800"/>
          </a:xfrm>
          <a:prstGeom prst="rect">
            <a:avLst/>
          </a:prstGeom>
        </p:spPr>
        <p:txBody>
          <a:bodyPr anchorCtr="0" anchor="t" bIns="49950" lIns="49950" spcFirstLastPara="1" rIns="49950" wrap="square" tIns="49950">
            <a:noAutofit/>
          </a:bodyPr>
          <a:lstStyle/>
          <a:p>
            <a:pPr indent="0" lvl="0" marL="0" rtl="0" algn="l">
              <a:spcBef>
                <a:spcPts val="0"/>
              </a:spcBef>
              <a:spcAft>
                <a:spcPts val="0"/>
              </a:spcAft>
              <a:buNone/>
            </a:pPr>
            <a:r>
              <a:t/>
            </a:r>
            <a:endParaRPr/>
          </a:p>
        </p:txBody>
      </p:sp>
      <p:sp>
        <p:nvSpPr>
          <p:cNvPr id="243" name="Google Shape;243;g3d8ba41f628_2_2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8.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6.jpg"/><Relationship Id="rId5" Type="http://schemas.openxmlformats.org/officeDocument/2006/relationships/image" Target="../media/image8.jpg"/><Relationship Id="rId6" Type="http://schemas.openxmlformats.org/officeDocument/2006/relationships/image" Target="../media/image15.png"/><Relationship Id="rId7" Type="http://schemas.openxmlformats.org/officeDocument/2006/relationships/image" Target="../media/image18.jpg"/><Relationship Id="rId8" Type="http://schemas.openxmlformats.org/officeDocument/2006/relationships/image" Target="../media/image17.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0" name="Shape 60"/>
        <p:cNvGrpSpPr/>
        <p:nvPr/>
      </p:nvGrpSpPr>
      <p:grpSpPr>
        <a:xfrm>
          <a:off x="0" y="0"/>
          <a:ext cx="0" cy="0"/>
          <a:chOff x="0" y="0"/>
          <a:chExt cx="0" cy="0"/>
        </a:xfrm>
      </p:grpSpPr>
      <p:sp>
        <p:nvSpPr>
          <p:cNvPr id="61" name="Google Shape;61;p14"/>
          <p:cNvSpPr txBox="1"/>
          <p:nvPr>
            <p:ph type="title"/>
          </p:nvPr>
        </p:nvSpPr>
        <p:spPr>
          <a:xfrm>
            <a:off x="2110156" y="-77105"/>
            <a:ext cx="5347315" cy="851988"/>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700"/>
              <a:buNone/>
              <a:defRPr b="0" i="0" sz="3100">
                <a:solidFill>
                  <a:srgbClr val="BF0000"/>
                </a:solidFill>
                <a:latin typeface="Tahoma"/>
                <a:ea typeface="Tahoma"/>
                <a:cs typeface="Tahoma"/>
                <a:sym typeface="Tahoma"/>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4"/>
          <p:cNvSpPr txBox="1"/>
          <p:nvPr>
            <p:ph idx="1" type="body"/>
          </p:nvPr>
        </p:nvSpPr>
        <p:spPr>
          <a:xfrm>
            <a:off x="557166" y="948550"/>
            <a:ext cx="7997508" cy="328104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700"/>
              <a:buNone/>
              <a:defRPr b="0" i="0" sz="1300">
                <a:solidFill>
                  <a:srgbClr val="CC2B4B"/>
                </a:solidFill>
                <a:latin typeface="Tahoma"/>
                <a:ea typeface="Tahoma"/>
                <a:cs typeface="Tahoma"/>
                <a:sym typeface="Tahoma"/>
              </a:defRPr>
            </a:lvl1pPr>
            <a:lvl2pPr indent="-228600" lvl="1" marL="914400" algn="l">
              <a:spcBef>
                <a:spcPts val="0"/>
              </a:spcBef>
              <a:spcAft>
                <a:spcPts val="0"/>
              </a:spcAft>
              <a:buSzPts val="700"/>
              <a:buNone/>
              <a:defRPr/>
            </a:lvl2pPr>
            <a:lvl3pPr indent="-228600" lvl="2" marL="1371600" algn="l">
              <a:spcBef>
                <a:spcPts val="0"/>
              </a:spcBef>
              <a:spcAft>
                <a:spcPts val="0"/>
              </a:spcAft>
              <a:buSzPts val="700"/>
              <a:buNone/>
              <a:defRPr/>
            </a:lvl3pPr>
            <a:lvl4pPr indent="-228600" lvl="3" marL="1828800" algn="l">
              <a:spcBef>
                <a:spcPts val="0"/>
              </a:spcBef>
              <a:spcAft>
                <a:spcPts val="0"/>
              </a:spcAft>
              <a:buSzPts val="700"/>
              <a:buNone/>
              <a:defRPr/>
            </a:lvl4pPr>
            <a:lvl5pPr indent="-228600" lvl="4" marL="2286000" algn="l">
              <a:spcBef>
                <a:spcPts val="0"/>
              </a:spcBef>
              <a:spcAft>
                <a:spcPts val="0"/>
              </a:spcAft>
              <a:buSzPts val="700"/>
              <a:buNone/>
              <a:defRPr/>
            </a:lvl5pPr>
            <a:lvl6pPr indent="-228600" lvl="5" marL="2743200" algn="l">
              <a:spcBef>
                <a:spcPts val="0"/>
              </a:spcBef>
              <a:spcAft>
                <a:spcPts val="0"/>
              </a:spcAft>
              <a:buSzPts val="700"/>
              <a:buNone/>
              <a:defRPr/>
            </a:lvl6pPr>
            <a:lvl7pPr indent="-228600" lvl="6" marL="3200400" algn="l">
              <a:spcBef>
                <a:spcPts val="0"/>
              </a:spcBef>
              <a:spcAft>
                <a:spcPts val="0"/>
              </a:spcAft>
              <a:buSzPts val="700"/>
              <a:buNone/>
              <a:defRPr/>
            </a:lvl7pPr>
            <a:lvl8pPr indent="-228600" lvl="7" marL="3657600" algn="l">
              <a:spcBef>
                <a:spcPts val="0"/>
              </a:spcBef>
              <a:spcAft>
                <a:spcPts val="0"/>
              </a:spcAft>
              <a:buSzPts val="700"/>
              <a:buNone/>
              <a:defRPr/>
            </a:lvl8pPr>
            <a:lvl9pPr indent="-228600" lvl="8" marL="4114800" algn="l">
              <a:spcBef>
                <a:spcPts val="0"/>
              </a:spcBef>
              <a:spcAft>
                <a:spcPts val="0"/>
              </a:spcAft>
              <a:buSzPts val="700"/>
              <a:buNone/>
              <a:defRPr/>
            </a:lvl9pPr>
          </a:lstStyle>
          <a:p/>
        </p:txBody>
      </p:sp>
      <p:sp>
        <p:nvSpPr>
          <p:cNvPr id="63" name="Google Shape;63;p14"/>
          <p:cNvSpPr txBox="1"/>
          <p:nvPr>
            <p:ph idx="11" type="ftr"/>
          </p:nvPr>
        </p:nvSpPr>
        <p:spPr>
          <a:xfrm>
            <a:off x="3621218" y="4871159"/>
            <a:ext cx="2010410" cy="153988"/>
          </a:xfrm>
          <a:prstGeom prst="rect">
            <a:avLst/>
          </a:prstGeom>
          <a:noFill/>
          <a:ln>
            <a:noFill/>
          </a:ln>
        </p:spPr>
        <p:txBody>
          <a:bodyPr anchorCtr="0" anchor="t" bIns="0" lIns="0" spcFirstLastPara="1" rIns="0" wrap="square" tIns="0">
            <a:spAutoFit/>
          </a:bodyPr>
          <a:lstStyle>
            <a:lvl1pPr lvl="0">
              <a:spcBef>
                <a:spcPts val="0"/>
              </a:spcBef>
              <a:spcAft>
                <a:spcPts val="0"/>
              </a:spcAft>
              <a:buSzPts val="700"/>
              <a:buNone/>
              <a:defRPr b="0" i="0" sz="900">
                <a:solidFill>
                  <a:schemeClr val="lt1"/>
                </a:solidFill>
                <a:latin typeface="Trebuchet MS"/>
                <a:ea typeface="Trebuchet MS"/>
                <a:cs typeface="Trebuchet MS"/>
                <a:sym typeface="Trebuchet MS"/>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4" name="Google Shape;64;p14"/>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700"/>
              <a:buNone/>
              <a:defRPr>
                <a:solidFill>
                  <a:srgbClr val="888888"/>
                </a:solidFill>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5" name="Google Shape;65;p14"/>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66" name="Shape 66"/>
        <p:cNvGrpSpPr/>
        <p:nvPr/>
      </p:nvGrpSpPr>
      <p:grpSpPr>
        <a:xfrm>
          <a:off x="0" y="0"/>
          <a:ext cx="0" cy="0"/>
          <a:chOff x="0" y="0"/>
          <a:chExt cx="0" cy="0"/>
        </a:xfrm>
      </p:grpSpPr>
      <p:sp>
        <p:nvSpPr>
          <p:cNvPr id="67" name="Google Shape;67;p15"/>
          <p:cNvSpPr txBox="1"/>
          <p:nvPr>
            <p:ph type="title"/>
          </p:nvPr>
        </p:nvSpPr>
        <p:spPr>
          <a:xfrm>
            <a:off x="2110156" y="-77105"/>
            <a:ext cx="5347315" cy="851988"/>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700"/>
              <a:buNone/>
              <a:defRPr b="0" i="0" sz="3100">
                <a:solidFill>
                  <a:srgbClr val="BF0000"/>
                </a:solidFill>
                <a:latin typeface="Tahoma"/>
                <a:ea typeface="Tahoma"/>
                <a:cs typeface="Tahoma"/>
                <a:sym typeface="Tahoma"/>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5"/>
          <p:cNvSpPr txBox="1"/>
          <p:nvPr>
            <p:ph idx="11" type="ftr"/>
          </p:nvPr>
        </p:nvSpPr>
        <p:spPr>
          <a:xfrm>
            <a:off x="3621218" y="4871159"/>
            <a:ext cx="2010410" cy="153988"/>
          </a:xfrm>
          <a:prstGeom prst="rect">
            <a:avLst/>
          </a:prstGeom>
          <a:noFill/>
          <a:ln>
            <a:noFill/>
          </a:ln>
        </p:spPr>
        <p:txBody>
          <a:bodyPr anchorCtr="0" anchor="t" bIns="0" lIns="0" spcFirstLastPara="1" rIns="0" wrap="square" tIns="0">
            <a:spAutoFit/>
          </a:bodyPr>
          <a:lstStyle>
            <a:lvl1pPr lvl="0">
              <a:spcBef>
                <a:spcPts val="0"/>
              </a:spcBef>
              <a:spcAft>
                <a:spcPts val="0"/>
              </a:spcAft>
              <a:buSzPts val="700"/>
              <a:buNone/>
              <a:defRPr b="0" i="0" sz="900">
                <a:solidFill>
                  <a:schemeClr val="lt1"/>
                </a:solidFill>
                <a:latin typeface="Trebuchet MS"/>
                <a:ea typeface="Trebuchet MS"/>
                <a:cs typeface="Trebuchet MS"/>
                <a:sym typeface="Trebuchet MS"/>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9" name="Google Shape;69;p15"/>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700"/>
              <a:buNone/>
              <a:defRPr>
                <a:solidFill>
                  <a:srgbClr val="888888"/>
                </a:solidFill>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0" name="Google Shape;70;p15"/>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71" name="Shape 71"/>
        <p:cNvGrpSpPr/>
        <p:nvPr/>
      </p:nvGrpSpPr>
      <p:grpSpPr>
        <a:xfrm>
          <a:off x="0" y="0"/>
          <a:ext cx="0" cy="0"/>
          <a:chOff x="0" y="0"/>
          <a:chExt cx="0" cy="0"/>
        </a:xfrm>
      </p:grpSpPr>
      <p:pic>
        <p:nvPicPr>
          <p:cNvPr id="72" name="Google Shape;72;p16"/>
          <p:cNvPicPr preferRelativeResize="0"/>
          <p:nvPr/>
        </p:nvPicPr>
        <p:blipFill rotWithShape="1">
          <a:blip r:embed="rId2">
            <a:alphaModFix/>
          </a:blip>
          <a:srcRect b="0" l="0" r="0" t="0"/>
          <a:stretch/>
        </p:blipFill>
        <p:spPr>
          <a:xfrm>
            <a:off x="1" y="4865257"/>
            <a:ext cx="9143998" cy="278243"/>
          </a:xfrm>
          <a:prstGeom prst="rect">
            <a:avLst/>
          </a:prstGeom>
          <a:noFill/>
          <a:ln>
            <a:noFill/>
          </a:ln>
        </p:spPr>
      </p:pic>
      <p:pic>
        <p:nvPicPr>
          <p:cNvPr id="73" name="Google Shape;73;p16"/>
          <p:cNvPicPr preferRelativeResize="0"/>
          <p:nvPr/>
        </p:nvPicPr>
        <p:blipFill rotWithShape="1">
          <a:blip r:embed="rId3">
            <a:alphaModFix/>
          </a:blip>
          <a:srcRect b="0" l="0" r="0" t="0"/>
          <a:stretch/>
        </p:blipFill>
        <p:spPr>
          <a:xfrm>
            <a:off x="0" y="4737108"/>
            <a:ext cx="6999768" cy="136182"/>
          </a:xfrm>
          <a:prstGeom prst="rect">
            <a:avLst/>
          </a:prstGeom>
          <a:noFill/>
          <a:ln>
            <a:noFill/>
          </a:ln>
        </p:spPr>
      </p:pic>
      <p:pic>
        <p:nvPicPr>
          <p:cNvPr id="74" name="Google Shape;74;p16"/>
          <p:cNvPicPr preferRelativeResize="0"/>
          <p:nvPr/>
        </p:nvPicPr>
        <p:blipFill rotWithShape="1">
          <a:blip r:embed="rId4">
            <a:alphaModFix/>
          </a:blip>
          <a:srcRect b="0" l="0" r="0" t="0"/>
          <a:stretch/>
        </p:blipFill>
        <p:spPr>
          <a:xfrm>
            <a:off x="8451091" y="0"/>
            <a:ext cx="692909" cy="557316"/>
          </a:xfrm>
          <a:prstGeom prst="rect">
            <a:avLst/>
          </a:prstGeom>
          <a:noFill/>
          <a:ln>
            <a:noFill/>
          </a:ln>
        </p:spPr>
      </p:pic>
      <p:pic>
        <p:nvPicPr>
          <p:cNvPr id="75" name="Google Shape;75;p16"/>
          <p:cNvPicPr preferRelativeResize="0"/>
          <p:nvPr/>
        </p:nvPicPr>
        <p:blipFill rotWithShape="1">
          <a:blip r:embed="rId5">
            <a:alphaModFix/>
          </a:blip>
          <a:srcRect b="0" l="0" r="0" t="0"/>
          <a:stretch/>
        </p:blipFill>
        <p:spPr>
          <a:xfrm>
            <a:off x="146510" y="87549"/>
            <a:ext cx="1714172" cy="539885"/>
          </a:xfrm>
          <a:prstGeom prst="rect">
            <a:avLst/>
          </a:prstGeom>
          <a:noFill/>
          <a:ln>
            <a:noFill/>
          </a:ln>
        </p:spPr>
      </p:pic>
      <p:sp>
        <p:nvSpPr>
          <p:cNvPr id="76" name="Google Shape;76;p16"/>
          <p:cNvSpPr/>
          <p:nvPr/>
        </p:nvSpPr>
        <p:spPr>
          <a:xfrm>
            <a:off x="248110" y="961179"/>
            <a:ext cx="4237355" cy="3766503"/>
          </a:xfrm>
          <a:custGeom>
            <a:rect b="b" l="l" r="r" t="t"/>
            <a:pathLst>
              <a:path extrusionOk="0" h="7533005" w="8474710">
                <a:moveTo>
                  <a:pt x="8328343" y="7532826"/>
                </a:moveTo>
                <a:lnTo>
                  <a:pt x="152400" y="7532826"/>
                </a:lnTo>
                <a:lnTo>
                  <a:pt x="104229" y="7525057"/>
                </a:lnTo>
                <a:lnTo>
                  <a:pt x="62394" y="7503422"/>
                </a:lnTo>
                <a:lnTo>
                  <a:pt x="29404" y="7470432"/>
                </a:lnTo>
                <a:lnTo>
                  <a:pt x="7769" y="7428597"/>
                </a:lnTo>
                <a:lnTo>
                  <a:pt x="0" y="7380426"/>
                </a:lnTo>
                <a:lnTo>
                  <a:pt x="0" y="152400"/>
                </a:lnTo>
                <a:lnTo>
                  <a:pt x="7769" y="104229"/>
                </a:lnTo>
                <a:lnTo>
                  <a:pt x="29404" y="62394"/>
                </a:lnTo>
                <a:lnTo>
                  <a:pt x="62394" y="29404"/>
                </a:lnTo>
                <a:lnTo>
                  <a:pt x="104229" y="7769"/>
                </a:lnTo>
                <a:lnTo>
                  <a:pt x="152400" y="0"/>
                </a:lnTo>
                <a:lnTo>
                  <a:pt x="8328343" y="0"/>
                </a:lnTo>
                <a:lnTo>
                  <a:pt x="8376514" y="7769"/>
                </a:lnTo>
                <a:lnTo>
                  <a:pt x="8418349" y="29404"/>
                </a:lnTo>
                <a:lnTo>
                  <a:pt x="8451339" y="62394"/>
                </a:lnTo>
                <a:lnTo>
                  <a:pt x="8472974" y="104229"/>
                </a:lnTo>
                <a:lnTo>
                  <a:pt x="8474430" y="113255"/>
                </a:lnTo>
                <a:lnTo>
                  <a:pt x="8474430" y="7419571"/>
                </a:lnTo>
                <a:lnTo>
                  <a:pt x="8451339" y="7470432"/>
                </a:lnTo>
                <a:lnTo>
                  <a:pt x="8418349" y="7503422"/>
                </a:lnTo>
                <a:lnTo>
                  <a:pt x="8376514" y="7525057"/>
                </a:lnTo>
                <a:lnTo>
                  <a:pt x="8328343" y="7532826"/>
                </a:lnTo>
                <a:close/>
              </a:path>
            </a:pathLst>
          </a:custGeom>
          <a:solidFill>
            <a:srgbClr val="C2DB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700"/>
          </a:p>
        </p:txBody>
      </p:sp>
      <p:sp>
        <p:nvSpPr>
          <p:cNvPr id="77" name="Google Shape;77;p16"/>
          <p:cNvSpPr txBox="1"/>
          <p:nvPr>
            <p:ph type="title"/>
          </p:nvPr>
        </p:nvSpPr>
        <p:spPr>
          <a:xfrm>
            <a:off x="2110156" y="-77105"/>
            <a:ext cx="5347315" cy="851988"/>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700"/>
              <a:buNone/>
              <a:defRPr b="0" i="0" sz="3100">
                <a:solidFill>
                  <a:srgbClr val="BF0000"/>
                </a:solidFill>
                <a:latin typeface="Tahoma"/>
                <a:ea typeface="Tahoma"/>
                <a:cs typeface="Tahoma"/>
                <a:sym typeface="Tahoma"/>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8" name="Google Shape;78;p16"/>
          <p:cNvSpPr txBox="1"/>
          <p:nvPr>
            <p:ph idx="1" type="body"/>
          </p:nvPr>
        </p:nvSpPr>
        <p:spPr>
          <a:xfrm>
            <a:off x="319413" y="1797553"/>
            <a:ext cx="4080828" cy="2659063"/>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700"/>
              <a:buNone/>
              <a:defRPr b="0" i="0" sz="1200" u="sng">
                <a:solidFill>
                  <a:srgbClr val="004AAC"/>
                </a:solidFill>
                <a:latin typeface="Trebuchet MS"/>
                <a:ea typeface="Trebuchet MS"/>
                <a:cs typeface="Trebuchet MS"/>
                <a:sym typeface="Trebuchet MS"/>
              </a:defRPr>
            </a:lvl1pPr>
            <a:lvl2pPr indent="-228600" lvl="1" marL="914400" algn="l">
              <a:spcBef>
                <a:spcPts val="0"/>
              </a:spcBef>
              <a:spcAft>
                <a:spcPts val="0"/>
              </a:spcAft>
              <a:buSzPts val="700"/>
              <a:buNone/>
              <a:defRPr/>
            </a:lvl2pPr>
            <a:lvl3pPr indent="-228600" lvl="2" marL="1371600" algn="l">
              <a:spcBef>
                <a:spcPts val="0"/>
              </a:spcBef>
              <a:spcAft>
                <a:spcPts val="0"/>
              </a:spcAft>
              <a:buSzPts val="700"/>
              <a:buNone/>
              <a:defRPr/>
            </a:lvl3pPr>
            <a:lvl4pPr indent="-228600" lvl="3" marL="1828800" algn="l">
              <a:spcBef>
                <a:spcPts val="0"/>
              </a:spcBef>
              <a:spcAft>
                <a:spcPts val="0"/>
              </a:spcAft>
              <a:buSzPts val="700"/>
              <a:buNone/>
              <a:defRPr/>
            </a:lvl4pPr>
            <a:lvl5pPr indent="-228600" lvl="4" marL="2286000" algn="l">
              <a:spcBef>
                <a:spcPts val="0"/>
              </a:spcBef>
              <a:spcAft>
                <a:spcPts val="0"/>
              </a:spcAft>
              <a:buSzPts val="700"/>
              <a:buNone/>
              <a:defRPr/>
            </a:lvl5pPr>
            <a:lvl6pPr indent="-228600" lvl="5" marL="2743200" algn="l">
              <a:spcBef>
                <a:spcPts val="0"/>
              </a:spcBef>
              <a:spcAft>
                <a:spcPts val="0"/>
              </a:spcAft>
              <a:buSzPts val="700"/>
              <a:buNone/>
              <a:defRPr/>
            </a:lvl6pPr>
            <a:lvl7pPr indent="-228600" lvl="6" marL="3200400" algn="l">
              <a:spcBef>
                <a:spcPts val="0"/>
              </a:spcBef>
              <a:spcAft>
                <a:spcPts val="0"/>
              </a:spcAft>
              <a:buSzPts val="700"/>
              <a:buNone/>
              <a:defRPr/>
            </a:lvl7pPr>
            <a:lvl8pPr indent="-228600" lvl="7" marL="3657600" algn="l">
              <a:spcBef>
                <a:spcPts val="0"/>
              </a:spcBef>
              <a:spcAft>
                <a:spcPts val="0"/>
              </a:spcAft>
              <a:buSzPts val="700"/>
              <a:buNone/>
              <a:defRPr/>
            </a:lvl8pPr>
            <a:lvl9pPr indent="-228600" lvl="8" marL="4114800" algn="l">
              <a:spcBef>
                <a:spcPts val="0"/>
              </a:spcBef>
              <a:spcAft>
                <a:spcPts val="0"/>
              </a:spcAft>
              <a:buSzPts val="700"/>
              <a:buNone/>
              <a:defRPr/>
            </a:lvl9pPr>
          </a:lstStyle>
          <a:p/>
        </p:txBody>
      </p:sp>
      <p:sp>
        <p:nvSpPr>
          <p:cNvPr id="79" name="Google Shape;79;p16"/>
          <p:cNvSpPr txBox="1"/>
          <p:nvPr>
            <p:ph idx="2" type="body"/>
          </p:nvPr>
        </p:nvSpPr>
        <p:spPr>
          <a:xfrm>
            <a:off x="4697733" y="1766531"/>
            <a:ext cx="4040822" cy="283527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700"/>
              <a:buNone/>
              <a:defRPr b="1" i="0" sz="1200">
                <a:solidFill>
                  <a:schemeClr val="dk1"/>
                </a:solidFill>
                <a:latin typeface="Trebuchet MS"/>
                <a:ea typeface="Trebuchet MS"/>
                <a:cs typeface="Trebuchet MS"/>
                <a:sym typeface="Trebuchet MS"/>
              </a:defRPr>
            </a:lvl1pPr>
            <a:lvl2pPr indent="-228600" lvl="1" marL="914400" algn="l">
              <a:spcBef>
                <a:spcPts val="0"/>
              </a:spcBef>
              <a:spcAft>
                <a:spcPts val="0"/>
              </a:spcAft>
              <a:buSzPts val="700"/>
              <a:buNone/>
              <a:defRPr/>
            </a:lvl2pPr>
            <a:lvl3pPr indent="-228600" lvl="2" marL="1371600" algn="l">
              <a:spcBef>
                <a:spcPts val="0"/>
              </a:spcBef>
              <a:spcAft>
                <a:spcPts val="0"/>
              </a:spcAft>
              <a:buSzPts val="700"/>
              <a:buNone/>
              <a:defRPr/>
            </a:lvl3pPr>
            <a:lvl4pPr indent="-228600" lvl="3" marL="1828800" algn="l">
              <a:spcBef>
                <a:spcPts val="0"/>
              </a:spcBef>
              <a:spcAft>
                <a:spcPts val="0"/>
              </a:spcAft>
              <a:buSzPts val="700"/>
              <a:buNone/>
              <a:defRPr/>
            </a:lvl4pPr>
            <a:lvl5pPr indent="-228600" lvl="4" marL="2286000" algn="l">
              <a:spcBef>
                <a:spcPts val="0"/>
              </a:spcBef>
              <a:spcAft>
                <a:spcPts val="0"/>
              </a:spcAft>
              <a:buSzPts val="700"/>
              <a:buNone/>
              <a:defRPr/>
            </a:lvl5pPr>
            <a:lvl6pPr indent="-228600" lvl="5" marL="2743200" algn="l">
              <a:spcBef>
                <a:spcPts val="0"/>
              </a:spcBef>
              <a:spcAft>
                <a:spcPts val="0"/>
              </a:spcAft>
              <a:buSzPts val="700"/>
              <a:buNone/>
              <a:defRPr/>
            </a:lvl6pPr>
            <a:lvl7pPr indent="-228600" lvl="6" marL="3200400" algn="l">
              <a:spcBef>
                <a:spcPts val="0"/>
              </a:spcBef>
              <a:spcAft>
                <a:spcPts val="0"/>
              </a:spcAft>
              <a:buSzPts val="700"/>
              <a:buNone/>
              <a:defRPr/>
            </a:lvl7pPr>
            <a:lvl8pPr indent="-228600" lvl="7" marL="3657600" algn="l">
              <a:spcBef>
                <a:spcPts val="0"/>
              </a:spcBef>
              <a:spcAft>
                <a:spcPts val="0"/>
              </a:spcAft>
              <a:buSzPts val="700"/>
              <a:buNone/>
              <a:defRPr/>
            </a:lvl8pPr>
            <a:lvl9pPr indent="-228600" lvl="8" marL="4114800" algn="l">
              <a:spcBef>
                <a:spcPts val="0"/>
              </a:spcBef>
              <a:spcAft>
                <a:spcPts val="0"/>
              </a:spcAft>
              <a:buSzPts val="700"/>
              <a:buNone/>
              <a:defRPr/>
            </a:lvl9pPr>
          </a:lstStyle>
          <a:p/>
        </p:txBody>
      </p:sp>
      <p:sp>
        <p:nvSpPr>
          <p:cNvPr id="80" name="Google Shape;80;p16"/>
          <p:cNvSpPr txBox="1"/>
          <p:nvPr>
            <p:ph idx="11" type="ftr"/>
          </p:nvPr>
        </p:nvSpPr>
        <p:spPr>
          <a:xfrm>
            <a:off x="3621218" y="4871159"/>
            <a:ext cx="2010410" cy="153988"/>
          </a:xfrm>
          <a:prstGeom prst="rect">
            <a:avLst/>
          </a:prstGeom>
          <a:noFill/>
          <a:ln>
            <a:noFill/>
          </a:ln>
        </p:spPr>
        <p:txBody>
          <a:bodyPr anchorCtr="0" anchor="t" bIns="0" lIns="0" spcFirstLastPara="1" rIns="0" wrap="square" tIns="0">
            <a:spAutoFit/>
          </a:bodyPr>
          <a:lstStyle>
            <a:lvl1pPr lvl="0">
              <a:spcBef>
                <a:spcPts val="0"/>
              </a:spcBef>
              <a:spcAft>
                <a:spcPts val="0"/>
              </a:spcAft>
              <a:buSzPts val="700"/>
              <a:buNone/>
              <a:defRPr b="0" i="0" sz="900">
                <a:solidFill>
                  <a:schemeClr val="lt1"/>
                </a:solidFill>
                <a:latin typeface="Trebuchet MS"/>
                <a:ea typeface="Trebuchet MS"/>
                <a:cs typeface="Trebuchet MS"/>
                <a:sym typeface="Trebuchet MS"/>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1" name="Google Shape;81;p16"/>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700"/>
              <a:buNone/>
              <a:defRPr>
                <a:solidFill>
                  <a:srgbClr val="888888"/>
                </a:solidFill>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2" name="Google Shape;82;p16"/>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solidFill>
          <a:schemeClr val="lt1"/>
        </a:solidFill>
      </p:bgPr>
    </p:bg>
    <p:spTree>
      <p:nvGrpSpPr>
        <p:cNvPr id="83" name="Shape 83"/>
        <p:cNvGrpSpPr/>
        <p:nvPr/>
      </p:nvGrpSpPr>
      <p:grpSpPr>
        <a:xfrm>
          <a:off x="0" y="0"/>
          <a:ext cx="0" cy="0"/>
          <a:chOff x="0" y="0"/>
          <a:chExt cx="0" cy="0"/>
        </a:xfrm>
      </p:grpSpPr>
      <p:pic>
        <p:nvPicPr>
          <p:cNvPr id="84" name="Google Shape;84;p17"/>
          <p:cNvPicPr preferRelativeResize="0"/>
          <p:nvPr/>
        </p:nvPicPr>
        <p:blipFill rotWithShape="1">
          <a:blip r:embed="rId2">
            <a:alphaModFix/>
          </a:blip>
          <a:srcRect b="0" l="0" r="0" t="0"/>
          <a:stretch/>
        </p:blipFill>
        <p:spPr>
          <a:xfrm>
            <a:off x="1" y="4865257"/>
            <a:ext cx="9143998" cy="278243"/>
          </a:xfrm>
          <a:prstGeom prst="rect">
            <a:avLst/>
          </a:prstGeom>
          <a:noFill/>
          <a:ln>
            <a:noFill/>
          </a:ln>
        </p:spPr>
      </p:pic>
      <p:pic>
        <p:nvPicPr>
          <p:cNvPr id="85" name="Google Shape;85;p17"/>
          <p:cNvPicPr preferRelativeResize="0"/>
          <p:nvPr/>
        </p:nvPicPr>
        <p:blipFill rotWithShape="1">
          <a:blip r:embed="rId3">
            <a:alphaModFix/>
          </a:blip>
          <a:srcRect b="0" l="0" r="0" t="0"/>
          <a:stretch/>
        </p:blipFill>
        <p:spPr>
          <a:xfrm>
            <a:off x="0" y="4737108"/>
            <a:ext cx="6999768" cy="136182"/>
          </a:xfrm>
          <a:prstGeom prst="rect">
            <a:avLst/>
          </a:prstGeom>
          <a:noFill/>
          <a:ln>
            <a:noFill/>
          </a:ln>
        </p:spPr>
      </p:pic>
      <p:pic>
        <p:nvPicPr>
          <p:cNvPr id="86" name="Google Shape;86;p17"/>
          <p:cNvPicPr preferRelativeResize="0"/>
          <p:nvPr/>
        </p:nvPicPr>
        <p:blipFill rotWithShape="1">
          <a:blip r:embed="rId4">
            <a:alphaModFix/>
          </a:blip>
          <a:srcRect b="0" l="0" r="0" t="0"/>
          <a:stretch/>
        </p:blipFill>
        <p:spPr>
          <a:xfrm>
            <a:off x="8451091" y="0"/>
            <a:ext cx="692909" cy="557316"/>
          </a:xfrm>
          <a:prstGeom prst="rect">
            <a:avLst/>
          </a:prstGeom>
          <a:noFill/>
          <a:ln>
            <a:noFill/>
          </a:ln>
        </p:spPr>
      </p:pic>
      <p:pic>
        <p:nvPicPr>
          <p:cNvPr id="87" name="Google Shape;87;p17"/>
          <p:cNvPicPr preferRelativeResize="0"/>
          <p:nvPr/>
        </p:nvPicPr>
        <p:blipFill rotWithShape="1">
          <a:blip r:embed="rId5">
            <a:alphaModFix/>
          </a:blip>
          <a:srcRect b="0" l="0" r="0" t="0"/>
          <a:stretch/>
        </p:blipFill>
        <p:spPr>
          <a:xfrm>
            <a:off x="146510" y="87549"/>
            <a:ext cx="1714172" cy="539885"/>
          </a:xfrm>
          <a:prstGeom prst="rect">
            <a:avLst/>
          </a:prstGeom>
          <a:noFill/>
          <a:ln>
            <a:noFill/>
          </a:ln>
        </p:spPr>
      </p:pic>
      <p:pic>
        <p:nvPicPr>
          <p:cNvPr id="88" name="Google Shape;88;p17"/>
          <p:cNvPicPr preferRelativeResize="0"/>
          <p:nvPr/>
        </p:nvPicPr>
        <p:blipFill rotWithShape="1">
          <a:blip r:embed="rId6">
            <a:alphaModFix/>
          </a:blip>
          <a:srcRect b="0" l="0" r="0" t="0"/>
          <a:stretch/>
        </p:blipFill>
        <p:spPr>
          <a:xfrm>
            <a:off x="4626429" y="1543494"/>
            <a:ext cx="890587" cy="3024187"/>
          </a:xfrm>
          <a:prstGeom prst="rect">
            <a:avLst/>
          </a:prstGeom>
          <a:noFill/>
          <a:ln>
            <a:noFill/>
          </a:ln>
        </p:spPr>
      </p:pic>
      <p:pic>
        <p:nvPicPr>
          <p:cNvPr id="89" name="Google Shape;89;p17"/>
          <p:cNvPicPr preferRelativeResize="0"/>
          <p:nvPr/>
        </p:nvPicPr>
        <p:blipFill rotWithShape="1">
          <a:blip r:embed="rId7">
            <a:alphaModFix/>
          </a:blip>
          <a:srcRect b="0" l="0" r="0" t="0"/>
          <a:stretch/>
        </p:blipFill>
        <p:spPr>
          <a:xfrm>
            <a:off x="5489857" y="1543495"/>
            <a:ext cx="3400425" cy="3024187"/>
          </a:xfrm>
          <a:prstGeom prst="rect">
            <a:avLst/>
          </a:prstGeom>
          <a:noFill/>
          <a:ln>
            <a:noFill/>
          </a:ln>
        </p:spPr>
      </p:pic>
      <p:pic>
        <p:nvPicPr>
          <p:cNvPr id="90" name="Google Shape;90;p17"/>
          <p:cNvPicPr preferRelativeResize="0"/>
          <p:nvPr/>
        </p:nvPicPr>
        <p:blipFill rotWithShape="1">
          <a:blip r:embed="rId8">
            <a:alphaModFix/>
          </a:blip>
          <a:srcRect b="0" l="0" r="0" t="0"/>
          <a:stretch/>
        </p:blipFill>
        <p:spPr>
          <a:xfrm>
            <a:off x="1080658" y="1543494"/>
            <a:ext cx="3162299" cy="3023893"/>
          </a:xfrm>
          <a:prstGeom prst="rect">
            <a:avLst/>
          </a:prstGeom>
          <a:noFill/>
          <a:ln>
            <a:noFill/>
          </a:ln>
        </p:spPr>
      </p:pic>
      <p:pic>
        <p:nvPicPr>
          <p:cNvPr id="91" name="Google Shape;91;p17"/>
          <p:cNvPicPr preferRelativeResize="0"/>
          <p:nvPr/>
        </p:nvPicPr>
        <p:blipFill rotWithShape="1">
          <a:blip r:embed="rId9">
            <a:alphaModFix/>
          </a:blip>
          <a:srcRect b="0" l="0" r="0" t="0"/>
          <a:stretch/>
        </p:blipFill>
        <p:spPr>
          <a:xfrm>
            <a:off x="211457" y="1543495"/>
            <a:ext cx="957262" cy="3024187"/>
          </a:xfrm>
          <a:prstGeom prst="rect">
            <a:avLst/>
          </a:prstGeom>
          <a:noFill/>
          <a:ln>
            <a:noFill/>
          </a:ln>
        </p:spPr>
      </p:pic>
      <p:sp>
        <p:nvSpPr>
          <p:cNvPr id="92" name="Google Shape;92;p17"/>
          <p:cNvSpPr txBox="1"/>
          <p:nvPr>
            <p:ph type="ctrTitle"/>
          </p:nvPr>
        </p:nvSpPr>
        <p:spPr>
          <a:xfrm>
            <a:off x="3168473" y="253444"/>
            <a:ext cx="2807054" cy="478472"/>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700"/>
              <a:buNone/>
              <a:defRPr b="0" i="0" sz="3100">
                <a:solidFill>
                  <a:srgbClr val="BF0000"/>
                </a:solidFill>
                <a:latin typeface="Tahoma"/>
                <a:ea typeface="Tahoma"/>
                <a:cs typeface="Tahoma"/>
                <a:sym typeface="Tahoma"/>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3" name="Google Shape;93;p17"/>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700"/>
              <a:buNone/>
              <a:defRPr b="0" i="0" sz="1300">
                <a:solidFill>
                  <a:srgbClr val="CC2B4B"/>
                </a:solidFill>
                <a:latin typeface="Tahoma"/>
                <a:ea typeface="Tahoma"/>
                <a:cs typeface="Tahoma"/>
                <a:sym typeface="Tahoma"/>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4" name="Google Shape;94;p17"/>
          <p:cNvSpPr txBox="1"/>
          <p:nvPr>
            <p:ph idx="11" type="ftr"/>
          </p:nvPr>
        </p:nvSpPr>
        <p:spPr>
          <a:xfrm>
            <a:off x="3621218" y="4871159"/>
            <a:ext cx="2010410" cy="153988"/>
          </a:xfrm>
          <a:prstGeom prst="rect">
            <a:avLst/>
          </a:prstGeom>
          <a:noFill/>
          <a:ln>
            <a:noFill/>
          </a:ln>
        </p:spPr>
        <p:txBody>
          <a:bodyPr anchorCtr="0" anchor="t" bIns="0" lIns="0" spcFirstLastPara="1" rIns="0" wrap="square" tIns="0">
            <a:spAutoFit/>
          </a:bodyPr>
          <a:lstStyle>
            <a:lvl1pPr lvl="0">
              <a:spcBef>
                <a:spcPts val="0"/>
              </a:spcBef>
              <a:spcAft>
                <a:spcPts val="0"/>
              </a:spcAft>
              <a:buSzPts val="700"/>
              <a:buNone/>
              <a:defRPr b="0" i="0" sz="900">
                <a:solidFill>
                  <a:schemeClr val="lt1"/>
                </a:solidFill>
                <a:latin typeface="Trebuchet MS"/>
                <a:ea typeface="Trebuchet MS"/>
                <a:cs typeface="Trebuchet MS"/>
                <a:sym typeface="Trebuchet MS"/>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5" name="Google Shape;95;p17"/>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700"/>
              <a:buNone/>
              <a:defRPr>
                <a:solidFill>
                  <a:srgbClr val="888888"/>
                </a:solidFill>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17"/>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97" name="Shape 97"/>
        <p:cNvGrpSpPr/>
        <p:nvPr/>
      </p:nvGrpSpPr>
      <p:grpSpPr>
        <a:xfrm>
          <a:off x="0" y="0"/>
          <a:ext cx="0" cy="0"/>
          <a:chOff x="0" y="0"/>
          <a:chExt cx="0" cy="0"/>
        </a:xfrm>
      </p:grpSpPr>
      <p:sp>
        <p:nvSpPr>
          <p:cNvPr id="98" name="Google Shape;98;p18"/>
          <p:cNvSpPr txBox="1"/>
          <p:nvPr>
            <p:ph idx="11" type="ftr"/>
          </p:nvPr>
        </p:nvSpPr>
        <p:spPr>
          <a:xfrm>
            <a:off x="3621218" y="4871159"/>
            <a:ext cx="2010410" cy="153988"/>
          </a:xfrm>
          <a:prstGeom prst="rect">
            <a:avLst/>
          </a:prstGeom>
          <a:noFill/>
          <a:ln>
            <a:noFill/>
          </a:ln>
        </p:spPr>
        <p:txBody>
          <a:bodyPr anchorCtr="0" anchor="t" bIns="0" lIns="0" spcFirstLastPara="1" rIns="0" wrap="square" tIns="0">
            <a:spAutoFit/>
          </a:bodyPr>
          <a:lstStyle>
            <a:lvl1pPr lvl="0">
              <a:spcBef>
                <a:spcPts val="0"/>
              </a:spcBef>
              <a:spcAft>
                <a:spcPts val="0"/>
              </a:spcAft>
              <a:buSzPts val="700"/>
              <a:buNone/>
              <a:defRPr b="0" i="0" sz="900">
                <a:solidFill>
                  <a:schemeClr val="lt1"/>
                </a:solidFill>
                <a:latin typeface="Trebuchet MS"/>
                <a:ea typeface="Trebuchet MS"/>
                <a:cs typeface="Trebuchet MS"/>
                <a:sym typeface="Trebuchet MS"/>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9" name="Google Shape;99;p18"/>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700"/>
              <a:buNone/>
              <a:defRPr>
                <a:solidFill>
                  <a:srgbClr val="888888"/>
                </a:solidFill>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0" name="Google Shape;100;p18"/>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8.jpg"/><Relationship Id="rId10" Type="http://schemas.openxmlformats.org/officeDocument/2006/relationships/theme" Target="../theme/theme2.xml"/><Relationship Id="rId9" Type="http://schemas.openxmlformats.org/officeDocument/2006/relationships/slideLayout" Target="../slideLayouts/slideLayout16.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1">
            <a:alphaModFix/>
          </a:blip>
          <a:srcRect b="0" l="0" r="0" t="0"/>
          <a:stretch/>
        </p:blipFill>
        <p:spPr>
          <a:xfrm>
            <a:off x="1" y="4865257"/>
            <a:ext cx="9143998" cy="278243"/>
          </a:xfrm>
          <a:prstGeom prst="rect">
            <a:avLst/>
          </a:prstGeom>
          <a:noFill/>
          <a:ln>
            <a:noFill/>
          </a:ln>
        </p:spPr>
      </p:pic>
      <p:pic>
        <p:nvPicPr>
          <p:cNvPr id="52" name="Google Shape;52;p13"/>
          <p:cNvPicPr preferRelativeResize="0"/>
          <p:nvPr/>
        </p:nvPicPr>
        <p:blipFill rotWithShape="1">
          <a:blip r:embed="rId2">
            <a:alphaModFix/>
          </a:blip>
          <a:srcRect b="0" l="0" r="0" t="0"/>
          <a:stretch/>
        </p:blipFill>
        <p:spPr>
          <a:xfrm>
            <a:off x="0" y="4737108"/>
            <a:ext cx="6999768" cy="136182"/>
          </a:xfrm>
          <a:prstGeom prst="rect">
            <a:avLst/>
          </a:prstGeom>
          <a:noFill/>
          <a:ln>
            <a:noFill/>
          </a:ln>
        </p:spPr>
      </p:pic>
      <p:pic>
        <p:nvPicPr>
          <p:cNvPr id="53" name="Google Shape;53;p13"/>
          <p:cNvPicPr preferRelativeResize="0"/>
          <p:nvPr/>
        </p:nvPicPr>
        <p:blipFill rotWithShape="1">
          <a:blip r:embed="rId3">
            <a:alphaModFix/>
          </a:blip>
          <a:srcRect b="0" l="0" r="0" t="0"/>
          <a:stretch/>
        </p:blipFill>
        <p:spPr>
          <a:xfrm>
            <a:off x="8451091" y="0"/>
            <a:ext cx="692909" cy="557316"/>
          </a:xfrm>
          <a:prstGeom prst="rect">
            <a:avLst/>
          </a:prstGeom>
          <a:noFill/>
          <a:ln>
            <a:noFill/>
          </a:ln>
        </p:spPr>
      </p:pic>
      <p:pic>
        <p:nvPicPr>
          <p:cNvPr id="54" name="Google Shape;54;p13"/>
          <p:cNvPicPr preferRelativeResize="0"/>
          <p:nvPr/>
        </p:nvPicPr>
        <p:blipFill rotWithShape="1">
          <a:blip r:embed="rId4">
            <a:alphaModFix/>
          </a:blip>
          <a:srcRect b="0" l="0" r="0" t="0"/>
          <a:stretch/>
        </p:blipFill>
        <p:spPr>
          <a:xfrm>
            <a:off x="146510" y="87549"/>
            <a:ext cx="1714172" cy="539885"/>
          </a:xfrm>
          <a:prstGeom prst="rect">
            <a:avLst/>
          </a:prstGeom>
          <a:noFill/>
          <a:ln>
            <a:noFill/>
          </a:ln>
        </p:spPr>
      </p:pic>
      <p:sp>
        <p:nvSpPr>
          <p:cNvPr id="55" name="Google Shape;55;p13"/>
          <p:cNvSpPr txBox="1"/>
          <p:nvPr>
            <p:ph type="title"/>
          </p:nvPr>
        </p:nvSpPr>
        <p:spPr>
          <a:xfrm>
            <a:off x="2110156" y="-77105"/>
            <a:ext cx="5347315" cy="851988"/>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700"/>
              <a:buNone/>
              <a:defRPr b="0" i="0" sz="3100" u="none" cap="none" strike="noStrike">
                <a:solidFill>
                  <a:srgbClr val="BF0000"/>
                </a:solidFill>
                <a:latin typeface="Tahoma"/>
                <a:ea typeface="Tahoma"/>
                <a:cs typeface="Tahoma"/>
                <a:sym typeface="Tahoma"/>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6" name="Google Shape;56;p13"/>
          <p:cNvSpPr txBox="1"/>
          <p:nvPr>
            <p:ph idx="1" type="body"/>
          </p:nvPr>
        </p:nvSpPr>
        <p:spPr>
          <a:xfrm>
            <a:off x="557166" y="948550"/>
            <a:ext cx="7997508" cy="328104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700"/>
              <a:buNone/>
              <a:defRPr b="0" i="0" sz="1300" u="none" cap="none" strike="noStrike">
                <a:solidFill>
                  <a:srgbClr val="CC2B4B"/>
                </a:solidFill>
                <a:latin typeface="Tahoma"/>
                <a:ea typeface="Tahoma"/>
                <a:cs typeface="Tahoma"/>
                <a:sym typeface="Tahoma"/>
              </a:defRPr>
            </a:lvl1pPr>
            <a:lvl2pPr indent="-228600" lvl="1" marL="914400" marR="0" rtl="0" algn="l">
              <a:spcBef>
                <a:spcPts val="0"/>
              </a:spcBef>
              <a:spcAft>
                <a:spcPts val="0"/>
              </a:spcAft>
              <a:buSzPts val="700"/>
              <a:buNone/>
              <a:defRPr b="0" i="0" sz="900" u="none" cap="none" strike="noStrike">
                <a:latin typeface="Calibri"/>
                <a:ea typeface="Calibri"/>
                <a:cs typeface="Calibri"/>
                <a:sym typeface="Calibri"/>
              </a:defRPr>
            </a:lvl2pPr>
            <a:lvl3pPr indent="-228600" lvl="2" marL="1371600" marR="0" rtl="0" algn="l">
              <a:spcBef>
                <a:spcPts val="0"/>
              </a:spcBef>
              <a:spcAft>
                <a:spcPts val="0"/>
              </a:spcAft>
              <a:buSzPts val="700"/>
              <a:buNone/>
              <a:defRPr b="0" i="0" sz="900" u="none" cap="none" strike="noStrike">
                <a:latin typeface="Calibri"/>
                <a:ea typeface="Calibri"/>
                <a:cs typeface="Calibri"/>
                <a:sym typeface="Calibri"/>
              </a:defRPr>
            </a:lvl3pPr>
            <a:lvl4pPr indent="-228600" lvl="3" marL="1828800" marR="0" rtl="0" algn="l">
              <a:spcBef>
                <a:spcPts val="0"/>
              </a:spcBef>
              <a:spcAft>
                <a:spcPts val="0"/>
              </a:spcAft>
              <a:buSzPts val="700"/>
              <a:buNone/>
              <a:defRPr b="0" i="0" sz="900" u="none" cap="none" strike="noStrike">
                <a:latin typeface="Calibri"/>
                <a:ea typeface="Calibri"/>
                <a:cs typeface="Calibri"/>
                <a:sym typeface="Calibri"/>
              </a:defRPr>
            </a:lvl4pPr>
            <a:lvl5pPr indent="-228600" lvl="4" marL="2286000" marR="0" rtl="0" algn="l">
              <a:spcBef>
                <a:spcPts val="0"/>
              </a:spcBef>
              <a:spcAft>
                <a:spcPts val="0"/>
              </a:spcAft>
              <a:buSzPts val="700"/>
              <a:buNone/>
              <a:defRPr b="0" i="0" sz="900" u="none" cap="none" strike="noStrike">
                <a:latin typeface="Calibri"/>
                <a:ea typeface="Calibri"/>
                <a:cs typeface="Calibri"/>
                <a:sym typeface="Calibri"/>
              </a:defRPr>
            </a:lvl5pPr>
            <a:lvl6pPr indent="-228600" lvl="5" marL="2743200" marR="0" rtl="0" algn="l">
              <a:spcBef>
                <a:spcPts val="0"/>
              </a:spcBef>
              <a:spcAft>
                <a:spcPts val="0"/>
              </a:spcAft>
              <a:buSzPts val="700"/>
              <a:buNone/>
              <a:defRPr b="0" i="0" sz="900" u="none" cap="none" strike="noStrike">
                <a:latin typeface="Calibri"/>
                <a:ea typeface="Calibri"/>
                <a:cs typeface="Calibri"/>
                <a:sym typeface="Calibri"/>
              </a:defRPr>
            </a:lvl6pPr>
            <a:lvl7pPr indent="-228600" lvl="6" marL="3200400" marR="0" rtl="0" algn="l">
              <a:spcBef>
                <a:spcPts val="0"/>
              </a:spcBef>
              <a:spcAft>
                <a:spcPts val="0"/>
              </a:spcAft>
              <a:buSzPts val="700"/>
              <a:buNone/>
              <a:defRPr b="0" i="0" sz="900" u="none" cap="none" strike="noStrike">
                <a:latin typeface="Calibri"/>
                <a:ea typeface="Calibri"/>
                <a:cs typeface="Calibri"/>
                <a:sym typeface="Calibri"/>
              </a:defRPr>
            </a:lvl7pPr>
            <a:lvl8pPr indent="-228600" lvl="7" marL="3657600" marR="0" rtl="0" algn="l">
              <a:spcBef>
                <a:spcPts val="0"/>
              </a:spcBef>
              <a:spcAft>
                <a:spcPts val="0"/>
              </a:spcAft>
              <a:buSzPts val="700"/>
              <a:buNone/>
              <a:defRPr b="0" i="0" sz="900" u="none" cap="none" strike="noStrike">
                <a:latin typeface="Calibri"/>
                <a:ea typeface="Calibri"/>
                <a:cs typeface="Calibri"/>
                <a:sym typeface="Calibri"/>
              </a:defRPr>
            </a:lvl8pPr>
            <a:lvl9pPr indent="-228600" lvl="8" marL="4114800" marR="0" rtl="0" algn="l">
              <a:spcBef>
                <a:spcPts val="0"/>
              </a:spcBef>
              <a:spcAft>
                <a:spcPts val="0"/>
              </a:spcAft>
              <a:buSzPts val="700"/>
              <a:buNone/>
              <a:defRPr b="0" i="0" sz="900" u="none" cap="none" strike="noStrike">
                <a:latin typeface="Calibri"/>
                <a:ea typeface="Calibri"/>
                <a:cs typeface="Calibri"/>
                <a:sym typeface="Calibri"/>
              </a:defRPr>
            </a:lvl9pPr>
          </a:lstStyle>
          <a:p/>
        </p:txBody>
      </p:sp>
      <p:sp>
        <p:nvSpPr>
          <p:cNvPr id="57" name="Google Shape;57;p13"/>
          <p:cNvSpPr txBox="1"/>
          <p:nvPr>
            <p:ph idx="11" type="ftr"/>
          </p:nvPr>
        </p:nvSpPr>
        <p:spPr>
          <a:xfrm>
            <a:off x="3621218" y="4871159"/>
            <a:ext cx="2010410" cy="153988"/>
          </a:xfrm>
          <a:prstGeom prst="rect">
            <a:avLst/>
          </a:prstGeom>
          <a:noFill/>
          <a:ln>
            <a:noFill/>
          </a:ln>
        </p:spPr>
        <p:txBody>
          <a:bodyPr anchorCtr="0" anchor="t" bIns="0" lIns="0" spcFirstLastPara="1" rIns="0" wrap="square" tIns="0">
            <a:spAutoFit/>
          </a:bodyPr>
          <a:lstStyle>
            <a:lvl1pPr lvl="0">
              <a:spcBef>
                <a:spcPts val="0"/>
              </a:spcBef>
              <a:spcAft>
                <a:spcPts val="0"/>
              </a:spcAft>
              <a:buSzPts val="700"/>
              <a:buNone/>
              <a:defRPr b="0" i="0" sz="900">
                <a:solidFill>
                  <a:schemeClr val="lt1"/>
                </a:solidFill>
                <a:latin typeface="Trebuchet MS"/>
                <a:ea typeface="Trebuchet MS"/>
                <a:cs typeface="Trebuchet MS"/>
                <a:sym typeface="Trebuchet MS"/>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8" name="Google Shape;58;p13"/>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700"/>
              <a:buNone/>
              <a:defRPr sz="900">
                <a:solidFill>
                  <a:srgbClr val="888888"/>
                </a:solidFill>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9" name="Google Shape;59;p13"/>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sz="900">
                <a:solidFill>
                  <a:srgbClr val="888888"/>
                </a:solidFill>
              </a:defRPr>
            </a:lvl1pPr>
            <a:lvl2pPr indent="0" lvl="1" algn="r">
              <a:spcBef>
                <a:spcPts val="0"/>
              </a:spcBef>
              <a:buNone/>
              <a:defRPr sz="900">
                <a:solidFill>
                  <a:srgbClr val="888888"/>
                </a:solidFill>
              </a:defRPr>
            </a:lvl2pPr>
            <a:lvl3pPr indent="0" lvl="2" algn="r">
              <a:spcBef>
                <a:spcPts val="0"/>
              </a:spcBef>
              <a:buNone/>
              <a:defRPr sz="900">
                <a:solidFill>
                  <a:srgbClr val="888888"/>
                </a:solidFill>
              </a:defRPr>
            </a:lvl3pPr>
            <a:lvl4pPr indent="0" lvl="3" algn="r">
              <a:spcBef>
                <a:spcPts val="0"/>
              </a:spcBef>
              <a:buNone/>
              <a:defRPr sz="900">
                <a:solidFill>
                  <a:srgbClr val="888888"/>
                </a:solidFill>
              </a:defRPr>
            </a:lvl4pPr>
            <a:lvl5pPr indent="0" lvl="4" algn="r">
              <a:spcBef>
                <a:spcPts val="0"/>
              </a:spcBef>
              <a:buNone/>
              <a:defRPr sz="900">
                <a:solidFill>
                  <a:srgbClr val="888888"/>
                </a:solidFill>
              </a:defRPr>
            </a:lvl5pPr>
            <a:lvl6pPr indent="0" lvl="5" algn="r">
              <a:spcBef>
                <a:spcPts val="0"/>
              </a:spcBef>
              <a:buNone/>
              <a:defRPr sz="900">
                <a:solidFill>
                  <a:srgbClr val="888888"/>
                </a:solidFill>
              </a:defRPr>
            </a:lvl6pPr>
            <a:lvl7pPr indent="0" lvl="6" algn="r">
              <a:spcBef>
                <a:spcPts val="0"/>
              </a:spcBef>
              <a:buNone/>
              <a:defRPr sz="900">
                <a:solidFill>
                  <a:srgbClr val="888888"/>
                </a:solidFill>
              </a:defRPr>
            </a:lvl7pPr>
            <a:lvl8pPr indent="0" lvl="7" algn="r">
              <a:spcBef>
                <a:spcPts val="0"/>
              </a:spcBef>
              <a:buNone/>
              <a:defRPr sz="900">
                <a:solidFill>
                  <a:srgbClr val="888888"/>
                </a:solidFill>
              </a:defRPr>
            </a:lvl8pPr>
            <a:lvl9pPr indent="0" lvl="8" algn="r">
              <a:spcBef>
                <a:spcPts val="0"/>
              </a:spcBef>
              <a:buNone/>
              <a:defRPr sz="900">
                <a:solidFill>
                  <a:srgbClr val="888888"/>
                </a:solidFill>
              </a:defRPr>
            </a:lvl9pPr>
          </a:lstStyle>
          <a:p>
            <a:pPr indent="0" lvl="0" marL="0" rtl="0" algn="r">
              <a:spcBef>
                <a:spcPts val="0"/>
              </a:spcBef>
              <a:spcAft>
                <a:spcPts val="0"/>
              </a:spcAft>
              <a:buNone/>
            </a:pPr>
            <a:fld id="{00000000-1234-1234-1234-123412341234}" type="slidenum">
              <a:rPr lang="en"/>
              <a:t>‹#›</a:t>
            </a:fld>
            <a:endParaRPr sz="700">
              <a:solidFill>
                <a:srgbClr val="000000"/>
              </a:solidFill>
            </a:endParaRPr>
          </a:p>
        </p:txBody>
      </p:sp>
    </p:spTree>
  </p:cSld>
  <p:clrMap accent1="accent1" accent2="accent2" accent3="accent3" accent4="accent4" accent5="accent5" accent6="accent6" bg1="lt1" bg2="dk2" tx1="dk1" tx2="lt2" folHlink="folHlink" hlink="hlink"/>
  <p:sldLayoutIdLst>
    <p:sldLayoutId id="2147483659" r:id="rId5"/>
    <p:sldLayoutId id="2147483660" r:id="rId6"/>
    <p:sldLayoutId id="2147483661" r:id="rId7"/>
    <p:sldLayoutId id="2147483662" r:id="rId8"/>
    <p:sldLayoutId id="2147483663"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7.png"/><Relationship Id="rId6" Type="http://schemas.openxmlformats.org/officeDocument/2006/relationships/image" Target="../media/image6.png"/><Relationship Id="rId7" Type="http://schemas.openxmlformats.org/officeDocument/2006/relationships/image" Target="../media/image5.png"/><Relationship Id="rId8"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4.png"/><Relationship Id="rId6"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hyperlink" Target="https://www.researchgate.net/publication/379348882_A_literature_review_on_ERP_implementation_Methodologies_module_software_and_policy" TargetMode="External"/><Relationship Id="rId4" Type="http://schemas.openxmlformats.org/officeDocument/2006/relationships/hyperlink" Target="https://akjournals.com/view/journals/1848/1848-overview.xml" TargetMode="External"/><Relationship Id="rId5" Type="http://schemas.openxmlformats.org/officeDocument/2006/relationships/hyperlink" Target="https://www.researchgate.net/publication/343450571_ERP_SYSTEMS_ARCHITECTURE_FOR_THE_MODERN_AGE_A_REVIEW_OF_THE_STATE_OF_THE_ART_TECHNOLOGIES" TargetMode="External"/><Relationship Id="rId6" Type="http://schemas.openxmlformats.org/officeDocument/2006/relationships/hyperlink" Target="https://www.researchgate.net/publication/374833941_Implementation_of_Odoo-Based_ERP_in_The_Case_Study_of_Micro_Small_and_Medium_EnterprisesMSME_Woody_Moody_Jakarta"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hyperlink" Target="https://www.researchgate.net/publication/394306023_Open-Source_ERP" TargetMode="External"/><Relationship Id="rId4" Type="http://schemas.openxmlformats.org/officeDocument/2006/relationships/hyperlink" Target="http://www.researchgate.net/publication/371989579_Design_and_Implementation_of_Inventory_Management_System_for_University" TargetMode="External"/><Relationship Id="rId5" Type="http://schemas.openxmlformats.org/officeDocument/2006/relationships/hyperlink" Target="http://www.researchgate.net/publication/387763540_Proprietary_vs_Open-Source_ERP_The_Case_of_SAP_and_Odoo" TargetMode="External"/><Relationship Id="rId6" Type="http://schemas.openxmlformats.org/officeDocument/2006/relationships/hyperlink" Target="http://papers.ssrn.com/sol3/papers.cfm?abstract_id=5214661"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4" name="Shape 104"/>
        <p:cNvGrpSpPr/>
        <p:nvPr/>
      </p:nvGrpSpPr>
      <p:grpSpPr>
        <a:xfrm>
          <a:off x="0" y="0"/>
          <a:ext cx="0" cy="0"/>
          <a:chOff x="0" y="0"/>
          <a:chExt cx="0" cy="0"/>
        </a:xfrm>
      </p:grpSpPr>
      <p:pic>
        <p:nvPicPr>
          <p:cNvPr id="105" name="Google Shape;105;p19"/>
          <p:cNvPicPr preferRelativeResize="0"/>
          <p:nvPr/>
        </p:nvPicPr>
        <p:blipFill rotWithShape="1">
          <a:blip r:embed="rId3">
            <a:alphaModFix/>
          </a:blip>
          <a:srcRect b="0" l="0" r="0" t="0"/>
          <a:stretch/>
        </p:blipFill>
        <p:spPr>
          <a:xfrm>
            <a:off x="0" y="2812337"/>
            <a:ext cx="4538460" cy="1901644"/>
          </a:xfrm>
          <a:prstGeom prst="rect">
            <a:avLst/>
          </a:prstGeom>
          <a:noFill/>
          <a:ln>
            <a:noFill/>
          </a:ln>
        </p:spPr>
      </p:pic>
      <p:pic>
        <p:nvPicPr>
          <p:cNvPr id="106" name="Google Shape;106;p19"/>
          <p:cNvPicPr preferRelativeResize="0"/>
          <p:nvPr/>
        </p:nvPicPr>
        <p:blipFill rotWithShape="1">
          <a:blip r:embed="rId4">
            <a:alphaModFix/>
          </a:blip>
          <a:srcRect b="0" l="0" r="0" t="0"/>
          <a:stretch/>
        </p:blipFill>
        <p:spPr>
          <a:xfrm>
            <a:off x="4626416" y="2812825"/>
            <a:ext cx="4517569" cy="1901102"/>
          </a:xfrm>
          <a:prstGeom prst="rect">
            <a:avLst/>
          </a:prstGeom>
          <a:noFill/>
          <a:ln>
            <a:noFill/>
          </a:ln>
        </p:spPr>
      </p:pic>
      <p:sp>
        <p:nvSpPr>
          <p:cNvPr id="107" name="Google Shape;107;p19"/>
          <p:cNvSpPr txBox="1"/>
          <p:nvPr>
            <p:ph type="title"/>
          </p:nvPr>
        </p:nvSpPr>
        <p:spPr>
          <a:xfrm>
            <a:off x="54425" y="627425"/>
            <a:ext cx="9144000" cy="766200"/>
          </a:xfrm>
          <a:prstGeom prst="rect">
            <a:avLst/>
          </a:prstGeom>
          <a:noFill/>
          <a:ln>
            <a:noFill/>
          </a:ln>
        </p:spPr>
        <p:txBody>
          <a:bodyPr anchorCtr="0" anchor="t" bIns="0" lIns="0" spcFirstLastPara="1" rIns="0" wrap="square" tIns="6025">
            <a:spAutoFit/>
          </a:bodyPr>
          <a:lstStyle/>
          <a:p>
            <a:pPr indent="-1206500" lvl="0" marL="1257300" marR="0" rtl="0" algn="ctr">
              <a:lnSpc>
                <a:spcPct val="114700"/>
              </a:lnSpc>
              <a:spcBef>
                <a:spcPts val="0"/>
              </a:spcBef>
              <a:spcAft>
                <a:spcPts val="0"/>
              </a:spcAft>
              <a:buNone/>
            </a:pPr>
            <a:r>
              <a:rPr b="1" lang="en" sz="2300">
                <a:solidFill>
                  <a:srgbClr val="CC2B4B"/>
                </a:solidFill>
                <a:latin typeface="Arial"/>
                <a:ea typeface="Arial"/>
                <a:cs typeface="Arial"/>
                <a:sym typeface="Arial"/>
              </a:rPr>
              <a:t>Integrated Business Operations Platform</a:t>
            </a:r>
            <a:endParaRPr b="1" sz="2300">
              <a:solidFill>
                <a:srgbClr val="CC2B4B"/>
              </a:solidFill>
              <a:latin typeface="Arial"/>
              <a:ea typeface="Arial"/>
              <a:cs typeface="Arial"/>
              <a:sym typeface="Arial"/>
            </a:endParaRPr>
          </a:p>
          <a:p>
            <a:pPr indent="-1206500" lvl="0" marL="1257300" marR="0" rtl="0" algn="ctr">
              <a:lnSpc>
                <a:spcPct val="114700"/>
              </a:lnSpc>
              <a:spcBef>
                <a:spcPts val="0"/>
              </a:spcBef>
              <a:spcAft>
                <a:spcPts val="0"/>
              </a:spcAft>
              <a:buNone/>
            </a:pPr>
            <a:r>
              <a:rPr b="1" lang="en" sz="2300">
                <a:solidFill>
                  <a:srgbClr val="CC2B4B"/>
                </a:solidFill>
                <a:latin typeface="Arial"/>
                <a:ea typeface="Arial"/>
                <a:cs typeface="Arial"/>
                <a:sym typeface="Arial"/>
              </a:rPr>
              <a:t> (IBOP)</a:t>
            </a:r>
            <a:endParaRPr sz="2300">
              <a:solidFill>
                <a:srgbClr val="CC2B4B"/>
              </a:solidFill>
            </a:endParaRPr>
          </a:p>
        </p:txBody>
      </p:sp>
      <p:sp>
        <p:nvSpPr>
          <p:cNvPr id="108" name="Google Shape;108;p19"/>
          <p:cNvSpPr txBox="1"/>
          <p:nvPr/>
        </p:nvSpPr>
        <p:spPr>
          <a:xfrm>
            <a:off x="2481150" y="1412853"/>
            <a:ext cx="4181700" cy="1242300"/>
          </a:xfrm>
          <a:prstGeom prst="rect">
            <a:avLst/>
          </a:prstGeom>
          <a:noFill/>
          <a:ln>
            <a:noFill/>
          </a:ln>
        </p:spPr>
        <p:txBody>
          <a:bodyPr anchorCtr="0" anchor="ctr" bIns="0" lIns="0" spcFirstLastPara="1" rIns="0" wrap="square" tIns="6025">
            <a:noAutofit/>
          </a:bodyPr>
          <a:lstStyle/>
          <a:p>
            <a:pPr indent="0" lvl="0" marL="12700" rtl="0" algn="ctr">
              <a:lnSpc>
                <a:spcPct val="115000"/>
              </a:lnSpc>
              <a:spcBef>
                <a:spcPts val="100"/>
              </a:spcBef>
              <a:spcAft>
                <a:spcPts val="0"/>
              </a:spcAft>
              <a:buSzPts val="1100"/>
              <a:buNone/>
            </a:pPr>
            <a:r>
              <a:rPr lang="en" sz="1500">
                <a:solidFill>
                  <a:schemeClr val="dk1"/>
                </a:solidFill>
                <a:latin typeface="Trebuchet MS"/>
                <a:ea typeface="Trebuchet MS"/>
                <a:cs typeface="Trebuchet MS"/>
                <a:sym typeface="Trebuchet MS"/>
              </a:rPr>
              <a:t>LY Project Guide-Dr. Anushree Deshmukh</a:t>
            </a:r>
            <a:endParaRPr sz="1500">
              <a:solidFill>
                <a:schemeClr val="dk1"/>
              </a:solidFill>
              <a:latin typeface="Trebuchet MS"/>
              <a:ea typeface="Trebuchet MS"/>
              <a:cs typeface="Trebuchet MS"/>
              <a:sym typeface="Trebuchet MS"/>
            </a:endParaRPr>
          </a:p>
          <a:p>
            <a:pPr indent="0" lvl="0" marL="12700" rtl="0" algn="ctr">
              <a:lnSpc>
                <a:spcPct val="115000"/>
              </a:lnSpc>
              <a:spcBef>
                <a:spcPts val="100"/>
              </a:spcBef>
              <a:spcAft>
                <a:spcPts val="0"/>
              </a:spcAft>
              <a:buSzPts val="1100"/>
              <a:buNone/>
            </a:pPr>
            <a:r>
              <a:rPr lang="en" sz="1500">
                <a:solidFill>
                  <a:schemeClr val="dk1"/>
                </a:solidFill>
                <a:latin typeface="Trebuchet MS"/>
                <a:ea typeface="Trebuchet MS"/>
                <a:cs typeface="Trebuchet MS"/>
                <a:sym typeface="Trebuchet MS"/>
              </a:rPr>
              <a:t>External Company :- Shrinath Enterprises</a:t>
            </a:r>
            <a:endParaRPr sz="1500">
              <a:solidFill>
                <a:schemeClr val="dk1"/>
              </a:solidFill>
              <a:latin typeface="Trebuchet MS"/>
              <a:ea typeface="Trebuchet MS"/>
              <a:cs typeface="Trebuchet MS"/>
              <a:sym typeface="Trebuchet MS"/>
            </a:endParaRPr>
          </a:p>
          <a:p>
            <a:pPr indent="0" lvl="0" marL="12700" rtl="0" algn="ctr">
              <a:lnSpc>
                <a:spcPct val="115000"/>
              </a:lnSpc>
              <a:spcBef>
                <a:spcPts val="100"/>
              </a:spcBef>
              <a:spcAft>
                <a:spcPts val="0"/>
              </a:spcAft>
              <a:buClr>
                <a:schemeClr val="dk1"/>
              </a:buClr>
              <a:buSzPts val="1100"/>
              <a:buFont typeface="Arial"/>
              <a:buNone/>
            </a:pPr>
            <a:r>
              <a:rPr lang="en" sz="1500">
                <a:solidFill>
                  <a:schemeClr val="dk1"/>
                </a:solidFill>
                <a:latin typeface="Trebuchet MS"/>
                <a:ea typeface="Trebuchet MS"/>
                <a:cs typeface="Trebuchet MS"/>
                <a:sym typeface="Trebuchet MS"/>
              </a:rPr>
              <a:t>Student:-Mann dutiya</a:t>
            </a:r>
            <a:br>
              <a:rPr lang="en" sz="1500">
                <a:solidFill>
                  <a:schemeClr val="dk1"/>
                </a:solidFill>
                <a:latin typeface="Trebuchet MS"/>
                <a:ea typeface="Trebuchet MS"/>
                <a:cs typeface="Trebuchet MS"/>
                <a:sym typeface="Trebuchet MS"/>
              </a:rPr>
            </a:br>
            <a:r>
              <a:rPr lang="en" sz="1500">
                <a:solidFill>
                  <a:schemeClr val="dk1"/>
                </a:solidFill>
                <a:latin typeface="Trebuchet MS"/>
                <a:ea typeface="Trebuchet MS"/>
                <a:cs typeface="Trebuchet MS"/>
                <a:sym typeface="Trebuchet MS"/>
              </a:rPr>
              <a:t>rollno:-16010123192</a:t>
            </a:r>
            <a:endParaRPr sz="1500">
              <a:solidFill>
                <a:schemeClr val="dk1"/>
              </a:solidFill>
              <a:latin typeface="Trebuchet MS"/>
              <a:ea typeface="Trebuchet MS"/>
              <a:cs typeface="Trebuchet MS"/>
              <a:sym typeface="Trebuchet MS"/>
            </a:endParaRPr>
          </a:p>
          <a:p>
            <a:pPr indent="0" lvl="0" marL="520700" marR="520700" rtl="0" algn="l">
              <a:lnSpc>
                <a:spcPct val="118133"/>
              </a:lnSpc>
              <a:spcBef>
                <a:spcPts val="0"/>
              </a:spcBef>
              <a:spcAft>
                <a:spcPts val="0"/>
              </a:spcAft>
              <a:buNone/>
            </a:pPr>
            <a:r>
              <a:t/>
            </a:r>
            <a:endParaRPr sz="1500">
              <a:latin typeface="Trebuchet MS"/>
              <a:ea typeface="Trebuchet MS"/>
              <a:cs typeface="Trebuchet MS"/>
              <a:sym typeface="Trebuchet MS"/>
            </a:endParaRPr>
          </a:p>
        </p:txBody>
      </p:sp>
      <p:grpSp>
        <p:nvGrpSpPr>
          <p:cNvPr id="109" name="Google Shape;109;p19"/>
          <p:cNvGrpSpPr/>
          <p:nvPr/>
        </p:nvGrpSpPr>
        <p:grpSpPr>
          <a:xfrm>
            <a:off x="0" y="4737108"/>
            <a:ext cx="9143999" cy="406392"/>
            <a:chOff x="0" y="9474215"/>
            <a:chExt cx="18287998" cy="812784"/>
          </a:xfrm>
        </p:grpSpPr>
        <p:pic>
          <p:nvPicPr>
            <p:cNvPr id="110" name="Google Shape;110;p19"/>
            <p:cNvPicPr preferRelativeResize="0"/>
            <p:nvPr/>
          </p:nvPicPr>
          <p:blipFill rotWithShape="1">
            <a:blip r:embed="rId5">
              <a:alphaModFix/>
            </a:blip>
            <a:srcRect b="0" l="0" r="0" t="0"/>
            <a:stretch/>
          </p:blipFill>
          <p:spPr>
            <a:xfrm>
              <a:off x="2" y="9730513"/>
              <a:ext cx="18287996" cy="556486"/>
            </a:xfrm>
            <a:prstGeom prst="rect">
              <a:avLst/>
            </a:prstGeom>
            <a:noFill/>
            <a:ln>
              <a:noFill/>
            </a:ln>
          </p:spPr>
        </p:pic>
        <p:pic>
          <p:nvPicPr>
            <p:cNvPr id="111" name="Google Shape;111;p19"/>
            <p:cNvPicPr preferRelativeResize="0"/>
            <p:nvPr/>
          </p:nvPicPr>
          <p:blipFill rotWithShape="1">
            <a:blip r:embed="rId6">
              <a:alphaModFix/>
            </a:blip>
            <a:srcRect b="0" l="0" r="0" t="0"/>
            <a:stretch/>
          </p:blipFill>
          <p:spPr>
            <a:xfrm>
              <a:off x="0" y="9474215"/>
              <a:ext cx="13999535" cy="272363"/>
            </a:xfrm>
            <a:prstGeom prst="rect">
              <a:avLst/>
            </a:prstGeom>
            <a:noFill/>
            <a:ln>
              <a:noFill/>
            </a:ln>
          </p:spPr>
        </p:pic>
      </p:grpSp>
      <p:pic>
        <p:nvPicPr>
          <p:cNvPr id="112" name="Google Shape;112;p19"/>
          <p:cNvPicPr preferRelativeResize="0"/>
          <p:nvPr/>
        </p:nvPicPr>
        <p:blipFill rotWithShape="1">
          <a:blip r:embed="rId7">
            <a:alphaModFix/>
          </a:blip>
          <a:srcRect b="0" l="0" r="0" t="0"/>
          <a:stretch/>
        </p:blipFill>
        <p:spPr>
          <a:xfrm>
            <a:off x="8451091" y="0"/>
            <a:ext cx="692909" cy="557316"/>
          </a:xfrm>
          <a:prstGeom prst="rect">
            <a:avLst/>
          </a:prstGeom>
          <a:noFill/>
          <a:ln>
            <a:noFill/>
          </a:ln>
        </p:spPr>
      </p:pic>
      <p:pic>
        <p:nvPicPr>
          <p:cNvPr id="113" name="Google Shape;113;p19"/>
          <p:cNvPicPr preferRelativeResize="0"/>
          <p:nvPr/>
        </p:nvPicPr>
        <p:blipFill rotWithShape="1">
          <a:blip r:embed="rId8">
            <a:alphaModFix/>
          </a:blip>
          <a:srcRect b="0" l="0" r="0" t="0"/>
          <a:stretch/>
        </p:blipFill>
        <p:spPr>
          <a:xfrm>
            <a:off x="146510" y="87549"/>
            <a:ext cx="1714172" cy="539885"/>
          </a:xfrm>
          <a:prstGeom prst="rect">
            <a:avLst/>
          </a:prstGeom>
          <a:noFill/>
          <a:ln>
            <a:noFill/>
          </a:ln>
        </p:spPr>
      </p:pic>
      <p:sp>
        <p:nvSpPr>
          <p:cNvPr id="114" name="Google Shape;114;p19"/>
          <p:cNvSpPr txBox="1"/>
          <p:nvPr>
            <p:ph idx="11" type="ftr"/>
          </p:nvPr>
        </p:nvSpPr>
        <p:spPr>
          <a:xfrm>
            <a:off x="3621218" y="4871159"/>
            <a:ext cx="2010410" cy="153988"/>
          </a:xfrm>
          <a:prstGeom prst="rect">
            <a:avLst/>
          </a:prstGeom>
          <a:noFill/>
          <a:ln>
            <a:noFill/>
          </a:ln>
        </p:spPr>
        <p:txBody>
          <a:bodyPr anchorCtr="0" anchor="t" bIns="0" lIns="0" spcFirstLastPara="1" rIns="0" wrap="square" tIns="0">
            <a:spAutoFit/>
          </a:bodyPr>
          <a:lstStyle/>
          <a:p>
            <a:pPr indent="0" lvl="0" marL="12700" rtl="0" algn="l">
              <a:lnSpc>
                <a:spcPct val="122222"/>
              </a:lnSpc>
              <a:spcBef>
                <a:spcPts val="0"/>
              </a:spcBef>
              <a:spcAft>
                <a:spcPts val="0"/>
              </a:spcAft>
              <a:buNone/>
            </a:pPr>
            <a:r>
              <a:rPr lang="en"/>
              <a:t>Department of Computer 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ph type="title"/>
          </p:nvPr>
        </p:nvSpPr>
        <p:spPr>
          <a:xfrm>
            <a:off x="2110156" y="-77105"/>
            <a:ext cx="5347315" cy="851988"/>
          </a:xfrm>
          <a:prstGeom prst="rect">
            <a:avLst/>
          </a:prstGeom>
          <a:noFill/>
          <a:ln>
            <a:noFill/>
          </a:ln>
        </p:spPr>
        <p:txBody>
          <a:bodyPr anchorCtr="0" anchor="t" bIns="0" lIns="0" spcFirstLastPara="1" rIns="0" wrap="square" tIns="279200">
            <a:spAutoFit/>
          </a:bodyPr>
          <a:lstStyle/>
          <a:p>
            <a:pPr indent="0" lvl="0" marL="1409700" rtl="0" algn="l">
              <a:lnSpc>
                <a:spcPct val="100000"/>
              </a:lnSpc>
              <a:spcBef>
                <a:spcPts val="0"/>
              </a:spcBef>
              <a:spcAft>
                <a:spcPts val="0"/>
              </a:spcAft>
              <a:buNone/>
            </a:pPr>
            <a:r>
              <a:rPr lang="en"/>
              <a:t>Introduction</a:t>
            </a:r>
            <a:endParaRPr/>
          </a:p>
        </p:txBody>
      </p:sp>
      <p:sp>
        <p:nvSpPr>
          <p:cNvPr id="120" name="Google Shape;120;p20"/>
          <p:cNvSpPr txBox="1"/>
          <p:nvPr>
            <p:ph idx="11" type="ftr"/>
          </p:nvPr>
        </p:nvSpPr>
        <p:spPr>
          <a:xfrm>
            <a:off x="3621218" y="4871159"/>
            <a:ext cx="2010410" cy="153988"/>
          </a:xfrm>
          <a:prstGeom prst="rect">
            <a:avLst/>
          </a:prstGeom>
          <a:noFill/>
          <a:ln>
            <a:noFill/>
          </a:ln>
        </p:spPr>
        <p:txBody>
          <a:bodyPr anchorCtr="0" anchor="t" bIns="0" lIns="0" spcFirstLastPara="1" rIns="0" wrap="square" tIns="0">
            <a:spAutoFit/>
          </a:bodyPr>
          <a:lstStyle/>
          <a:p>
            <a:pPr indent="0" lvl="0" marL="12700" rtl="0" algn="l">
              <a:lnSpc>
                <a:spcPct val="122222"/>
              </a:lnSpc>
              <a:spcBef>
                <a:spcPts val="0"/>
              </a:spcBef>
              <a:spcAft>
                <a:spcPts val="0"/>
              </a:spcAft>
              <a:buNone/>
            </a:pPr>
            <a:r>
              <a:rPr lang="en"/>
              <a:t>Department of Computer Engineering</a:t>
            </a:r>
            <a:endParaRPr/>
          </a:p>
        </p:txBody>
      </p:sp>
      <p:sp>
        <p:nvSpPr>
          <p:cNvPr id="121" name="Google Shape;121;p20"/>
          <p:cNvSpPr txBox="1"/>
          <p:nvPr/>
        </p:nvSpPr>
        <p:spPr>
          <a:xfrm>
            <a:off x="415400" y="1026525"/>
            <a:ext cx="8144700" cy="31863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Char char="●"/>
            </a:pPr>
            <a:r>
              <a:rPr lang="en" sz="1500">
                <a:solidFill>
                  <a:schemeClr val="dk1"/>
                </a:solidFill>
              </a:rPr>
              <a:t>Many small and mid-scale businesses still rely on </a:t>
            </a:r>
            <a:r>
              <a:rPr b="1" lang="en" sz="1500">
                <a:solidFill>
                  <a:schemeClr val="dk1"/>
                </a:solidFill>
              </a:rPr>
              <a:t>manual processes or disconnected software</a:t>
            </a:r>
            <a:r>
              <a:rPr lang="en" sz="1500">
                <a:solidFill>
                  <a:schemeClr val="dk1"/>
                </a:solidFill>
              </a:rPr>
              <a:t> to manage operations such as </a:t>
            </a:r>
            <a:r>
              <a:rPr b="1" lang="en" sz="1500">
                <a:solidFill>
                  <a:schemeClr val="dk1"/>
                </a:solidFill>
              </a:rPr>
              <a:t>sales, accounting, HR, and inventory</a:t>
            </a:r>
            <a:r>
              <a:rPr lang="en" sz="1500">
                <a:solidFill>
                  <a:schemeClr val="dk1"/>
                </a:solidFill>
              </a:rPr>
              <a:t>, leading to inefficiencies and data silos.</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In real-world business environments, lack of integration results in </a:t>
            </a:r>
            <a:r>
              <a:rPr b="1" lang="en" sz="1500">
                <a:solidFill>
                  <a:schemeClr val="dk1"/>
                </a:solidFill>
              </a:rPr>
              <a:t>delayed decision-making, reduced operational visibility, and increased chances of human error</a:t>
            </a:r>
            <a:r>
              <a:rPr lang="en"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This project, </a:t>
            </a:r>
            <a:r>
              <a:rPr b="1" lang="en" sz="1500" u="sng">
                <a:solidFill>
                  <a:schemeClr val="dk1"/>
                </a:solidFill>
              </a:rPr>
              <a:t>Integrated Business Operations Platform</a:t>
            </a:r>
            <a:r>
              <a:rPr b="1" lang="en" sz="1500">
                <a:solidFill>
                  <a:schemeClr val="dk1"/>
                </a:solidFill>
              </a:rPr>
              <a:t> (IBOP)</a:t>
            </a:r>
            <a:r>
              <a:rPr lang="en" sz="1500">
                <a:solidFill>
                  <a:schemeClr val="dk1"/>
                </a:solidFill>
              </a:rPr>
              <a:t>, is being developed in </a:t>
            </a:r>
            <a:r>
              <a:rPr b="1" lang="en" sz="1500">
                <a:solidFill>
                  <a:schemeClr val="dk1"/>
                </a:solidFill>
              </a:rPr>
              <a:t>collaboration with a real business </a:t>
            </a:r>
            <a:r>
              <a:rPr b="1" lang="en" sz="1500" u="sng">
                <a:solidFill>
                  <a:schemeClr val="dk1"/>
                </a:solidFill>
              </a:rPr>
              <a:t>(Shrinath Enterprises)</a:t>
            </a:r>
            <a:r>
              <a:rPr lang="en" sz="1500">
                <a:solidFill>
                  <a:schemeClr val="dk1"/>
                </a:solidFill>
              </a:rPr>
              <a:t> to address these challenges in a practical setting.</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The system focuses on building a </a:t>
            </a:r>
            <a:r>
              <a:rPr b="1" lang="en" sz="1500">
                <a:solidFill>
                  <a:schemeClr val="dk1"/>
                </a:solidFill>
              </a:rPr>
              <a:t>centralized, real-time platform</a:t>
            </a:r>
            <a:r>
              <a:rPr lang="en" sz="1500">
                <a:solidFill>
                  <a:schemeClr val="dk1"/>
                </a:solidFill>
              </a:rPr>
              <a:t> that integrates multiple business functions into a single interface, improving coordination and efficiency.</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It provides </a:t>
            </a:r>
            <a:r>
              <a:rPr b="1" lang="en" sz="1500">
                <a:solidFill>
                  <a:schemeClr val="dk1"/>
                </a:solidFill>
              </a:rPr>
              <a:t>live data tracking, role-based access, and streamlined workflows</a:t>
            </a:r>
            <a:r>
              <a:rPr lang="en" sz="1500">
                <a:solidFill>
                  <a:schemeClr val="dk1"/>
                </a:solidFill>
              </a:rPr>
              <a:t>, enabling better control over daily operations and informed decision-making.</a:t>
            </a:r>
            <a:endParaRPr sz="1500">
              <a:solidFill>
                <a:schemeClr val="dk1"/>
              </a:solidFill>
            </a:endParaRPr>
          </a:p>
          <a:p>
            <a:pPr indent="0" lvl="0" marL="0" rtl="0" algn="l">
              <a:spcBef>
                <a:spcPts val="0"/>
              </a:spcBef>
              <a:spcAft>
                <a:spcPts val="0"/>
              </a:spcAft>
              <a:buNone/>
            </a:pPr>
            <a:r>
              <a:t/>
            </a:r>
            <a:endParaRPr sz="1300">
              <a:solidFill>
                <a:srgbClr val="CC2B4B"/>
              </a:solidFill>
              <a:latin typeface="Tahoma"/>
              <a:ea typeface="Tahoma"/>
              <a:cs typeface="Tahoma"/>
              <a:sym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idx="11" type="ftr"/>
          </p:nvPr>
        </p:nvSpPr>
        <p:spPr>
          <a:xfrm>
            <a:off x="3621218" y="4871159"/>
            <a:ext cx="2010410" cy="153988"/>
          </a:xfrm>
          <a:prstGeom prst="rect">
            <a:avLst/>
          </a:prstGeom>
          <a:noFill/>
          <a:ln>
            <a:noFill/>
          </a:ln>
        </p:spPr>
        <p:txBody>
          <a:bodyPr anchorCtr="0" anchor="t" bIns="0" lIns="0" spcFirstLastPara="1" rIns="0" wrap="square" tIns="0">
            <a:spAutoFit/>
          </a:bodyPr>
          <a:lstStyle/>
          <a:p>
            <a:pPr indent="0" lvl="0" marL="12700" rtl="0" algn="l">
              <a:lnSpc>
                <a:spcPct val="122222"/>
              </a:lnSpc>
              <a:spcBef>
                <a:spcPts val="0"/>
              </a:spcBef>
              <a:spcAft>
                <a:spcPts val="0"/>
              </a:spcAft>
              <a:buNone/>
            </a:pPr>
            <a:r>
              <a:rPr lang="en"/>
              <a:t>Department of Computer Engineering</a:t>
            </a:r>
            <a:endParaRPr/>
          </a:p>
        </p:txBody>
      </p:sp>
      <p:graphicFrame>
        <p:nvGraphicFramePr>
          <p:cNvPr id="127" name="Google Shape;127;p21"/>
          <p:cNvGraphicFramePr/>
          <p:nvPr/>
        </p:nvGraphicFramePr>
        <p:xfrm>
          <a:off x="0" y="862436"/>
          <a:ext cx="3000000" cy="3000000"/>
        </p:xfrm>
        <a:graphic>
          <a:graphicData uri="http://schemas.openxmlformats.org/drawingml/2006/table">
            <a:tbl>
              <a:tblPr bandRow="1" firstRow="1">
                <a:noFill/>
                <a:tableStyleId>{ACE46F92-1EF2-4096-A548-2BCCBEC776F4}</a:tableStyleId>
              </a:tblPr>
              <a:tblGrid>
                <a:gridCol w="4141700"/>
                <a:gridCol w="2119450"/>
                <a:gridCol w="2937300"/>
              </a:tblGrid>
              <a:tr h="457850">
                <a:tc>
                  <a:txBody>
                    <a:bodyPr/>
                    <a:lstStyle/>
                    <a:p>
                      <a:pPr indent="0" lvl="0" marL="91440" marR="91440" rtl="0" algn="ctr">
                        <a:lnSpc>
                          <a:spcPct val="100000"/>
                        </a:lnSpc>
                        <a:spcBef>
                          <a:spcPts val="0"/>
                        </a:spcBef>
                        <a:spcAft>
                          <a:spcPts val="0"/>
                        </a:spcAft>
                        <a:buNone/>
                      </a:pPr>
                      <a:r>
                        <a:rPr b="1" lang="en">
                          <a:latin typeface="Times New Roman"/>
                          <a:ea typeface="Times New Roman"/>
                          <a:cs typeface="Times New Roman"/>
                          <a:sym typeface="Times New Roman"/>
                        </a:rPr>
                        <a:t>Research Paper Review</a:t>
                      </a:r>
                      <a:endParaRPr b="1" u="none" cap="none" strike="noStrike">
                        <a:latin typeface="Times New Roman"/>
                        <a:ea typeface="Times New Roman"/>
                        <a:cs typeface="Times New Roman"/>
                        <a:sym typeface="Times New Roman"/>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91440" marR="91440" rtl="0" algn="ctr">
                        <a:lnSpc>
                          <a:spcPct val="100000"/>
                        </a:lnSpc>
                        <a:spcBef>
                          <a:spcPts val="0"/>
                        </a:spcBef>
                        <a:spcAft>
                          <a:spcPts val="0"/>
                        </a:spcAft>
                        <a:buNone/>
                      </a:pPr>
                      <a:r>
                        <a:rPr b="1" lang="en">
                          <a:latin typeface="Times New Roman"/>
                          <a:ea typeface="Times New Roman"/>
                          <a:cs typeface="Times New Roman"/>
                          <a:sym typeface="Times New Roman"/>
                        </a:rPr>
                        <a:t>Identified Gaps</a:t>
                      </a:r>
                      <a:endParaRPr b="1" u="none" cap="none" strike="noStrike">
                        <a:latin typeface="Times New Roman"/>
                        <a:ea typeface="Times New Roman"/>
                        <a:cs typeface="Times New Roman"/>
                        <a:sym typeface="Times New Roman"/>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c>
                  <a:txBody>
                    <a:bodyPr/>
                    <a:lstStyle/>
                    <a:p>
                      <a:pPr indent="0" lvl="0" marL="91440" marR="91440" rtl="0" algn="ctr">
                        <a:lnSpc>
                          <a:spcPct val="100000"/>
                        </a:lnSpc>
                        <a:spcBef>
                          <a:spcPts val="0"/>
                        </a:spcBef>
                        <a:spcAft>
                          <a:spcPts val="0"/>
                        </a:spcAft>
                        <a:buNone/>
                      </a:pPr>
                      <a:r>
                        <a:rPr b="1" lang="en">
                          <a:latin typeface="Times New Roman"/>
                          <a:ea typeface="Times New Roman"/>
                          <a:cs typeface="Times New Roman"/>
                          <a:sym typeface="Times New Roman"/>
                        </a:rPr>
                        <a:t>Our project contribution </a:t>
                      </a:r>
                      <a:endParaRPr b="1" u="none" cap="none" strike="noStrike">
                        <a:latin typeface="Times New Roman"/>
                        <a:ea typeface="Times New Roman"/>
                        <a:cs typeface="Times New Roman"/>
                        <a:sym typeface="Times New Roman"/>
                      </a:endParaRPr>
                    </a:p>
                  </a:txBody>
                  <a:tcPr marT="0" marB="0" marR="0" marL="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9999"/>
                    </a:solidFill>
                  </a:tcPr>
                </a:tc>
              </a:tr>
              <a:tr h="1288850">
                <a:tc>
                  <a:txBody>
                    <a:bodyPr/>
                    <a:lstStyle/>
                    <a:p>
                      <a:pPr indent="0" lvl="0" marL="91440" marR="91440" rtl="0" algn="l">
                        <a:lnSpc>
                          <a:spcPct val="100000"/>
                        </a:lnSpc>
                        <a:spcBef>
                          <a:spcPts val="0"/>
                        </a:spcBef>
                        <a:spcAft>
                          <a:spcPts val="0"/>
                        </a:spcAft>
                        <a:buNone/>
                      </a:pPr>
                      <a:r>
                        <a:rPr b="1" lang="en" sz="1300" u="sng">
                          <a:latin typeface="Times New Roman"/>
                          <a:ea typeface="Times New Roman"/>
                          <a:cs typeface="Times New Roman"/>
                          <a:sym typeface="Times New Roman"/>
                        </a:rPr>
                        <a:t>A literature review on ERP implementation: Methodologies, module, software, and policy(2024):- </a:t>
                      </a:r>
                      <a:r>
                        <a:rPr lang="en" sz="1100">
                          <a:latin typeface="Arial"/>
                          <a:ea typeface="Arial"/>
                          <a:cs typeface="Arial"/>
                          <a:sym typeface="Arial"/>
                        </a:rPr>
                        <a:t>The paper conducts a literature review of 19 research papers on ERP implementation.</a:t>
                      </a:r>
                      <a:endParaRPr sz="1100">
                        <a:latin typeface="Arial"/>
                        <a:ea typeface="Arial"/>
                        <a:cs typeface="Arial"/>
                        <a:sym typeface="Arial"/>
                      </a:endParaRPr>
                    </a:p>
                    <a:p>
                      <a:pPr indent="0" lvl="0" marL="91440" marR="91440" rtl="0" algn="l">
                        <a:spcBef>
                          <a:spcPts val="0"/>
                        </a:spcBef>
                        <a:spcAft>
                          <a:spcPts val="0"/>
                        </a:spcAft>
                        <a:buClr>
                          <a:schemeClr val="dk1"/>
                        </a:buClr>
                        <a:buSzPts val="1100"/>
                        <a:buFont typeface="Arial"/>
                        <a:buNone/>
                      </a:pPr>
                      <a:r>
                        <a:rPr lang="en" sz="1100">
                          <a:latin typeface="Arial"/>
                          <a:ea typeface="Arial"/>
                          <a:cs typeface="Arial"/>
                          <a:sym typeface="Arial"/>
                        </a:rPr>
                        <a:t>It analyzes ERP systems based on implementation methodologies, software types (open-source vs closed-source), modules, and company size.</a:t>
                      </a:r>
                      <a:endParaRPr sz="1100">
                        <a:latin typeface="Arial"/>
                        <a:ea typeface="Arial"/>
                        <a:cs typeface="Arial"/>
                        <a:sym typeface="Arial"/>
                      </a:endParaRPr>
                    </a:p>
                    <a:p>
                      <a:pPr indent="0" lvl="0" marL="91440" marR="91440" rtl="0" algn="l">
                        <a:lnSpc>
                          <a:spcPct val="100000"/>
                        </a:lnSpc>
                        <a:spcBef>
                          <a:spcPts val="0"/>
                        </a:spcBef>
                        <a:spcAft>
                          <a:spcPts val="0"/>
                        </a:spcAft>
                        <a:buNone/>
                      </a:pPr>
                      <a:r>
                        <a:rPr lang="en" sz="1100">
                          <a:latin typeface="Arial"/>
                          <a:ea typeface="Arial"/>
                          <a:cs typeface="Arial"/>
                          <a:sym typeface="Arial"/>
                        </a:rPr>
                        <a:t>Different ERP implementation approaches (SAP ASAP, Oracle OUM, Odoo method) are compared and discussed.</a:t>
                      </a:r>
                      <a:endParaRPr sz="1300">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91440" marR="91440" rtl="0" algn="l">
                        <a:spcBef>
                          <a:spcPts val="0"/>
                        </a:spcBef>
                        <a:spcAft>
                          <a:spcPts val="0"/>
                        </a:spcAft>
                        <a:buClr>
                          <a:schemeClr val="dk1"/>
                        </a:buClr>
                        <a:buSzPts val="1100"/>
                        <a:buFont typeface="Arial"/>
                        <a:buNone/>
                      </a:pPr>
                      <a:r>
                        <a:rPr lang="en" sz="1100">
                          <a:latin typeface="Arial"/>
                          <a:ea typeface="Arial"/>
                          <a:cs typeface="Arial"/>
                          <a:sym typeface="Arial"/>
                        </a:rPr>
                        <a:t>No experimental validation or real system</a:t>
                      </a:r>
                      <a:endParaRPr sz="1100">
                        <a:latin typeface="Arial"/>
                        <a:ea typeface="Arial"/>
                        <a:cs typeface="Arial"/>
                        <a:sym typeface="Arial"/>
                      </a:endParaRPr>
                    </a:p>
                    <a:p>
                      <a:pPr indent="0" lvl="0" marL="91440" marR="91440" rtl="0" algn="l">
                        <a:spcBef>
                          <a:spcPts val="0"/>
                        </a:spcBef>
                        <a:spcAft>
                          <a:spcPts val="0"/>
                        </a:spcAft>
                        <a:buClr>
                          <a:schemeClr val="dk1"/>
                        </a:buClr>
                        <a:buSzPts val="1100"/>
                        <a:buFont typeface="Arial"/>
                        <a:buNone/>
                      </a:pPr>
                      <a:r>
                        <a:rPr lang="en" sz="1100">
                          <a:latin typeface="Arial"/>
                          <a:ea typeface="Arial"/>
                          <a:cs typeface="Arial"/>
                          <a:sym typeface="Arial"/>
                        </a:rPr>
                        <a:t>No performance comparison between ERP systes</a:t>
                      </a:r>
                      <a:endParaRPr sz="1100">
                        <a:latin typeface="Arial"/>
                        <a:ea typeface="Arial"/>
                        <a:cs typeface="Arial"/>
                        <a:sym typeface="Arial"/>
                      </a:endParaRPr>
                    </a:p>
                    <a:p>
                      <a:pPr indent="0" lvl="0" marL="91440" marR="91440" rtl="0" algn="l">
                        <a:spcBef>
                          <a:spcPts val="0"/>
                        </a:spcBef>
                        <a:spcAft>
                          <a:spcPts val="0"/>
                        </a:spcAft>
                        <a:buClr>
                          <a:schemeClr val="dk1"/>
                        </a:buClr>
                        <a:buSzPts val="1100"/>
                        <a:buFont typeface="Arial"/>
                        <a:buNone/>
                      </a:pPr>
                      <a:r>
                        <a:rPr lang="en" sz="1100">
                          <a:latin typeface="Arial"/>
                          <a:ea typeface="Arial"/>
                          <a:cs typeface="Arial"/>
                          <a:sym typeface="Arial"/>
                        </a:rPr>
                        <a:t>Does not evaluate which methodology is best</a:t>
                      </a:r>
                      <a:endParaRPr sz="1100">
                        <a:latin typeface="Arial"/>
                        <a:ea typeface="Arial"/>
                        <a:cs typeface="Arial"/>
                        <a:sym typeface="Arial"/>
                      </a:endParaRPr>
                    </a:p>
                    <a:p>
                      <a:pPr indent="0" lvl="0" marL="91440" marR="91440" rtl="0" algn="l">
                        <a:spcBef>
                          <a:spcPts val="0"/>
                        </a:spcBef>
                        <a:spcAft>
                          <a:spcPts val="0"/>
                        </a:spcAft>
                        <a:buClr>
                          <a:schemeClr val="dk1"/>
                        </a:buClr>
                        <a:buSzPts val="1100"/>
                        <a:buFont typeface="Arial"/>
                        <a:buNone/>
                      </a:pPr>
                      <a:r>
                        <a:rPr lang="en" sz="1100">
                          <a:latin typeface="Arial"/>
                          <a:ea typeface="Arial"/>
                          <a:cs typeface="Arial"/>
                          <a:sym typeface="Arial"/>
                        </a:rPr>
                        <a:t>Lacks user experience / usability analysis</a:t>
                      </a:r>
                      <a:endParaRPr sz="1100">
                        <a:latin typeface="Arial"/>
                        <a:ea typeface="Arial"/>
                        <a:cs typeface="Arial"/>
                        <a:sym typeface="Arial"/>
                      </a:endParaRPr>
                    </a:p>
                    <a:p>
                      <a:pPr indent="0" lvl="0" marL="91440" marR="91440" rtl="0" algn="l">
                        <a:spcBef>
                          <a:spcPts val="0"/>
                        </a:spcBef>
                        <a:spcAft>
                          <a:spcPts val="0"/>
                        </a:spcAft>
                        <a:buSzPts val="1100"/>
                        <a:buNone/>
                      </a:pPr>
                      <a:r>
                        <a:rPr lang="en" sz="1100">
                          <a:latin typeface="Arial"/>
                          <a:ea typeface="Arial"/>
                          <a:cs typeface="Arial"/>
                          <a:sym typeface="Arial"/>
                        </a:rPr>
                        <a:t>No intelligent/automated ERP system (no AI/ML)</a:t>
                      </a:r>
                      <a:endParaRPr sz="1300">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91440" marR="91440" rtl="0" algn="l">
                        <a:spcBef>
                          <a:spcPts val="0"/>
                        </a:spcBef>
                        <a:spcAft>
                          <a:spcPts val="0"/>
                        </a:spcAft>
                        <a:buClr>
                          <a:schemeClr val="dk1"/>
                        </a:buClr>
                        <a:buSzPts val="1100"/>
                        <a:buFont typeface="Arial"/>
                        <a:buNone/>
                      </a:pPr>
                      <a:r>
                        <a:rPr lang="en" sz="1300">
                          <a:latin typeface="Arial"/>
                          <a:ea typeface="Arial"/>
                          <a:cs typeface="Arial"/>
                          <a:sym typeface="Arial"/>
                        </a:rPr>
                        <a:t>Provides overview of ERP implementation methodologies (SAP, Oracle, Odoo)</a:t>
                      </a:r>
                      <a:endParaRPr sz="1300">
                        <a:latin typeface="Arial"/>
                        <a:ea typeface="Arial"/>
                        <a:cs typeface="Arial"/>
                        <a:sym typeface="Arial"/>
                      </a:endParaRPr>
                    </a:p>
                    <a:p>
                      <a:pPr indent="0" lvl="0" marL="91440" marR="91440" rtl="0" algn="l">
                        <a:spcBef>
                          <a:spcPts val="0"/>
                        </a:spcBef>
                        <a:spcAft>
                          <a:spcPts val="0"/>
                        </a:spcAft>
                        <a:buClr>
                          <a:schemeClr val="dk1"/>
                        </a:buClr>
                        <a:buSzPts val="1100"/>
                        <a:buFont typeface="Arial"/>
                        <a:buNone/>
                      </a:pPr>
                      <a:r>
                        <a:rPr lang="en" sz="1300">
                          <a:latin typeface="Arial"/>
                          <a:ea typeface="Arial"/>
                          <a:cs typeface="Arial"/>
                          <a:sym typeface="Arial"/>
                        </a:rPr>
                        <a:t>Identifies differences in implementation across companies</a:t>
                      </a:r>
                      <a:endParaRPr sz="1300">
                        <a:latin typeface="Arial"/>
                        <a:ea typeface="Arial"/>
                        <a:cs typeface="Arial"/>
                        <a:sym typeface="Arial"/>
                      </a:endParaRPr>
                    </a:p>
                    <a:p>
                      <a:pPr indent="0" lvl="0" marL="91440" marR="91440" rtl="0" algn="l">
                        <a:lnSpc>
                          <a:spcPct val="100000"/>
                        </a:lnSpc>
                        <a:spcBef>
                          <a:spcPts val="0"/>
                        </a:spcBef>
                        <a:spcAft>
                          <a:spcPts val="0"/>
                        </a:spcAft>
                        <a:buNone/>
                      </a:pPr>
                      <a:r>
                        <a:rPr lang="en" sz="1300">
                          <a:latin typeface="Times New Roman"/>
                          <a:ea typeface="Times New Roman"/>
                          <a:cs typeface="Times New Roman"/>
                          <a:sym typeface="Times New Roman"/>
                        </a:rPr>
                        <a:t>Covers multiple case studies (19 papers)</a:t>
                      </a:r>
                      <a:endParaRPr sz="1300">
                        <a:latin typeface="Times New Roman"/>
                        <a:ea typeface="Times New Roman"/>
                        <a:cs typeface="Times New Roman"/>
                        <a:sym typeface="Times New Roman"/>
                      </a:endParaRPr>
                    </a:p>
                    <a:p>
                      <a:pPr indent="0" lvl="0" marL="91440" marR="91440" rtl="0" algn="l">
                        <a:lnSpc>
                          <a:spcPct val="100000"/>
                        </a:lnSpc>
                        <a:spcBef>
                          <a:spcPts val="0"/>
                        </a:spcBef>
                        <a:spcAft>
                          <a:spcPts val="0"/>
                        </a:spcAft>
                        <a:buNone/>
                      </a:pPr>
                      <a:r>
                        <a:rPr lang="en" sz="1300">
                          <a:latin typeface="Times New Roman"/>
                          <a:ea typeface="Times New Roman"/>
                          <a:cs typeface="Times New Roman"/>
                          <a:sym typeface="Times New Roman"/>
                        </a:rPr>
                        <a:t>We focus on Improving user experience and we add smart automation systems</a:t>
                      </a:r>
                      <a:endParaRPr sz="1300">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1285000">
                <a:tc>
                  <a:txBody>
                    <a:bodyPr/>
                    <a:lstStyle/>
                    <a:p>
                      <a:pPr indent="0" lvl="0" marL="91440" marR="91440" rtl="0" algn="l">
                        <a:lnSpc>
                          <a:spcPct val="100000"/>
                        </a:lnSpc>
                        <a:spcBef>
                          <a:spcPts val="0"/>
                        </a:spcBef>
                        <a:spcAft>
                          <a:spcPts val="0"/>
                        </a:spcAft>
                        <a:buNone/>
                      </a:pPr>
                      <a:r>
                        <a:rPr b="1" lang="en" sz="1300" u="sng">
                          <a:latin typeface="Times New Roman"/>
                          <a:ea typeface="Times New Roman"/>
                          <a:cs typeface="Times New Roman"/>
                          <a:sym typeface="Times New Roman"/>
                        </a:rPr>
                        <a:t>ERP ODOO IMPLEMENTATION IN SMALL RETAILERS:-</a:t>
                      </a:r>
                      <a:r>
                        <a:rPr lang="en" sz="1100">
                          <a:latin typeface="Arial"/>
                          <a:ea typeface="Arial"/>
                          <a:cs typeface="Arial"/>
                          <a:sym typeface="Arial"/>
                        </a:rPr>
                        <a:t>The study uses an ERP implementation approach with Business Process Re-engineering (BPR).</a:t>
                      </a:r>
                      <a:endParaRPr sz="1100">
                        <a:latin typeface="Arial"/>
                        <a:ea typeface="Arial"/>
                        <a:cs typeface="Arial"/>
                        <a:sym typeface="Arial"/>
                      </a:endParaRPr>
                    </a:p>
                    <a:p>
                      <a:pPr indent="0" lvl="0" marL="91440" marR="91440" rtl="0" algn="l">
                        <a:spcBef>
                          <a:spcPts val="0"/>
                        </a:spcBef>
                        <a:spcAft>
                          <a:spcPts val="0"/>
                        </a:spcAft>
                        <a:buClr>
                          <a:schemeClr val="dk1"/>
                        </a:buClr>
                        <a:buSzPts val="1100"/>
                        <a:buFont typeface="Arial"/>
                        <a:buNone/>
                      </a:pPr>
                      <a:r>
                        <a:rPr lang="en" sz="1100">
                          <a:latin typeface="Arial"/>
                          <a:ea typeface="Arial"/>
                          <a:cs typeface="Arial"/>
                          <a:sym typeface="Arial"/>
                        </a:rPr>
                        <a:t>It analyzes existing business processes (As-Is) and redesigns them into ERP-based processes (To-Be).</a:t>
                      </a:r>
                      <a:endParaRPr sz="1100">
                        <a:latin typeface="Arial"/>
                        <a:ea typeface="Arial"/>
                        <a:cs typeface="Arial"/>
                        <a:sym typeface="Arial"/>
                      </a:endParaRPr>
                    </a:p>
                    <a:p>
                      <a:pPr indent="0" lvl="0" marL="91440" marR="91440" rtl="0" algn="l">
                        <a:spcBef>
                          <a:spcPts val="0"/>
                        </a:spcBef>
                        <a:spcAft>
                          <a:spcPts val="0"/>
                        </a:spcAft>
                        <a:buSzPts val="1100"/>
                        <a:buNone/>
                      </a:pPr>
                      <a:r>
                        <a:rPr lang="en" sz="1100">
                          <a:latin typeface="Arial"/>
                          <a:ea typeface="Arial"/>
                          <a:cs typeface="Arial"/>
                          <a:sym typeface="Arial"/>
                        </a:rPr>
                        <a:t>A Fit/Gap analysis is used to compare manual and ERP-based processes.Implementation is carried out using Odoo ERP across modules like accounting, inventory, purchase, and POS.</a:t>
                      </a:r>
                      <a:endParaRPr sz="1300" u="sng">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91440" marR="91440" rtl="0" algn="l">
                        <a:lnSpc>
                          <a:spcPct val="100000"/>
                        </a:lnSpc>
                        <a:spcBef>
                          <a:spcPts val="0"/>
                        </a:spcBef>
                        <a:spcAft>
                          <a:spcPts val="0"/>
                        </a:spcAft>
                        <a:buNone/>
                      </a:pPr>
                      <a:r>
                        <a:rPr lang="en" sz="1300">
                          <a:latin typeface="Arial"/>
                          <a:ea typeface="Arial"/>
                          <a:cs typeface="Arial"/>
                          <a:sym typeface="Arial"/>
                        </a:rPr>
                        <a:t>No comparison with other ERP systems</a:t>
                      </a:r>
                      <a:endParaRPr sz="1300">
                        <a:latin typeface="Arial"/>
                        <a:ea typeface="Arial"/>
                        <a:cs typeface="Arial"/>
                        <a:sym typeface="Arial"/>
                      </a:endParaRPr>
                    </a:p>
                    <a:p>
                      <a:pPr indent="0" lvl="0" marL="91440" marR="91440" rtl="0" algn="l">
                        <a:spcBef>
                          <a:spcPts val="0"/>
                        </a:spcBef>
                        <a:spcAft>
                          <a:spcPts val="0"/>
                        </a:spcAft>
                        <a:buClr>
                          <a:schemeClr val="dk1"/>
                        </a:buClr>
                        <a:buSzPts val="1100"/>
                        <a:buFont typeface="Arial"/>
                        <a:buNone/>
                      </a:pPr>
                      <a:r>
                        <a:rPr lang="en" sz="1300">
                          <a:latin typeface="Arial"/>
                          <a:ea typeface="Arial"/>
                          <a:cs typeface="Arial"/>
                          <a:sym typeface="Arial"/>
                        </a:rPr>
                        <a:t>No security or data privacy discussion</a:t>
                      </a:r>
                      <a:endParaRPr sz="1300">
                        <a:latin typeface="Arial"/>
                        <a:ea typeface="Arial"/>
                        <a:cs typeface="Arial"/>
                        <a:sym typeface="Arial"/>
                      </a:endParaRPr>
                    </a:p>
                    <a:p>
                      <a:pPr indent="0" lvl="0" marL="91440" marR="91440" rtl="0" algn="l">
                        <a:spcBef>
                          <a:spcPts val="0"/>
                        </a:spcBef>
                        <a:spcAft>
                          <a:spcPts val="0"/>
                        </a:spcAft>
                        <a:buSzPts val="1100"/>
                        <a:buNone/>
                      </a:pPr>
                      <a:r>
                        <a:rPr lang="en" sz="1300">
                          <a:latin typeface="Arial"/>
                          <a:ea typeface="Arial"/>
                          <a:cs typeface="Arial"/>
                          <a:sym typeface="Arial"/>
                        </a:rPr>
                        <a:t>No real-time analytics or decision support</a:t>
                      </a:r>
                      <a:endParaRPr sz="1300">
                        <a:latin typeface="Arial"/>
                        <a:ea typeface="Arial"/>
                        <a:cs typeface="Arial"/>
                        <a:sym typeface="Arial"/>
                      </a:endParaRPr>
                    </a:p>
                    <a:p>
                      <a:pPr indent="0" lvl="0" marL="91440" marR="91440" rtl="0" algn="l">
                        <a:spcBef>
                          <a:spcPts val="0"/>
                        </a:spcBef>
                        <a:spcAft>
                          <a:spcPts val="0"/>
                        </a:spcAft>
                        <a:buSzPts val="1100"/>
                        <a:buNone/>
                      </a:pPr>
                      <a:r>
                        <a:rPr lang="en" sz="1300">
                          <a:latin typeface="Arial"/>
                          <a:ea typeface="Arial"/>
                          <a:cs typeface="Arial"/>
                          <a:sym typeface="Arial"/>
                        </a:rPr>
                        <a:t>No </a:t>
                      </a:r>
                      <a:r>
                        <a:rPr lang="en" sz="1300">
                          <a:latin typeface="Arial"/>
                          <a:ea typeface="Arial"/>
                          <a:cs typeface="Arial"/>
                          <a:sym typeface="Arial"/>
                        </a:rPr>
                        <a:t>reliable</a:t>
                      </a:r>
                      <a:r>
                        <a:rPr lang="en" sz="1300">
                          <a:latin typeface="Arial"/>
                          <a:ea typeface="Arial"/>
                          <a:cs typeface="Arial"/>
                          <a:sym typeface="Arial"/>
                        </a:rPr>
                        <a:t> </a:t>
                      </a:r>
                      <a:r>
                        <a:rPr lang="en" sz="1300">
                          <a:latin typeface="Arial"/>
                          <a:ea typeface="Arial"/>
                          <a:cs typeface="Arial"/>
                          <a:sym typeface="Arial"/>
                        </a:rPr>
                        <a:t>analytics dashborad</a:t>
                      </a:r>
                      <a:endParaRPr sz="1100">
                        <a:latin typeface="Arial"/>
                        <a:ea typeface="Arial"/>
                        <a:cs typeface="Arial"/>
                        <a:sym typeface="Arial"/>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91440" marR="91440" rtl="0" algn="l">
                        <a:lnSpc>
                          <a:spcPct val="100000"/>
                        </a:lnSpc>
                        <a:spcBef>
                          <a:spcPts val="0"/>
                        </a:spcBef>
                        <a:spcAft>
                          <a:spcPts val="0"/>
                        </a:spcAft>
                        <a:buNone/>
                      </a:pPr>
                      <a:r>
                        <a:rPr lang="en" sz="1300">
                          <a:latin typeface="Times New Roman"/>
                          <a:ea typeface="Times New Roman"/>
                          <a:cs typeface="Times New Roman"/>
                          <a:sym typeface="Times New Roman"/>
                        </a:rPr>
                        <a:t>Provides structured financial reports</a:t>
                      </a:r>
                      <a:endParaRPr sz="1300">
                        <a:latin typeface="Times New Roman"/>
                        <a:ea typeface="Times New Roman"/>
                        <a:cs typeface="Times New Roman"/>
                        <a:sym typeface="Times New Roman"/>
                      </a:endParaRPr>
                    </a:p>
                    <a:p>
                      <a:pPr indent="0" lvl="0" marL="91440" marR="91440" rtl="0" algn="l">
                        <a:spcBef>
                          <a:spcPts val="0"/>
                        </a:spcBef>
                        <a:spcAft>
                          <a:spcPts val="0"/>
                        </a:spcAft>
                        <a:buClr>
                          <a:schemeClr val="dk1"/>
                        </a:buClr>
                        <a:buSzPts val="1100"/>
                        <a:buFont typeface="Arial"/>
                        <a:buNone/>
                      </a:pPr>
                      <a:r>
                        <a:rPr lang="en" sz="1300">
                          <a:latin typeface="Arial"/>
                          <a:ea typeface="Arial"/>
                          <a:cs typeface="Arial"/>
                          <a:sym typeface="Arial"/>
                        </a:rPr>
                        <a:t>Integrates all departments into single database</a:t>
                      </a:r>
                      <a:endParaRPr sz="1300">
                        <a:latin typeface="Arial"/>
                        <a:ea typeface="Arial"/>
                        <a:cs typeface="Arial"/>
                        <a:sym typeface="Arial"/>
                      </a:endParaRPr>
                    </a:p>
                    <a:p>
                      <a:pPr indent="0" lvl="0" marL="91440" marR="91440" rtl="0" algn="l">
                        <a:spcBef>
                          <a:spcPts val="0"/>
                        </a:spcBef>
                        <a:spcAft>
                          <a:spcPts val="0"/>
                        </a:spcAft>
                        <a:buClr>
                          <a:schemeClr val="dk1"/>
                        </a:buClr>
                        <a:buSzPts val="1100"/>
                        <a:buFont typeface="Arial"/>
                        <a:buNone/>
                      </a:pPr>
                      <a:r>
                        <a:rPr lang="en" sz="1300">
                          <a:latin typeface="Arial"/>
                          <a:ea typeface="Arial"/>
                          <a:cs typeface="Arial"/>
                          <a:sym typeface="Arial"/>
                        </a:rPr>
                        <a:t>Improves stock tracking using barcode system</a:t>
                      </a:r>
                      <a:endParaRPr sz="1300">
                        <a:latin typeface="Arial"/>
                        <a:ea typeface="Arial"/>
                        <a:cs typeface="Arial"/>
                        <a:sym typeface="Arial"/>
                      </a:endParaRPr>
                    </a:p>
                    <a:p>
                      <a:pPr indent="0" lvl="0" marL="91440" marR="91440" rtl="0" algn="l">
                        <a:lnSpc>
                          <a:spcPct val="100000"/>
                        </a:lnSpc>
                        <a:spcBef>
                          <a:spcPts val="0"/>
                        </a:spcBef>
                        <a:spcAft>
                          <a:spcPts val="0"/>
                        </a:spcAft>
                        <a:buNone/>
                      </a:pPr>
                      <a:r>
                        <a:rPr lang="en" sz="1300">
                          <a:latin typeface="Times New Roman"/>
                          <a:ea typeface="Times New Roman"/>
                          <a:cs typeface="Times New Roman"/>
                          <a:sym typeface="Times New Roman"/>
                        </a:rPr>
                        <a:t>We Add Comparable Analytics using visual charts </a:t>
                      </a:r>
                      <a:endParaRPr sz="1300">
                        <a:latin typeface="Times New Roman"/>
                        <a:ea typeface="Times New Roman"/>
                        <a:cs typeface="Times New Roman"/>
                        <a:sym typeface="Times New Roman"/>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bl>
          </a:graphicData>
        </a:graphic>
      </p:graphicFrame>
      <p:sp>
        <p:nvSpPr>
          <p:cNvPr id="128" name="Google Shape;128;p21"/>
          <p:cNvSpPr txBox="1"/>
          <p:nvPr>
            <p:ph type="title"/>
          </p:nvPr>
        </p:nvSpPr>
        <p:spPr>
          <a:xfrm>
            <a:off x="3040381" y="177319"/>
            <a:ext cx="3063300" cy="483900"/>
          </a:xfrm>
          <a:prstGeom prst="rect">
            <a:avLst/>
          </a:prstGeom>
          <a:noFill/>
          <a:ln>
            <a:noFill/>
          </a:ln>
        </p:spPr>
        <p:txBody>
          <a:bodyPr anchorCtr="0" anchor="t" bIns="0" lIns="0" spcFirstLastPara="1" rIns="0" wrap="square" tIns="6675">
            <a:spAutoFit/>
          </a:bodyPr>
          <a:lstStyle/>
          <a:p>
            <a:pPr indent="0" lvl="0" marL="12700" rtl="0" algn="l">
              <a:lnSpc>
                <a:spcPct val="100000"/>
              </a:lnSpc>
              <a:spcBef>
                <a:spcPts val="0"/>
              </a:spcBef>
              <a:spcAft>
                <a:spcPts val="0"/>
              </a:spcAft>
              <a:buNone/>
            </a:pPr>
            <a:r>
              <a:rPr lang="en"/>
              <a:t>Literature Review</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idx="11" type="ftr"/>
          </p:nvPr>
        </p:nvSpPr>
        <p:spPr>
          <a:xfrm>
            <a:off x="3621218" y="4871159"/>
            <a:ext cx="2010300" cy="138600"/>
          </a:xfrm>
          <a:prstGeom prst="rect">
            <a:avLst/>
          </a:prstGeom>
          <a:noFill/>
          <a:ln>
            <a:noFill/>
          </a:ln>
        </p:spPr>
        <p:txBody>
          <a:bodyPr anchorCtr="0" anchor="t" bIns="0" lIns="0" spcFirstLastPara="1" rIns="0" wrap="square" tIns="0">
            <a:spAutoFit/>
          </a:bodyPr>
          <a:lstStyle/>
          <a:p>
            <a:pPr indent="0" lvl="0" marL="12700" rtl="0" algn="l">
              <a:lnSpc>
                <a:spcPct val="122222"/>
              </a:lnSpc>
              <a:spcBef>
                <a:spcPts val="0"/>
              </a:spcBef>
              <a:spcAft>
                <a:spcPts val="0"/>
              </a:spcAft>
              <a:buNone/>
            </a:pPr>
            <a:r>
              <a:rPr lang="en"/>
              <a:t>Department of Computer Engineering</a:t>
            </a:r>
            <a:endParaRPr/>
          </a:p>
        </p:txBody>
      </p:sp>
      <p:graphicFrame>
        <p:nvGraphicFramePr>
          <p:cNvPr id="134" name="Google Shape;134;p22"/>
          <p:cNvGraphicFramePr/>
          <p:nvPr/>
        </p:nvGraphicFramePr>
        <p:xfrm>
          <a:off x="96537" y="731936"/>
          <a:ext cx="3000000" cy="3000000"/>
        </p:xfrm>
        <a:graphic>
          <a:graphicData uri="http://schemas.openxmlformats.org/drawingml/2006/table">
            <a:tbl>
              <a:tblPr bandRow="1" firstRow="1">
                <a:noFill/>
                <a:tableStyleId>{ACE46F92-1EF2-4096-A548-2BCCBEC776F4}</a:tableStyleId>
              </a:tblPr>
              <a:tblGrid>
                <a:gridCol w="3981525"/>
                <a:gridCol w="2064600"/>
                <a:gridCol w="2861300"/>
              </a:tblGrid>
              <a:tr h="584250">
                <a:tc>
                  <a:txBody>
                    <a:bodyPr/>
                    <a:lstStyle/>
                    <a:p>
                      <a:pPr indent="0" lvl="0" marL="91440" marR="0" rtl="0" algn="ctr">
                        <a:lnSpc>
                          <a:spcPct val="100000"/>
                        </a:lnSpc>
                        <a:spcBef>
                          <a:spcPts val="0"/>
                        </a:spcBef>
                        <a:spcAft>
                          <a:spcPts val="0"/>
                        </a:spcAft>
                        <a:buNone/>
                      </a:pPr>
                      <a:r>
                        <a:rPr b="1" lang="en">
                          <a:latin typeface="Times New Roman"/>
                          <a:ea typeface="Times New Roman"/>
                          <a:cs typeface="Times New Roman"/>
                          <a:sym typeface="Times New Roman"/>
                        </a:rPr>
                        <a:t>Research Paper Review</a:t>
                      </a:r>
                      <a:endParaRPr b="1" u="none" cap="none" strike="noStrike">
                        <a:latin typeface="Times New Roman"/>
                        <a:ea typeface="Times New Roman"/>
                        <a:cs typeface="Times New Roman"/>
                        <a:sym typeface="Times New Roman"/>
                      </a:endParaRPr>
                    </a:p>
                  </a:txBody>
                  <a:tcPr marT="0" marB="0" marR="0" marL="0"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A9999"/>
                    </a:solidFill>
                  </a:tcPr>
                </a:tc>
                <a:tc>
                  <a:txBody>
                    <a:bodyPr/>
                    <a:lstStyle/>
                    <a:p>
                      <a:pPr indent="0" lvl="0" marL="91440" marR="0" rtl="0" algn="ctr">
                        <a:lnSpc>
                          <a:spcPct val="100000"/>
                        </a:lnSpc>
                        <a:spcBef>
                          <a:spcPts val="0"/>
                        </a:spcBef>
                        <a:spcAft>
                          <a:spcPts val="0"/>
                        </a:spcAft>
                        <a:buNone/>
                      </a:pPr>
                      <a:r>
                        <a:rPr b="1" lang="en">
                          <a:latin typeface="Times New Roman"/>
                          <a:ea typeface="Times New Roman"/>
                          <a:cs typeface="Times New Roman"/>
                          <a:sym typeface="Times New Roman"/>
                        </a:rPr>
                        <a:t>Identified Gaps</a:t>
                      </a:r>
                      <a:endParaRPr b="1" u="none" cap="none" strike="noStrike">
                        <a:latin typeface="Times New Roman"/>
                        <a:ea typeface="Times New Roman"/>
                        <a:cs typeface="Times New Roman"/>
                        <a:sym typeface="Times New Roman"/>
                      </a:endParaRPr>
                    </a:p>
                  </a:txBody>
                  <a:tcPr marT="0" marB="0" marR="0" marL="0"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A9999"/>
                    </a:solidFill>
                  </a:tcPr>
                </a:tc>
                <a:tc>
                  <a:txBody>
                    <a:bodyPr/>
                    <a:lstStyle/>
                    <a:p>
                      <a:pPr indent="0" lvl="0" marL="91440" marR="0" rtl="0" algn="ctr">
                        <a:lnSpc>
                          <a:spcPct val="100000"/>
                        </a:lnSpc>
                        <a:spcBef>
                          <a:spcPts val="0"/>
                        </a:spcBef>
                        <a:spcAft>
                          <a:spcPts val="0"/>
                        </a:spcAft>
                        <a:buNone/>
                      </a:pPr>
                      <a:r>
                        <a:rPr b="1" lang="en">
                          <a:latin typeface="Times New Roman"/>
                          <a:ea typeface="Times New Roman"/>
                          <a:cs typeface="Times New Roman"/>
                          <a:sym typeface="Times New Roman"/>
                        </a:rPr>
                        <a:t>Our project contribution </a:t>
                      </a:r>
                      <a:endParaRPr b="1" u="none" cap="none" strike="noStrike">
                        <a:latin typeface="Times New Roman"/>
                        <a:ea typeface="Times New Roman"/>
                        <a:cs typeface="Times New Roman"/>
                        <a:sym typeface="Times New Roman"/>
                      </a:endParaRPr>
                    </a:p>
                  </a:txBody>
                  <a:tcPr marT="0" marB="0" marR="0" marL="0"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A9999"/>
                    </a:solidFill>
                  </a:tcPr>
                </a:tc>
              </a:tr>
              <a:tr h="1644625">
                <a:tc>
                  <a:txBody>
                    <a:bodyPr/>
                    <a:lstStyle/>
                    <a:p>
                      <a:pPr indent="0" lvl="0" marL="91440" marR="0" rtl="0" algn="l">
                        <a:lnSpc>
                          <a:spcPct val="100000"/>
                        </a:lnSpc>
                        <a:spcBef>
                          <a:spcPts val="0"/>
                        </a:spcBef>
                        <a:spcAft>
                          <a:spcPts val="0"/>
                        </a:spcAft>
                        <a:buNone/>
                      </a:pPr>
                      <a:r>
                        <a:rPr b="1" lang="en" sz="1300" u="sng">
                          <a:latin typeface="Times New Roman"/>
                          <a:ea typeface="Times New Roman"/>
                          <a:cs typeface="Times New Roman"/>
                          <a:sym typeface="Times New Roman"/>
                        </a:rPr>
                        <a:t>ERP SYSTEMS ARCHITECTURE FOR THE MODERN AGE: A REVIEW OF THE STATE OF THE ART TECHNOLOGIES:-</a:t>
                      </a:r>
                      <a:r>
                        <a:rPr lang="en" sz="1100">
                          <a:latin typeface="Arial"/>
                          <a:ea typeface="Arial"/>
                          <a:cs typeface="Arial"/>
                          <a:sym typeface="Arial"/>
                        </a:rPr>
                        <a:t>This paper follows a </a:t>
                      </a:r>
                      <a:r>
                        <a:rPr b="1" lang="en" sz="1100">
                          <a:latin typeface="Arial"/>
                          <a:ea typeface="Arial"/>
                          <a:cs typeface="Arial"/>
                          <a:sym typeface="Arial"/>
                        </a:rPr>
                        <a:t>systematic literature review approach</a:t>
                      </a:r>
                      <a:r>
                        <a:rPr lang="en" sz="1100">
                          <a:latin typeface="Arial"/>
                          <a:ea typeface="Arial"/>
                          <a:cs typeface="Arial"/>
                          <a:sym typeface="Arial"/>
                        </a:rPr>
                        <a:t>, analyzing multiple ERP architecture models and technologies from academic and industrial sources. It categorizes ERP architectures into different styles and evaluates their characteristics, advantages, and limitations.</a:t>
                      </a:r>
                      <a:endParaRPr b="1" sz="1300" u="sng">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c>
                  <a:txBody>
                    <a:bodyPr/>
                    <a:lstStyle/>
                    <a:p>
                      <a:pPr indent="0" lvl="0" marL="91440" rtl="0" algn="l">
                        <a:spcBef>
                          <a:spcPts val="0"/>
                        </a:spcBef>
                        <a:spcAft>
                          <a:spcPts val="0"/>
                        </a:spcAft>
                        <a:buSzPts val="1100"/>
                        <a:buNone/>
                      </a:pPr>
                      <a:r>
                        <a:rPr lang="en">
                          <a:latin typeface="Times New Roman"/>
                          <a:ea typeface="Times New Roman"/>
                          <a:cs typeface="Times New Roman"/>
                          <a:sym typeface="Times New Roman"/>
                        </a:rPr>
                        <a:t>This paper does not give any real-world testing or performance comparison and it also lacks in giving</a:t>
                      </a:r>
                      <a:r>
                        <a:rPr lang="en">
                          <a:latin typeface="Times New Roman"/>
                          <a:ea typeface="Times New Roman"/>
                          <a:cs typeface="Times New Roman"/>
                          <a:sym typeface="Times New Roman"/>
                        </a:rPr>
                        <a:t> </a:t>
                      </a:r>
                      <a:r>
                        <a:rPr lang="en">
                          <a:latin typeface="Times New Roman"/>
                          <a:ea typeface="Times New Roman"/>
                          <a:cs typeface="Times New Roman"/>
                          <a:sym typeface="Times New Roman"/>
                        </a:rPr>
                        <a:t>optimization techniques</a:t>
                      </a:r>
                      <a:endParaRPr>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c>
                  <a:txBody>
                    <a:bodyPr/>
                    <a:lstStyle/>
                    <a:p>
                      <a:pPr indent="0" lvl="0" marL="91440" marR="0" rtl="0" algn="l">
                        <a:lnSpc>
                          <a:spcPct val="100000"/>
                        </a:lnSpc>
                        <a:spcBef>
                          <a:spcPts val="0"/>
                        </a:spcBef>
                        <a:spcAft>
                          <a:spcPts val="0"/>
                        </a:spcAft>
                        <a:buNone/>
                      </a:pPr>
                      <a:r>
                        <a:rPr lang="en">
                          <a:latin typeface="Times New Roman"/>
                          <a:ea typeface="Times New Roman"/>
                          <a:cs typeface="Times New Roman"/>
                          <a:sym typeface="Times New Roman"/>
                        </a:rPr>
                        <a:t>This paper </a:t>
                      </a:r>
                      <a:r>
                        <a:rPr lang="en" sz="1200">
                          <a:latin typeface="Arial"/>
                          <a:ea typeface="Arial"/>
                          <a:cs typeface="Arial"/>
                          <a:sym typeface="Arial"/>
                        </a:rPr>
                        <a:t>Provides </a:t>
                      </a:r>
                      <a:r>
                        <a:rPr b="1" lang="en" sz="1200">
                          <a:latin typeface="Arial"/>
                          <a:ea typeface="Arial"/>
                          <a:cs typeface="Arial"/>
                          <a:sym typeface="Arial"/>
                        </a:rPr>
                        <a:t>complete understanding of ERP architecture</a:t>
                      </a:r>
                      <a:endParaRPr b="1" sz="1200">
                        <a:latin typeface="Arial"/>
                        <a:ea typeface="Arial"/>
                        <a:cs typeface="Arial"/>
                        <a:sym typeface="Arial"/>
                      </a:endParaRPr>
                    </a:p>
                    <a:p>
                      <a:pPr indent="0" lvl="0" marL="91440" rtl="0" algn="l">
                        <a:spcBef>
                          <a:spcPts val="0"/>
                        </a:spcBef>
                        <a:spcAft>
                          <a:spcPts val="0"/>
                        </a:spcAft>
                        <a:buSzPts val="1100"/>
                        <a:buNone/>
                      </a:pPr>
                      <a:r>
                        <a:rPr b="1" lang="en" sz="1200">
                          <a:latin typeface="Arial"/>
                          <a:ea typeface="Arial"/>
                          <a:cs typeface="Arial"/>
                          <a:sym typeface="Arial"/>
                        </a:rPr>
                        <a:t>Introduces:SOA (modular services) Cloud ERP (cost-efficient) Web-based systems</a:t>
                      </a:r>
                      <a:endParaRPr b="1" sz="1200">
                        <a:latin typeface="Arial"/>
                        <a:ea typeface="Arial"/>
                        <a:cs typeface="Arial"/>
                        <a:sym typeface="Arial"/>
                      </a:endParaRPr>
                    </a:p>
                    <a:p>
                      <a:pPr indent="0" lvl="0" marL="91440" rtl="0" algn="l">
                        <a:lnSpc>
                          <a:spcPct val="115000"/>
                        </a:lnSpc>
                        <a:spcBef>
                          <a:spcPts val="0"/>
                        </a:spcBef>
                        <a:spcAft>
                          <a:spcPts val="0"/>
                        </a:spcAft>
                        <a:buSzPts val="1100"/>
                        <a:buNone/>
                      </a:pPr>
                      <a:r>
                        <a:rPr b="1" lang="en" sz="1200">
                          <a:latin typeface="Arial"/>
                          <a:ea typeface="Arial"/>
                          <a:cs typeface="Arial"/>
                          <a:sym typeface="Arial"/>
                        </a:rPr>
                        <a:t>Helps in designing scalable ERP systems and choosing right architecture</a:t>
                      </a:r>
                      <a:endParaRPr b="1" sz="1200">
                        <a:latin typeface="Arial"/>
                        <a:ea typeface="Arial"/>
                        <a:cs typeface="Arial"/>
                        <a:sym typeface="Arial"/>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r>
              <a:tr h="1639700">
                <a:tc>
                  <a:txBody>
                    <a:bodyPr/>
                    <a:lstStyle/>
                    <a:p>
                      <a:pPr indent="0" lvl="0" marL="91440" marR="0" rtl="0" algn="l">
                        <a:lnSpc>
                          <a:spcPct val="100000"/>
                        </a:lnSpc>
                        <a:spcBef>
                          <a:spcPts val="0"/>
                        </a:spcBef>
                        <a:spcAft>
                          <a:spcPts val="0"/>
                        </a:spcAft>
                        <a:buNone/>
                      </a:pPr>
                      <a:r>
                        <a:rPr b="1" lang="en" sz="1300" u="sng">
                          <a:latin typeface="Times New Roman"/>
                          <a:ea typeface="Times New Roman"/>
                          <a:cs typeface="Times New Roman"/>
                          <a:sym typeface="Times New Roman"/>
                        </a:rPr>
                        <a:t>Implementation of Odoo-Based ERP in The Case Study of Micro, Small and Medium Enterprises (MSME) :- </a:t>
                      </a:r>
                      <a:r>
                        <a:rPr lang="en" sz="1300">
                          <a:latin typeface="Times New Roman"/>
                          <a:ea typeface="Times New Roman"/>
                          <a:cs typeface="Times New Roman"/>
                          <a:sym typeface="Times New Roman"/>
                        </a:rPr>
                        <a:t>The paper follows a structured ERP implementation approach using Odoo.</a:t>
                      </a:r>
                      <a:endParaRPr sz="1300">
                        <a:latin typeface="Times New Roman"/>
                        <a:ea typeface="Times New Roman"/>
                        <a:cs typeface="Times New Roman"/>
                        <a:sym typeface="Times New Roman"/>
                      </a:endParaRPr>
                    </a:p>
                    <a:p>
                      <a:pPr indent="0" lvl="0" marL="91440" marR="0" rtl="0" algn="l">
                        <a:lnSpc>
                          <a:spcPct val="100000"/>
                        </a:lnSpc>
                        <a:spcBef>
                          <a:spcPts val="0"/>
                        </a:spcBef>
                        <a:spcAft>
                          <a:spcPts val="0"/>
                        </a:spcAft>
                        <a:buNone/>
                      </a:pPr>
                      <a:r>
                        <a:rPr lang="en" sz="1300">
                          <a:latin typeface="Times New Roman"/>
                          <a:ea typeface="Times New Roman"/>
                          <a:cs typeface="Times New Roman"/>
                          <a:sym typeface="Times New Roman"/>
                        </a:rPr>
                        <a:t>It includes business need analysis, GAP analysis, system design using UML, module configuration, data migration, testing (Black Box &amp; UTAUT), and deployment on cloud VPS.</a:t>
                      </a:r>
                      <a:endParaRPr sz="1300">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c>
                  <a:txBody>
                    <a:bodyPr/>
                    <a:lstStyle/>
                    <a:p>
                      <a:pPr indent="0" lvl="0" marL="91440" marR="0" rtl="0" algn="l">
                        <a:lnSpc>
                          <a:spcPct val="100000"/>
                        </a:lnSpc>
                        <a:spcBef>
                          <a:spcPts val="0"/>
                        </a:spcBef>
                        <a:spcAft>
                          <a:spcPts val="0"/>
                        </a:spcAft>
                        <a:buNone/>
                      </a:pPr>
                      <a:r>
                        <a:rPr lang="en">
                          <a:latin typeface="Times New Roman"/>
                          <a:ea typeface="Times New Roman"/>
                          <a:cs typeface="Times New Roman"/>
                          <a:sym typeface="Times New Roman"/>
                        </a:rPr>
                        <a:t>Performance metrics were not used to track sales and other records of employees</a:t>
                      </a:r>
                      <a:endParaRPr u="none" cap="none" strike="noStrike">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c>
                  <a:txBody>
                    <a:bodyPr/>
                    <a:lstStyle/>
                    <a:p>
                      <a:pPr indent="0" lvl="0" marL="91440" rtl="0" algn="l">
                        <a:spcBef>
                          <a:spcPts val="0"/>
                        </a:spcBef>
                        <a:spcAft>
                          <a:spcPts val="0"/>
                        </a:spcAft>
                        <a:buSzPts val="1100"/>
                        <a:buNone/>
                      </a:pPr>
                      <a:r>
                        <a:rPr lang="en" sz="1200">
                          <a:latin typeface="Arial"/>
                          <a:ea typeface="Arial"/>
                          <a:cs typeface="Arial"/>
                          <a:sym typeface="Arial"/>
                        </a:rPr>
                        <a:t>Provides </a:t>
                      </a:r>
                      <a:r>
                        <a:rPr b="1" lang="en" sz="1200">
                          <a:latin typeface="Arial"/>
                          <a:ea typeface="Arial"/>
                          <a:cs typeface="Arial"/>
                          <a:sym typeface="Arial"/>
                        </a:rPr>
                        <a:t>real-time data flow across modules</a:t>
                      </a:r>
                      <a:endParaRPr b="1" sz="1200">
                        <a:latin typeface="Arial"/>
                        <a:ea typeface="Arial"/>
                        <a:cs typeface="Arial"/>
                        <a:sym typeface="Arial"/>
                      </a:endParaRPr>
                    </a:p>
                    <a:p>
                      <a:pPr indent="0" lvl="0" marL="91440" rtl="0" algn="l">
                        <a:spcBef>
                          <a:spcPts val="0"/>
                        </a:spcBef>
                        <a:spcAft>
                          <a:spcPts val="0"/>
                        </a:spcAft>
                        <a:buSzPts val="1100"/>
                        <a:buNone/>
                      </a:pPr>
                      <a:r>
                        <a:rPr b="1" lang="en" sz="1200">
                          <a:latin typeface="Arial"/>
                          <a:ea typeface="Arial"/>
                          <a:cs typeface="Arial"/>
                          <a:sym typeface="Arial"/>
                        </a:rPr>
                        <a:t>End-to-End workflow for implementation </a:t>
                      </a:r>
                      <a:endParaRPr b="1" sz="1200">
                        <a:latin typeface="Arial"/>
                        <a:ea typeface="Arial"/>
                        <a:cs typeface="Arial"/>
                        <a:sym typeface="Arial"/>
                      </a:endParaRPr>
                    </a:p>
                    <a:p>
                      <a:pPr indent="0" lvl="0" marL="91440" rtl="0" algn="l">
                        <a:spcBef>
                          <a:spcPts val="0"/>
                        </a:spcBef>
                        <a:spcAft>
                          <a:spcPts val="0"/>
                        </a:spcAft>
                        <a:buSzPts val="1100"/>
                        <a:buNone/>
                      </a:pPr>
                      <a:r>
                        <a:rPr b="1" lang="en" sz="1200">
                          <a:latin typeface="Arial"/>
                          <a:ea typeface="Arial"/>
                          <a:cs typeface="Arial"/>
                          <a:sym typeface="Arial"/>
                        </a:rPr>
                        <a:t>Example : F</a:t>
                      </a:r>
                      <a:r>
                        <a:rPr b="1" lang="en" sz="1200">
                          <a:latin typeface="Arial"/>
                          <a:ea typeface="Arial"/>
                          <a:cs typeface="Arial"/>
                          <a:sym typeface="Arial"/>
                        </a:rPr>
                        <a:t>rom order to payment</a:t>
                      </a:r>
                      <a:endParaRPr b="1" sz="1200">
                        <a:latin typeface="Arial"/>
                        <a:ea typeface="Arial"/>
                        <a:cs typeface="Arial"/>
                        <a:sym typeface="Arial"/>
                      </a:endParaRPr>
                    </a:p>
                    <a:p>
                      <a:pPr indent="0" lvl="0" marL="91440" rtl="0" algn="l">
                        <a:spcBef>
                          <a:spcPts val="0"/>
                        </a:spcBef>
                        <a:spcAft>
                          <a:spcPts val="0"/>
                        </a:spcAft>
                        <a:buSzPts val="1100"/>
                        <a:buNone/>
                      </a:pPr>
                      <a:r>
                        <a:rPr b="1" lang="en" sz="1200">
                          <a:latin typeface="Arial"/>
                          <a:ea typeface="Arial"/>
                          <a:cs typeface="Arial"/>
                          <a:sym typeface="Arial"/>
                        </a:rPr>
                        <a:t>Use performance metrics to track sales and other records for the employee</a:t>
                      </a:r>
                      <a:endParaRPr b="1" sz="1200">
                        <a:latin typeface="Arial"/>
                        <a:ea typeface="Arial"/>
                        <a:cs typeface="Arial"/>
                        <a:sym typeface="Arial"/>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r>
            </a:tbl>
          </a:graphicData>
        </a:graphic>
      </p:graphicFrame>
      <p:sp>
        <p:nvSpPr>
          <p:cNvPr id="135" name="Google Shape;135;p22"/>
          <p:cNvSpPr txBox="1"/>
          <p:nvPr>
            <p:ph type="title"/>
          </p:nvPr>
        </p:nvSpPr>
        <p:spPr>
          <a:xfrm>
            <a:off x="3040406" y="253444"/>
            <a:ext cx="3063300" cy="483900"/>
          </a:xfrm>
          <a:prstGeom prst="rect">
            <a:avLst/>
          </a:prstGeom>
          <a:noFill/>
          <a:ln>
            <a:noFill/>
          </a:ln>
        </p:spPr>
        <p:txBody>
          <a:bodyPr anchorCtr="0" anchor="t" bIns="0" lIns="0" spcFirstLastPara="1" rIns="0" wrap="square" tIns="6675">
            <a:spAutoFit/>
          </a:bodyPr>
          <a:lstStyle/>
          <a:p>
            <a:pPr indent="0" lvl="0" marL="12700" rtl="0" algn="l">
              <a:lnSpc>
                <a:spcPct val="100000"/>
              </a:lnSpc>
              <a:spcBef>
                <a:spcPts val="0"/>
              </a:spcBef>
              <a:spcAft>
                <a:spcPts val="0"/>
              </a:spcAft>
              <a:buNone/>
            </a:pPr>
            <a:r>
              <a:rPr lang="en"/>
              <a:t>Literature Review</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3"/>
          <p:cNvSpPr txBox="1"/>
          <p:nvPr>
            <p:ph idx="11" type="ftr"/>
          </p:nvPr>
        </p:nvSpPr>
        <p:spPr>
          <a:xfrm>
            <a:off x="3621218" y="4871159"/>
            <a:ext cx="2010300" cy="138600"/>
          </a:xfrm>
          <a:prstGeom prst="rect">
            <a:avLst/>
          </a:prstGeom>
          <a:noFill/>
          <a:ln>
            <a:noFill/>
          </a:ln>
        </p:spPr>
        <p:txBody>
          <a:bodyPr anchorCtr="0" anchor="t" bIns="0" lIns="0" spcFirstLastPara="1" rIns="0" wrap="square" tIns="0">
            <a:spAutoFit/>
          </a:bodyPr>
          <a:lstStyle/>
          <a:p>
            <a:pPr indent="0" lvl="0" marL="12700" rtl="0" algn="l">
              <a:lnSpc>
                <a:spcPct val="122222"/>
              </a:lnSpc>
              <a:spcBef>
                <a:spcPts val="0"/>
              </a:spcBef>
              <a:spcAft>
                <a:spcPts val="0"/>
              </a:spcAft>
              <a:buNone/>
            </a:pPr>
            <a:r>
              <a:rPr lang="en"/>
              <a:t>Department of Computer Engineering</a:t>
            </a:r>
            <a:endParaRPr/>
          </a:p>
        </p:txBody>
      </p:sp>
      <p:graphicFrame>
        <p:nvGraphicFramePr>
          <p:cNvPr id="141" name="Google Shape;141;p23"/>
          <p:cNvGraphicFramePr/>
          <p:nvPr/>
        </p:nvGraphicFramePr>
        <p:xfrm>
          <a:off x="96537" y="731936"/>
          <a:ext cx="3000000" cy="3000000"/>
        </p:xfrm>
        <a:graphic>
          <a:graphicData uri="http://schemas.openxmlformats.org/drawingml/2006/table">
            <a:tbl>
              <a:tblPr bandRow="1" firstRow="1">
                <a:noFill/>
                <a:tableStyleId>{ACE46F92-1EF2-4096-A548-2BCCBEC776F4}</a:tableStyleId>
              </a:tblPr>
              <a:tblGrid>
                <a:gridCol w="3981525"/>
                <a:gridCol w="2064600"/>
                <a:gridCol w="2861300"/>
              </a:tblGrid>
              <a:tr h="582600">
                <a:tc>
                  <a:txBody>
                    <a:bodyPr/>
                    <a:lstStyle/>
                    <a:p>
                      <a:pPr indent="0" lvl="0" marL="91440" marR="0" rtl="0" algn="ctr">
                        <a:lnSpc>
                          <a:spcPct val="100000"/>
                        </a:lnSpc>
                        <a:spcBef>
                          <a:spcPts val="0"/>
                        </a:spcBef>
                        <a:spcAft>
                          <a:spcPts val="0"/>
                        </a:spcAft>
                        <a:buNone/>
                      </a:pPr>
                      <a:r>
                        <a:rPr b="1" lang="en">
                          <a:latin typeface="Times New Roman"/>
                          <a:ea typeface="Times New Roman"/>
                          <a:cs typeface="Times New Roman"/>
                          <a:sym typeface="Times New Roman"/>
                        </a:rPr>
                        <a:t>Research Paper Review</a:t>
                      </a:r>
                      <a:endParaRPr b="1" u="none" cap="none" strike="noStrike">
                        <a:latin typeface="Times New Roman"/>
                        <a:ea typeface="Times New Roman"/>
                        <a:cs typeface="Times New Roman"/>
                        <a:sym typeface="Times New Roman"/>
                      </a:endParaRPr>
                    </a:p>
                  </a:txBody>
                  <a:tcPr marT="0" marB="0" marR="0" marL="0"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A9999"/>
                    </a:solidFill>
                  </a:tcPr>
                </a:tc>
                <a:tc>
                  <a:txBody>
                    <a:bodyPr/>
                    <a:lstStyle/>
                    <a:p>
                      <a:pPr indent="0" lvl="0" marL="91440" marR="0" rtl="0" algn="ctr">
                        <a:lnSpc>
                          <a:spcPct val="100000"/>
                        </a:lnSpc>
                        <a:spcBef>
                          <a:spcPts val="0"/>
                        </a:spcBef>
                        <a:spcAft>
                          <a:spcPts val="0"/>
                        </a:spcAft>
                        <a:buNone/>
                      </a:pPr>
                      <a:r>
                        <a:rPr b="1" lang="en">
                          <a:latin typeface="Times New Roman"/>
                          <a:ea typeface="Times New Roman"/>
                          <a:cs typeface="Times New Roman"/>
                          <a:sym typeface="Times New Roman"/>
                        </a:rPr>
                        <a:t>Identified Gaps</a:t>
                      </a:r>
                      <a:endParaRPr b="1" u="none" cap="none" strike="noStrike">
                        <a:latin typeface="Times New Roman"/>
                        <a:ea typeface="Times New Roman"/>
                        <a:cs typeface="Times New Roman"/>
                        <a:sym typeface="Times New Roman"/>
                      </a:endParaRPr>
                    </a:p>
                  </a:txBody>
                  <a:tcPr marT="0" marB="0" marR="0" marL="0"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A9999"/>
                    </a:solidFill>
                  </a:tcPr>
                </a:tc>
                <a:tc>
                  <a:txBody>
                    <a:bodyPr/>
                    <a:lstStyle/>
                    <a:p>
                      <a:pPr indent="0" lvl="0" marL="91440" marR="0" rtl="0" algn="ctr">
                        <a:lnSpc>
                          <a:spcPct val="100000"/>
                        </a:lnSpc>
                        <a:spcBef>
                          <a:spcPts val="0"/>
                        </a:spcBef>
                        <a:spcAft>
                          <a:spcPts val="0"/>
                        </a:spcAft>
                        <a:buNone/>
                      </a:pPr>
                      <a:r>
                        <a:rPr b="1" lang="en">
                          <a:latin typeface="Times New Roman"/>
                          <a:ea typeface="Times New Roman"/>
                          <a:cs typeface="Times New Roman"/>
                          <a:sym typeface="Times New Roman"/>
                        </a:rPr>
                        <a:t>Our project contribution </a:t>
                      </a:r>
                      <a:endParaRPr b="1" u="none" cap="none" strike="noStrike">
                        <a:latin typeface="Times New Roman"/>
                        <a:ea typeface="Times New Roman"/>
                        <a:cs typeface="Times New Roman"/>
                        <a:sym typeface="Times New Roman"/>
                      </a:endParaRPr>
                    </a:p>
                  </a:txBody>
                  <a:tcPr marT="0" marB="0" marR="0" marL="0"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A9999"/>
                    </a:solidFill>
                  </a:tcPr>
                </a:tc>
              </a:tr>
              <a:tr h="1640000">
                <a:tc>
                  <a:txBody>
                    <a:bodyPr/>
                    <a:lstStyle/>
                    <a:p>
                      <a:pPr indent="0" lvl="0" marL="91440" marR="0" rtl="0" algn="l">
                        <a:lnSpc>
                          <a:spcPct val="100000"/>
                        </a:lnSpc>
                        <a:spcBef>
                          <a:spcPts val="0"/>
                        </a:spcBef>
                        <a:spcAft>
                          <a:spcPts val="0"/>
                        </a:spcAft>
                        <a:buNone/>
                      </a:pPr>
                      <a:r>
                        <a:rPr b="1" lang="en" sz="1300" u="sng">
                          <a:latin typeface="Times New Roman"/>
                          <a:ea typeface="Times New Roman"/>
                          <a:cs typeface="Times New Roman"/>
                          <a:sym typeface="Times New Roman"/>
                        </a:rPr>
                        <a:t>Modular Architecture in .NET Enterprise Systems: Patterns, Practices, and Evolution toward Scalable Systems:-</a:t>
                      </a:r>
                      <a:r>
                        <a:rPr lang="en" sz="1300">
                          <a:latin typeface="Times New Roman"/>
                          <a:ea typeface="Times New Roman"/>
                          <a:cs typeface="Times New Roman"/>
                          <a:sym typeface="Times New Roman"/>
                        </a:rPr>
                        <a:t> The paper analyzes modular architecture patterns in enterprise systems, including layered architecture, composite applications, domain-driven design (DDD), and service-oriented architecture (SOA). It studies how systems evolve from monolithic to modular structures.</a:t>
                      </a:r>
                      <a:endParaRPr b="1" sz="1300" u="sng">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c>
                  <a:txBody>
                    <a:bodyPr/>
                    <a:lstStyle/>
                    <a:p>
                      <a:pPr indent="0" lvl="0" marL="91440" marR="0" rtl="0" algn="l">
                        <a:lnSpc>
                          <a:spcPct val="100000"/>
                        </a:lnSpc>
                        <a:spcBef>
                          <a:spcPts val="0"/>
                        </a:spcBef>
                        <a:spcAft>
                          <a:spcPts val="0"/>
                        </a:spcAft>
                        <a:buNone/>
                      </a:pPr>
                      <a:r>
                        <a:rPr lang="en" sz="1300">
                          <a:latin typeface="Times New Roman"/>
                          <a:ea typeface="Times New Roman"/>
                          <a:cs typeface="Times New Roman"/>
                          <a:sym typeface="Times New Roman"/>
                        </a:rPr>
                        <a:t>This paper does not take consideration of the business workflow integration for the project and is only a </a:t>
                      </a:r>
                      <a:r>
                        <a:rPr lang="en" sz="1300">
                          <a:latin typeface="Times New Roman"/>
                          <a:ea typeface="Times New Roman"/>
                          <a:cs typeface="Times New Roman"/>
                          <a:sym typeface="Times New Roman"/>
                        </a:rPr>
                        <a:t>theoretical</a:t>
                      </a:r>
                      <a:r>
                        <a:rPr lang="en" sz="1300">
                          <a:latin typeface="Times New Roman"/>
                          <a:ea typeface="Times New Roman"/>
                          <a:cs typeface="Times New Roman"/>
                          <a:sym typeface="Times New Roman"/>
                        </a:rPr>
                        <a:t> paper with no real implementation</a:t>
                      </a:r>
                      <a:endParaRPr sz="1300" u="none" cap="none" strike="noStrike">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c>
                  <a:txBody>
                    <a:bodyPr/>
                    <a:lstStyle/>
                    <a:p>
                      <a:pPr indent="0" lvl="0" marL="91440" marR="0" rtl="0" algn="l">
                        <a:lnSpc>
                          <a:spcPct val="100000"/>
                        </a:lnSpc>
                        <a:spcBef>
                          <a:spcPts val="0"/>
                        </a:spcBef>
                        <a:spcAft>
                          <a:spcPts val="0"/>
                        </a:spcAft>
                        <a:buNone/>
                      </a:pPr>
                      <a:r>
                        <a:rPr lang="en" sz="1300">
                          <a:latin typeface="Times New Roman"/>
                          <a:ea typeface="Times New Roman"/>
                          <a:cs typeface="Times New Roman"/>
                          <a:sym typeface="Times New Roman"/>
                        </a:rPr>
                        <a:t>Layered architecture structure (UI / logic / database)</a:t>
                      </a:r>
                      <a:endParaRPr sz="1300">
                        <a:latin typeface="Times New Roman"/>
                        <a:ea typeface="Times New Roman"/>
                        <a:cs typeface="Times New Roman"/>
                        <a:sym typeface="Times New Roman"/>
                      </a:endParaRPr>
                    </a:p>
                    <a:p>
                      <a:pPr indent="0" lvl="0" marL="91440" rtl="0" algn="l">
                        <a:spcBef>
                          <a:spcPts val="0"/>
                        </a:spcBef>
                        <a:spcAft>
                          <a:spcPts val="0"/>
                        </a:spcAft>
                        <a:buSzPts val="1100"/>
                        <a:buNone/>
                      </a:pPr>
                      <a:r>
                        <a:rPr b="1" lang="en" sz="1300">
                          <a:latin typeface="Arial"/>
                          <a:ea typeface="Arial"/>
                          <a:cs typeface="Arial"/>
                          <a:sym typeface="Arial"/>
                        </a:rPr>
                        <a:t>Modular feature system </a:t>
                      </a:r>
                      <a:r>
                        <a:rPr lang="en" sz="1300">
                          <a:latin typeface="Arial"/>
                          <a:ea typeface="Arial"/>
                          <a:cs typeface="Arial"/>
                          <a:sym typeface="Arial"/>
                        </a:rPr>
                        <a:t>Where Sales, Inventory, Accounts are separate modules</a:t>
                      </a:r>
                      <a:endParaRPr sz="1500">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r>
              <a:tr h="1635075">
                <a:tc>
                  <a:txBody>
                    <a:bodyPr/>
                    <a:lstStyle/>
                    <a:p>
                      <a:pPr indent="0" lvl="0" marL="91440" marR="0" rtl="0" algn="l">
                        <a:lnSpc>
                          <a:spcPct val="100000"/>
                        </a:lnSpc>
                        <a:spcBef>
                          <a:spcPts val="0"/>
                        </a:spcBef>
                        <a:spcAft>
                          <a:spcPts val="0"/>
                        </a:spcAft>
                        <a:buNone/>
                      </a:pPr>
                      <a:r>
                        <a:rPr b="1" lang="en" sz="1300" u="sng">
                          <a:latin typeface="Times New Roman"/>
                          <a:ea typeface="Times New Roman"/>
                          <a:cs typeface="Times New Roman"/>
                          <a:sym typeface="Times New Roman"/>
                        </a:rPr>
                        <a:t>Open-source ERP software;-</a:t>
                      </a:r>
                      <a:r>
                        <a:rPr lang="en" sz="1300">
                          <a:latin typeface="Times New Roman"/>
                          <a:ea typeface="Times New Roman"/>
                          <a:cs typeface="Times New Roman"/>
                          <a:sym typeface="Times New Roman"/>
                        </a:rPr>
                        <a:t>The paper provides a descriptive overview of various open-source ERP systems, comparing their features, scalability, and application areas.</a:t>
                      </a:r>
                      <a:endParaRPr sz="1300" u="none" cap="none" strike="noStrike">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c>
                  <a:txBody>
                    <a:bodyPr/>
                    <a:lstStyle/>
                    <a:p>
                      <a:pPr indent="0" lvl="0" marL="91440" marR="0" rtl="0" algn="l">
                        <a:lnSpc>
                          <a:spcPct val="100000"/>
                        </a:lnSpc>
                        <a:spcBef>
                          <a:spcPts val="0"/>
                        </a:spcBef>
                        <a:spcAft>
                          <a:spcPts val="0"/>
                        </a:spcAft>
                        <a:buNone/>
                      </a:pPr>
                      <a:r>
                        <a:rPr lang="en" sz="1300">
                          <a:latin typeface="Times New Roman"/>
                          <a:ea typeface="Times New Roman"/>
                          <a:cs typeface="Times New Roman"/>
                          <a:sym typeface="Times New Roman"/>
                        </a:rPr>
                        <a:t>This paper is </a:t>
                      </a:r>
                      <a:r>
                        <a:rPr lang="en" sz="1300">
                          <a:latin typeface="Times New Roman"/>
                          <a:ea typeface="Times New Roman"/>
                          <a:cs typeface="Times New Roman"/>
                          <a:sym typeface="Times New Roman"/>
                        </a:rPr>
                        <a:t>practically</a:t>
                      </a:r>
                      <a:r>
                        <a:rPr lang="en" sz="1300">
                          <a:latin typeface="Times New Roman"/>
                          <a:ea typeface="Times New Roman"/>
                          <a:cs typeface="Times New Roman"/>
                          <a:sym typeface="Times New Roman"/>
                        </a:rPr>
                        <a:t> jusst a listing of the existing tools and having a comprehensive view of them, there is no real implementation or proper analysis  </a:t>
                      </a:r>
                      <a:endParaRPr sz="1300" u="none" cap="none" strike="noStrike">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c>
                  <a:txBody>
                    <a:bodyPr/>
                    <a:lstStyle/>
                    <a:p>
                      <a:pPr indent="0" lvl="0" marL="91440" marR="0" rtl="0" algn="l">
                        <a:lnSpc>
                          <a:spcPct val="100000"/>
                        </a:lnSpc>
                        <a:spcBef>
                          <a:spcPts val="0"/>
                        </a:spcBef>
                        <a:spcAft>
                          <a:spcPts val="0"/>
                        </a:spcAft>
                        <a:buNone/>
                      </a:pPr>
                      <a:r>
                        <a:rPr lang="en" sz="1300">
                          <a:latin typeface="Times New Roman"/>
                          <a:ea typeface="Times New Roman"/>
                          <a:cs typeface="Times New Roman"/>
                          <a:sym typeface="Times New Roman"/>
                        </a:rPr>
                        <a:t>Customization flexibility ensures that businesses can adapt the system to their specific needs. The system is also designed as a browser-based ERP, similar to WebERP and Openbravo, allowing access through a web browser.</a:t>
                      </a:r>
                      <a:endParaRPr sz="1300" u="none" cap="none" strike="noStrike">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r>
            </a:tbl>
          </a:graphicData>
        </a:graphic>
      </p:graphicFrame>
      <p:sp>
        <p:nvSpPr>
          <p:cNvPr id="142" name="Google Shape;142;p23"/>
          <p:cNvSpPr txBox="1"/>
          <p:nvPr>
            <p:ph type="title"/>
          </p:nvPr>
        </p:nvSpPr>
        <p:spPr>
          <a:xfrm>
            <a:off x="3040406" y="253444"/>
            <a:ext cx="3063300" cy="483900"/>
          </a:xfrm>
          <a:prstGeom prst="rect">
            <a:avLst/>
          </a:prstGeom>
          <a:noFill/>
          <a:ln>
            <a:noFill/>
          </a:ln>
        </p:spPr>
        <p:txBody>
          <a:bodyPr anchorCtr="0" anchor="t" bIns="0" lIns="0" spcFirstLastPara="1" rIns="0" wrap="square" tIns="6675">
            <a:spAutoFit/>
          </a:bodyPr>
          <a:lstStyle/>
          <a:p>
            <a:pPr indent="0" lvl="0" marL="12700" rtl="0" algn="l">
              <a:lnSpc>
                <a:spcPct val="100000"/>
              </a:lnSpc>
              <a:spcBef>
                <a:spcPts val="0"/>
              </a:spcBef>
              <a:spcAft>
                <a:spcPts val="0"/>
              </a:spcAft>
              <a:buNone/>
            </a:pPr>
            <a:r>
              <a:rPr lang="en"/>
              <a:t>Literature Review</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4"/>
          <p:cNvSpPr txBox="1"/>
          <p:nvPr>
            <p:ph idx="11" type="ftr"/>
          </p:nvPr>
        </p:nvSpPr>
        <p:spPr>
          <a:xfrm>
            <a:off x="3621218" y="4871159"/>
            <a:ext cx="2010300" cy="138600"/>
          </a:xfrm>
          <a:prstGeom prst="rect">
            <a:avLst/>
          </a:prstGeom>
          <a:noFill/>
          <a:ln>
            <a:noFill/>
          </a:ln>
        </p:spPr>
        <p:txBody>
          <a:bodyPr anchorCtr="0" anchor="t" bIns="0" lIns="0" spcFirstLastPara="1" rIns="0" wrap="square" tIns="0">
            <a:spAutoFit/>
          </a:bodyPr>
          <a:lstStyle/>
          <a:p>
            <a:pPr indent="0" lvl="0" marL="12700" rtl="0" algn="l">
              <a:lnSpc>
                <a:spcPct val="122222"/>
              </a:lnSpc>
              <a:spcBef>
                <a:spcPts val="0"/>
              </a:spcBef>
              <a:spcAft>
                <a:spcPts val="0"/>
              </a:spcAft>
              <a:buNone/>
            </a:pPr>
            <a:r>
              <a:rPr lang="en"/>
              <a:t>Department of Computer Engineering</a:t>
            </a:r>
            <a:endParaRPr/>
          </a:p>
        </p:txBody>
      </p:sp>
      <p:graphicFrame>
        <p:nvGraphicFramePr>
          <p:cNvPr id="148" name="Google Shape;148;p24"/>
          <p:cNvGraphicFramePr/>
          <p:nvPr/>
        </p:nvGraphicFramePr>
        <p:xfrm>
          <a:off x="140099" y="1076023"/>
          <a:ext cx="3000000" cy="3000000"/>
        </p:xfrm>
        <a:graphic>
          <a:graphicData uri="http://schemas.openxmlformats.org/drawingml/2006/table">
            <a:tbl>
              <a:tblPr bandRow="1" firstRow="1">
                <a:noFill/>
                <a:tableStyleId>{ACE46F92-1EF2-4096-A548-2BCCBEC776F4}</a:tableStyleId>
              </a:tblPr>
              <a:tblGrid>
                <a:gridCol w="3962075"/>
                <a:gridCol w="2054525"/>
                <a:gridCol w="2847325"/>
              </a:tblGrid>
              <a:tr h="449575">
                <a:tc>
                  <a:txBody>
                    <a:bodyPr/>
                    <a:lstStyle/>
                    <a:p>
                      <a:pPr indent="0" lvl="0" marL="91440" marR="0" rtl="0" algn="ctr">
                        <a:lnSpc>
                          <a:spcPct val="100000"/>
                        </a:lnSpc>
                        <a:spcBef>
                          <a:spcPts val="0"/>
                        </a:spcBef>
                        <a:spcAft>
                          <a:spcPts val="0"/>
                        </a:spcAft>
                        <a:buNone/>
                      </a:pPr>
                      <a:r>
                        <a:rPr b="1" lang="en">
                          <a:latin typeface="Times New Roman"/>
                          <a:ea typeface="Times New Roman"/>
                          <a:cs typeface="Times New Roman"/>
                          <a:sym typeface="Times New Roman"/>
                        </a:rPr>
                        <a:t>Research Paper Review</a:t>
                      </a:r>
                      <a:endParaRPr b="1" u="none" cap="none" strike="noStrike">
                        <a:latin typeface="Times New Roman"/>
                        <a:ea typeface="Times New Roman"/>
                        <a:cs typeface="Times New Roman"/>
                        <a:sym typeface="Times New Roman"/>
                      </a:endParaRPr>
                    </a:p>
                  </a:txBody>
                  <a:tcPr marT="0" marB="0" marR="0" marL="0"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A9999"/>
                    </a:solidFill>
                  </a:tcPr>
                </a:tc>
                <a:tc>
                  <a:txBody>
                    <a:bodyPr/>
                    <a:lstStyle/>
                    <a:p>
                      <a:pPr indent="0" lvl="0" marL="91440" marR="0" rtl="0" algn="ctr">
                        <a:lnSpc>
                          <a:spcPct val="100000"/>
                        </a:lnSpc>
                        <a:spcBef>
                          <a:spcPts val="0"/>
                        </a:spcBef>
                        <a:spcAft>
                          <a:spcPts val="0"/>
                        </a:spcAft>
                        <a:buNone/>
                      </a:pPr>
                      <a:r>
                        <a:rPr b="1" lang="en">
                          <a:latin typeface="Times New Roman"/>
                          <a:ea typeface="Times New Roman"/>
                          <a:cs typeface="Times New Roman"/>
                          <a:sym typeface="Times New Roman"/>
                        </a:rPr>
                        <a:t>Identified Gaps</a:t>
                      </a:r>
                      <a:endParaRPr b="1" u="none" cap="none" strike="noStrike">
                        <a:latin typeface="Times New Roman"/>
                        <a:ea typeface="Times New Roman"/>
                        <a:cs typeface="Times New Roman"/>
                        <a:sym typeface="Times New Roman"/>
                      </a:endParaRPr>
                    </a:p>
                  </a:txBody>
                  <a:tcPr marT="0" marB="0" marR="0" marL="0"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A9999"/>
                    </a:solidFill>
                  </a:tcPr>
                </a:tc>
                <a:tc>
                  <a:txBody>
                    <a:bodyPr/>
                    <a:lstStyle/>
                    <a:p>
                      <a:pPr indent="0" lvl="0" marL="91440" marR="0" rtl="0" algn="ctr">
                        <a:lnSpc>
                          <a:spcPct val="100000"/>
                        </a:lnSpc>
                        <a:spcBef>
                          <a:spcPts val="0"/>
                        </a:spcBef>
                        <a:spcAft>
                          <a:spcPts val="0"/>
                        </a:spcAft>
                        <a:buNone/>
                      </a:pPr>
                      <a:r>
                        <a:rPr b="1" lang="en">
                          <a:latin typeface="Times New Roman"/>
                          <a:ea typeface="Times New Roman"/>
                          <a:cs typeface="Times New Roman"/>
                          <a:sym typeface="Times New Roman"/>
                        </a:rPr>
                        <a:t>Our project contribution </a:t>
                      </a:r>
                      <a:endParaRPr b="1" u="none" cap="none" strike="noStrike">
                        <a:latin typeface="Times New Roman"/>
                        <a:ea typeface="Times New Roman"/>
                        <a:cs typeface="Times New Roman"/>
                        <a:sym typeface="Times New Roman"/>
                      </a:endParaRPr>
                    </a:p>
                  </a:txBody>
                  <a:tcPr marT="0" marB="0" marR="0" marL="0"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A9999"/>
                    </a:solidFill>
                  </a:tcPr>
                </a:tc>
              </a:tr>
              <a:tr h="1265550">
                <a:tc>
                  <a:txBody>
                    <a:bodyPr/>
                    <a:lstStyle/>
                    <a:p>
                      <a:pPr indent="0" lvl="0" marL="91440" marR="0" rtl="0" algn="l">
                        <a:lnSpc>
                          <a:spcPct val="100000"/>
                        </a:lnSpc>
                        <a:spcBef>
                          <a:spcPts val="0"/>
                        </a:spcBef>
                        <a:spcAft>
                          <a:spcPts val="0"/>
                        </a:spcAft>
                        <a:buNone/>
                      </a:pPr>
                      <a:r>
                        <a:rPr b="1" lang="en" sz="1300" u="sng">
                          <a:latin typeface="Times New Roman"/>
                          <a:ea typeface="Times New Roman"/>
                          <a:cs typeface="Times New Roman"/>
                          <a:sym typeface="Times New Roman"/>
                        </a:rPr>
                        <a:t>Design and Implementation of Inventory Management System for University :-</a:t>
                      </a:r>
                      <a:r>
                        <a:rPr lang="en" sz="1300">
                          <a:latin typeface="Times New Roman"/>
                          <a:ea typeface="Times New Roman"/>
                          <a:cs typeface="Times New Roman"/>
                          <a:sym typeface="Times New Roman"/>
                        </a:rPr>
                        <a:t>The system is developed using a web-based architecture with PHP, SQL, and frontend technologies. It follows a structured design including system architecture, module division, and database design. The Waterfall model is used for development.</a:t>
                      </a:r>
                      <a:endParaRPr sz="1300">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c>
                  <a:txBody>
                    <a:bodyPr/>
                    <a:lstStyle/>
                    <a:p>
                      <a:pPr indent="0" lvl="0" marL="91440" marR="0" rtl="0" algn="l">
                        <a:lnSpc>
                          <a:spcPct val="100000"/>
                        </a:lnSpc>
                        <a:spcBef>
                          <a:spcPts val="0"/>
                        </a:spcBef>
                        <a:spcAft>
                          <a:spcPts val="0"/>
                        </a:spcAft>
                        <a:buNone/>
                      </a:pPr>
                      <a:r>
                        <a:rPr lang="en" sz="1300">
                          <a:latin typeface="Times New Roman"/>
                          <a:ea typeface="Times New Roman"/>
                          <a:cs typeface="Times New Roman"/>
                          <a:sym typeface="Times New Roman"/>
                        </a:rPr>
                        <a:t>Only an Inventory </a:t>
                      </a:r>
                      <a:r>
                        <a:rPr lang="en" sz="1300">
                          <a:latin typeface="Times New Roman"/>
                          <a:ea typeface="Times New Roman"/>
                          <a:cs typeface="Times New Roman"/>
                          <a:sym typeface="Times New Roman"/>
                        </a:rPr>
                        <a:t>management</a:t>
                      </a:r>
                      <a:r>
                        <a:rPr lang="en" sz="1300">
                          <a:latin typeface="Times New Roman"/>
                          <a:ea typeface="Times New Roman"/>
                          <a:cs typeface="Times New Roman"/>
                          <a:sym typeface="Times New Roman"/>
                        </a:rPr>
                        <a:t> system not a integrated ERP System</a:t>
                      </a:r>
                      <a:endParaRPr sz="1300" u="none" cap="none" strike="noStrike">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c>
                  <a:txBody>
                    <a:bodyPr/>
                    <a:lstStyle/>
                    <a:p>
                      <a:pPr indent="0" lvl="0" marL="91440" rtl="0" algn="l">
                        <a:spcBef>
                          <a:spcPts val="0"/>
                        </a:spcBef>
                        <a:spcAft>
                          <a:spcPts val="0"/>
                        </a:spcAft>
                        <a:buClr>
                          <a:schemeClr val="dk1"/>
                        </a:buClr>
                        <a:buSzPts val="1100"/>
                        <a:buFont typeface="Arial"/>
                        <a:buNone/>
                      </a:pPr>
                      <a:r>
                        <a:rPr b="1" lang="en" sz="1200">
                          <a:latin typeface="Arial"/>
                          <a:ea typeface="Arial"/>
                          <a:cs typeface="Arial"/>
                          <a:sym typeface="Arial"/>
                        </a:rPr>
                        <a:t>Clear workflow design</a:t>
                      </a:r>
                      <a:endParaRPr b="1" sz="1200">
                        <a:latin typeface="Arial"/>
                        <a:ea typeface="Arial"/>
                        <a:cs typeface="Arial"/>
                        <a:sym typeface="Arial"/>
                      </a:endParaRPr>
                    </a:p>
                    <a:p>
                      <a:pPr indent="0" lvl="0" marL="91440" marR="0" rtl="0" algn="l">
                        <a:lnSpc>
                          <a:spcPct val="100000"/>
                        </a:lnSpc>
                        <a:spcBef>
                          <a:spcPts val="0"/>
                        </a:spcBef>
                        <a:spcAft>
                          <a:spcPts val="0"/>
                        </a:spcAft>
                        <a:buNone/>
                      </a:pPr>
                      <a:r>
                        <a:rPr lang="en" sz="1200">
                          <a:latin typeface="Arial"/>
                          <a:ea typeface="Arial"/>
                          <a:cs typeface="Arial"/>
                          <a:sym typeface="Arial"/>
                        </a:rPr>
                        <a:t>→ Login → Order → Distribution → Report</a:t>
                      </a:r>
                      <a:br>
                        <a:rPr lang="en" sz="1200">
                          <a:latin typeface="Arial"/>
                          <a:ea typeface="Arial"/>
                          <a:cs typeface="Arial"/>
                          <a:sym typeface="Arial"/>
                        </a:rPr>
                      </a:br>
                      <a:r>
                        <a:rPr b="1" lang="en" sz="1200">
                          <a:latin typeface="Arial"/>
                          <a:ea typeface="Arial"/>
                          <a:cs typeface="Arial"/>
                          <a:sym typeface="Arial"/>
                        </a:rPr>
                        <a:t>Admin and User module separation</a:t>
                      </a:r>
                      <a:endParaRPr b="1" sz="1200">
                        <a:latin typeface="Arial"/>
                        <a:ea typeface="Arial"/>
                        <a:cs typeface="Arial"/>
                        <a:sym typeface="Arial"/>
                      </a:endParaRPr>
                    </a:p>
                    <a:p>
                      <a:pPr indent="0" lvl="0" marL="91440" marR="0" rtl="0" algn="l">
                        <a:lnSpc>
                          <a:spcPct val="100000"/>
                        </a:lnSpc>
                        <a:spcBef>
                          <a:spcPts val="0"/>
                        </a:spcBef>
                        <a:spcAft>
                          <a:spcPts val="0"/>
                        </a:spcAft>
                        <a:buNone/>
                      </a:pPr>
                      <a:r>
                        <a:rPr lang="en" sz="1200">
                          <a:latin typeface="Arial"/>
                          <a:ea typeface="Arial"/>
                          <a:cs typeface="Arial"/>
                          <a:sym typeface="Arial"/>
                        </a:rPr>
                        <a:t>Which gives us a Role-based system</a:t>
                      </a:r>
                      <a:endParaRPr sz="1200">
                        <a:latin typeface="Arial"/>
                        <a:ea typeface="Arial"/>
                        <a:cs typeface="Arial"/>
                        <a:sym typeface="Arial"/>
                      </a:endParaRPr>
                    </a:p>
                    <a:p>
                      <a:pPr indent="0" lvl="0" marL="91440" rtl="0" algn="l">
                        <a:spcBef>
                          <a:spcPts val="0"/>
                        </a:spcBef>
                        <a:spcAft>
                          <a:spcPts val="0"/>
                        </a:spcAft>
                        <a:buSzPts val="1100"/>
                        <a:buNone/>
                      </a:pPr>
                      <a:r>
                        <a:rPr b="1" lang="en" sz="1200">
                          <a:latin typeface="Arial"/>
                          <a:ea typeface="Arial"/>
                          <a:cs typeface="Arial"/>
                          <a:sym typeface="Arial"/>
                        </a:rPr>
                        <a:t>Auto generation</a:t>
                      </a:r>
                      <a:r>
                        <a:rPr lang="en" sz="1200">
                          <a:latin typeface="Arial"/>
                          <a:ea typeface="Arial"/>
                          <a:cs typeface="Arial"/>
                          <a:sym typeface="Arial"/>
                        </a:rPr>
                        <a:t>  of </a:t>
                      </a:r>
                      <a:r>
                        <a:rPr b="1" lang="en" sz="1200">
                          <a:latin typeface="Arial"/>
                          <a:ea typeface="Arial"/>
                          <a:cs typeface="Arial"/>
                          <a:sym typeface="Arial"/>
                        </a:rPr>
                        <a:t> reports on a </a:t>
                      </a:r>
                      <a:r>
                        <a:rPr lang="en" sz="1200">
                          <a:latin typeface="Arial"/>
                          <a:ea typeface="Arial"/>
                          <a:cs typeface="Arial"/>
                          <a:sym typeface="Arial"/>
                        </a:rPr>
                        <a:t>Daily/weekly bases</a:t>
                      </a:r>
                      <a:endParaRPr sz="1200">
                        <a:latin typeface="Arial"/>
                        <a:ea typeface="Arial"/>
                        <a:cs typeface="Arial"/>
                        <a:sym typeface="Arial"/>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r>
              <a:tr h="1261750">
                <a:tc>
                  <a:txBody>
                    <a:bodyPr/>
                    <a:lstStyle/>
                    <a:p>
                      <a:pPr indent="0" lvl="0" marL="91440" marR="0" rtl="0" algn="l">
                        <a:lnSpc>
                          <a:spcPct val="100000"/>
                        </a:lnSpc>
                        <a:spcBef>
                          <a:spcPts val="0"/>
                        </a:spcBef>
                        <a:spcAft>
                          <a:spcPts val="0"/>
                        </a:spcAft>
                        <a:buNone/>
                      </a:pPr>
                      <a:r>
                        <a:rPr b="1" lang="en" sz="1300" u="sng">
                          <a:latin typeface="Times New Roman"/>
                          <a:ea typeface="Times New Roman"/>
                          <a:cs typeface="Times New Roman"/>
                          <a:sym typeface="Times New Roman"/>
                        </a:rPr>
                        <a:t>Proprietary vs. Open-Source ERP: The Case of SAP and Odoo:-</a:t>
                      </a:r>
                      <a:r>
                        <a:rPr lang="en" sz="1300">
                          <a:latin typeface="Times New Roman"/>
                          <a:ea typeface="Times New Roman"/>
                          <a:cs typeface="Times New Roman"/>
                          <a:sym typeface="Times New Roman"/>
                        </a:rPr>
                        <a:t>The paper performs a comparative analysis between proprietary ERP (SAP) and open-source ERP (Odoo) based on multiple factors such as cost, scalability, customization, and business suitability.</a:t>
                      </a:r>
                      <a:endParaRPr sz="1300">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c>
                  <a:txBody>
                    <a:bodyPr/>
                    <a:lstStyle/>
                    <a:p>
                      <a:pPr indent="0" lvl="0" marL="91440" marR="0" rtl="0" algn="l">
                        <a:lnSpc>
                          <a:spcPct val="100000"/>
                        </a:lnSpc>
                        <a:spcBef>
                          <a:spcPts val="0"/>
                        </a:spcBef>
                        <a:spcAft>
                          <a:spcPts val="0"/>
                        </a:spcAft>
                        <a:buNone/>
                      </a:pPr>
                      <a:r>
                        <a:rPr lang="en" sz="1300">
                          <a:latin typeface="Times New Roman"/>
                          <a:ea typeface="Times New Roman"/>
                          <a:cs typeface="Times New Roman"/>
                          <a:sym typeface="Times New Roman"/>
                        </a:rPr>
                        <a:t>This study doesnt have a performance </a:t>
                      </a:r>
                      <a:r>
                        <a:rPr lang="en" sz="1300">
                          <a:latin typeface="Times New Roman"/>
                          <a:ea typeface="Times New Roman"/>
                          <a:cs typeface="Times New Roman"/>
                          <a:sym typeface="Times New Roman"/>
                        </a:rPr>
                        <a:t>comparison</a:t>
                      </a:r>
                      <a:r>
                        <a:rPr lang="en" sz="1300">
                          <a:latin typeface="Times New Roman"/>
                          <a:ea typeface="Times New Roman"/>
                          <a:cs typeface="Times New Roman"/>
                          <a:sym typeface="Times New Roman"/>
                        </a:rPr>
                        <a:t> of the ERP tools</a:t>
                      </a:r>
                      <a:endParaRPr sz="1300" u="none" cap="none" strike="noStrike">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c>
                  <a:txBody>
                    <a:bodyPr/>
                    <a:lstStyle/>
                    <a:p>
                      <a:pPr indent="0" lvl="0" marL="91440" rtl="0" algn="l">
                        <a:spcBef>
                          <a:spcPts val="0"/>
                        </a:spcBef>
                        <a:spcAft>
                          <a:spcPts val="0"/>
                        </a:spcAft>
                        <a:buClr>
                          <a:schemeClr val="dk1"/>
                        </a:buClr>
                        <a:buSzPts val="1100"/>
                        <a:buFont typeface="Arial"/>
                        <a:buNone/>
                      </a:pPr>
                      <a:r>
                        <a:rPr b="1" lang="en" sz="1100">
                          <a:latin typeface="Arial"/>
                          <a:ea typeface="Arial"/>
                          <a:cs typeface="Arial"/>
                          <a:sym typeface="Arial"/>
                        </a:rPr>
                        <a:t>Use of Customization-first design</a:t>
                      </a:r>
                      <a:endParaRPr b="1" sz="1100">
                        <a:latin typeface="Arial"/>
                        <a:ea typeface="Arial"/>
                        <a:cs typeface="Arial"/>
                        <a:sym typeface="Arial"/>
                      </a:endParaRPr>
                    </a:p>
                    <a:p>
                      <a:pPr indent="0" lvl="0" marL="91440" marR="0" rtl="0" algn="l">
                        <a:lnSpc>
                          <a:spcPct val="100000"/>
                        </a:lnSpc>
                        <a:spcBef>
                          <a:spcPts val="0"/>
                        </a:spcBef>
                        <a:spcAft>
                          <a:spcPts val="0"/>
                        </a:spcAft>
                        <a:buNone/>
                      </a:pPr>
                      <a:r>
                        <a:rPr lang="en" sz="1100">
                          <a:latin typeface="Arial"/>
                          <a:ea typeface="Arial"/>
                          <a:cs typeface="Arial"/>
                          <a:sym typeface="Arial"/>
                        </a:rPr>
                        <a:t> Which allows flexibility in workflows</a:t>
                      </a:r>
                      <a:endParaRPr sz="1100">
                        <a:latin typeface="Arial"/>
                        <a:ea typeface="Arial"/>
                        <a:cs typeface="Arial"/>
                        <a:sym typeface="Arial"/>
                      </a:endParaRPr>
                    </a:p>
                    <a:p>
                      <a:pPr indent="0" lvl="0" marL="91440" rtl="0" algn="l">
                        <a:spcBef>
                          <a:spcPts val="0"/>
                        </a:spcBef>
                        <a:spcAft>
                          <a:spcPts val="0"/>
                        </a:spcAft>
                        <a:buClr>
                          <a:schemeClr val="dk1"/>
                        </a:buClr>
                        <a:buSzPts val="1100"/>
                        <a:buFont typeface="Arial"/>
                        <a:buNone/>
                      </a:pPr>
                      <a:r>
                        <a:rPr b="1" lang="en" sz="1100">
                          <a:latin typeface="Arial"/>
                          <a:ea typeface="Arial"/>
                          <a:cs typeface="Arial"/>
                          <a:sym typeface="Arial"/>
                        </a:rPr>
                        <a:t>Decision-based ERP design</a:t>
                      </a:r>
                      <a:endParaRPr b="1" sz="1100">
                        <a:latin typeface="Arial"/>
                        <a:ea typeface="Arial"/>
                        <a:cs typeface="Arial"/>
                        <a:sym typeface="Arial"/>
                      </a:endParaRPr>
                    </a:p>
                    <a:p>
                      <a:pPr indent="0" lvl="0" marL="91440" marR="0" rtl="0" algn="l">
                        <a:lnSpc>
                          <a:spcPct val="100000"/>
                        </a:lnSpc>
                        <a:spcBef>
                          <a:spcPts val="0"/>
                        </a:spcBef>
                        <a:spcAft>
                          <a:spcPts val="0"/>
                        </a:spcAft>
                        <a:buNone/>
                      </a:pPr>
                      <a:r>
                        <a:rPr lang="en" sz="1100">
                          <a:latin typeface="Arial"/>
                          <a:ea typeface="Arial"/>
                          <a:cs typeface="Arial"/>
                          <a:sym typeface="Arial"/>
                        </a:rPr>
                        <a:t>So that system can adapt to the business size</a:t>
                      </a:r>
                      <a:endParaRPr sz="1100">
                        <a:latin typeface="Arial"/>
                        <a:ea typeface="Arial"/>
                        <a:cs typeface="Arial"/>
                        <a:sym typeface="Arial"/>
                      </a:endParaRPr>
                    </a:p>
                    <a:p>
                      <a:pPr indent="0" lvl="0" marL="91440" marR="0" rtl="0" algn="l">
                        <a:lnSpc>
                          <a:spcPct val="100000"/>
                        </a:lnSpc>
                        <a:spcBef>
                          <a:spcPts val="0"/>
                        </a:spcBef>
                        <a:spcAft>
                          <a:spcPts val="0"/>
                        </a:spcAft>
                        <a:buNone/>
                      </a:pPr>
                      <a:r>
                        <a:rPr lang="en" sz="1100">
                          <a:latin typeface="Arial"/>
                          <a:ea typeface="Arial"/>
                          <a:cs typeface="Arial"/>
                          <a:sym typeface="Arial"/>
                        </a:rPr>
                        <a:t>Shows real-world ERP selection factors</a:t>
                      </a:r>
                      <a:endParaRPr sz="1100">
                        <a:latin typeface="Arial"/>
                        <a:ea typeface="Arial"/>
                        <a:cs typeface="Arial"/>
                        <a:sym typeface="Arial"/>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r>
            </a:tbl>
          </a:graphicData>
        </a:graphic>
      </p:graphicFrame>
      <p:sp>
        <p:nvSpPr>
          <p:cNvPr id="149" name="Google Shape;149;p24"/>
          <p:cNvSpPr txBox="1"/>
          <p:nvPr>
            <p:ph type="title"/>
          </p:nvPr>
        </p:nvSpPr>
        <p:spPr>
          <a:xfrm>
            <a:off x="3040406" y="253444"/>
            <a:ext cx="3063300" cy="483900"/>
          </a:xfrm>
          <a:prstGeom prst="rect">
            <a:avLst/>
          </a:prstGeom>
          <a:noFill/>
          <a:ln>
            <a:noFill/>
          </a:ln>
        </p:spPr>
        <p:txBody>
          <a:bodyPr anchorCtr="0" anchor="t" bIns="0" lIns="0" spcFirstLastPara="1" rIns="0" wrap="square" tIns="6675">
            <a:spAutoFit/>
          </a:bodyPr>
          <a:lstStyle/>
          <a:p>
            <a:pPr indent="0" lvl="0" marL="12700" rtl="0" algn="l">
              <a:lnSpc>
                <a:spcPct val="100000"/>
              </a:lnSpc>
              <a:spcBef>
                <a:spcPts val="0"/>
              </a:spcBef>
              <a:spcAft>
                <a:spcPts val="0"/>
              </a:spcAft>
              <a:buNone/>
            </a:pPr>
            <a:r>
              <a:rPr lang="en"/>
              <a:t>Literature Review</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5"/>
          <p:cNvSpPr txBox="1"/>
          <p:nvPr>
            <p:ph idx="11" type="ftr"/>
          </p:nvPr>
        </p:nvSpPr>
        <p:spPr>
          <a:xfrm>
            <a:off x="3621218" y="4871159"/>
            <a:ext cx="2010300" cy="138600"/>
          </a:xfrm>
          <a:prstGeom prst="rect">
            <a:avLst/>
          </a:prstGeom>
          <a:noFill/>
          <a:ln>
            <a:noFill/>
          </a:ln>
        </p:spPr>
        <p:txBody>
          <a:bodyPr anchorCtr="0" anchor="t" bIns="0" lIns="0" spcFirstLastPara="1" rIns="0" wrap="square" tIns="0">
            <a:spAutoFit/>
          </a:bodyPr>
          <a:lstStyle/>
          <a:p>
            <a:pPr indent="0" lvl="0" marL="12700" rtl="0" algn="l">
              <a:lnSpc>
                <a:spcPct val="122222"/>
              </a:lnSpc>
              <a:spcBef>
                <a:spcPts val="0"/>
              </a:spcBef>
              <a:spcAft>
                <a:spcPts val="0"/>
              </a:spcAft>
              <a:buNone/>
            </a:pPr>
            <a:r>
              <a:rPr lang="en"/>
              <a:t>Department of Computer Engineering</a:t>
            </a:r>
            <a:endParaRPr/>
          </a:p>
        </p:txBody>
      </p:sp>
      <p:graphicFrame>
        <p:nvGraphicFramePr>
          <p:cNvPr id="155" name="Google Shape;155;p25"/>
          <p:cNvGraphicFramePr/>
          <p:nvPr/>
        </p:nvGraphicFramePr>
        <p:xfrm>
          <a:off x="194412" y="1003786"/>
          <a:ext cx="3000000" cy="3000000"/>
        </p:xfrm>
        <a:graphic>
          <a:graphicData uri="http://schemas.openxmlformats.org/drawingml/2006/table">
            <a:tbl>
              <a:tblPr bandRow="1" firstRow="1">
                <a:noFill/>
                <a:tableStyleId>{ACE46F92-1EF2-4096-A548-2BCCBEC776F4}</a:tableStyleId>
              </a:tblPr>
              <a:tblGrid>
                <a:gridCol w="3962075"/>
                <a:gridCol w="2054525"/>
                <a:gridCol w="2847325"/>
              </a:tblGrid>
              <a:tr h="449575">
                <a:tc>
                  <a:txBody>
                    <a:bodyPr/>
                    <a:lstStyle/>
                    <a:p>
                      <a:pPr indent="0" lvl="0" marL="91440" marR="0" rtl="0" algn="ctr">
                        <a:lnSpc>
                          <a:spcPct val="100000"/>
                        </a:lnSpc>
                        <a:spcBef>
                          <a:spcPts val="0"/>
                        </a:spcBef>
                        <a:spcAft>
                          <a:spcPts val="0"/>
                        </a:spcAft>
                        <a:buNone/>
                      </a:pPr>
                      <a:r>
                        <a:rPr b="1" lang="en">
                          <a:latin typeface="Times New Roman"/>
                          <a:ea typeface="Times New Roman"/>
                          <a:cs typeface="Times New Roman"/>
                          <a:sym typeface="Times New Roman"/>
                        </a:rPr>
                        <a:t>Research Paper Review</a:t>
                      </a:r>
                      <a:endParaRPr b="1" u="none" cap="none" strike="noStrike">
                        <a:latin typeface="Times New Roman"/>
                        <a:ea typeface="Times New Roman"/>
                        <a:cs typeface="Times New Roman"/>
                        <a:sym typeface="Times New Roman"/>
                      </a:endParaRPr>
                    </a:p>
                  </a:txBody>
                  <a:tcPr marT="0" marB="0" marR="0" marL="0"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A9999"/>
                    </a:solidFill>
                  </a:tcPr>
                </a:tc>
                <a:tc>
                  <a:txBody>
                    <a:bodyPr/>
                    <a:lstStyle/>
                    <a:p>
                      <a:pPr indent="0" lvl="0" marL="91440" marR="0" rtl="0" algn="ctr">
                        <a:lnSpc>
                          <a:spcPct val="100000"/>
                        </a:lnSpc>
                        <a:spcBef>
                          <a:spcPts val="0"/>
                        </a:spcBef>
                        <a:spcAft>
                          <a:spcPts val="0"/>
                        </a:spcAft>
                        <a:buNone/>
                      </a:pPr>
                      <a:r>
                        <a:rPr b="1" lang="en">
                          <a:latin typeface="Times New Roman"/>
                          <a:ea typeface="Times New Roman"/>
                          <a:cs typeface="Times New Roman"/>
                          <a:sym typeface="Times New Roman"/>
                        </a:rPr>
                        <a:t>Identified Gaps</a:t>
                      </a:r>
                      <a:endParaRPr b="1" u="none" cap="none" strike="noStrike">
                        <a:latin typeface="Times New Roman"/>
                        <a:ea typeface="Times New Roman"/>
                        <a:cs typeface="Times New Roman"/>
                        <a:sym typeface="Times New Roman"/>
                      </a:endParaRPr>
                    </a:p>
                  </a:txBody>
                  <a:tcPr marT="0" marB="0" marR="0" marL="0"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A9999"/>
                    </a:solidFill>
                  </a:tcPr>
                </a:tc>
                <a:tc>
                  <a:txBody>
                    <a:bodyPr/>
                    <a:lstStyle/>
                    <a:p>
                      <a:pPr indent="0" lvl="0" marL="91440" marR="0" rtl="0" algn="ctr">
                        <a:lnSpc>
                          <a:spcPct val="100000"/>
                        </a:lnSpc>
                        <a:spcBef>
                          <a:spcPts val="0"/>
                        </a:spcBef>
                        <a:spcAft>
                          <a:spcPts val="0"/>
                        </a:spcAft>
                        <a:buNone/>
                      </a:pPr>
                      <a:r>
                        <a:rPr b="1" lang="en">
                          <a:latin typeface="Times New Roman"/>
                          <a:ea typeface="Times New Roman"/>
                          <a:cs typeface="Times New Roman"/>
                          <a:sym typeface="Times New Roman"/>
                        </a:rPr>
                        <a:t>Our project contribution </a:t>
                      </a:r>
                      <a:endParaRPr b="1" u="none" cap="none" strike="noStrike">
                        <a:latin typeface="Times New Roman"/>
                        <a:ea typeface="Times New Roman"/>
                        <a:cs typeface="Times New Roman"/>
                        <a:sym typeface="Times New Roman"/>
                      </a:endParaRPr>
                    </a:p>
                  </a:txBody>
                  <a:tcPr marT="0" marB="0" marR="0" marL="0"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A9999"/>
                    </a:solidFill>
                  </a:tcPr>
                </a:tc>
              </a:tr>
              <a:tr h="1265550">
                <a:tc>
                  <a:txBody>
                    <a:bodyPr/>
                    <a:lstStyle/>
                    <a:p>
                      <a:pPr indent="0" lvl="0" marL="91440" marR="0" rtl="0" algn="l">
                        <a:lnSpc>
                          <a:spcPct val="100000"/>
                        </a:lnSpc>
                        <a:spcBef>
                          <a:spcPts val="0"/>
                        </a:spcBef>
                        <a:spcAft>
                          <a:spcPts val="0"/>
                        </a:spcAft>
                        <a:buNone/>
                      </a:pPr>
                      <a:r>
                        <a:rPr b="1" lang="en" sz="1300" u="sng">
                          <a:latin typeface="Times New Roman"/>
                          <a:ea typeface="Times New Roman"/>
                          <a:cs typeface="Times New Roman"/>
                          <a:sym typeface="Times New Roman"/>
                        </a:rPr>
                        <a:t>Small-Medium Business Enterprise Management Application:-</a:t>
                      </a:r>
                      <a:r>
                        <a:rPr lang="en" sz="1300">
                          <a:latin typeface="Times New Roman"/>
                          <a:ea typeface="Times New Roman"/>
                          <a:cs typeface="Times New Roman"/>
                          <a:sym typeface="Times New Roman"/>
                        </a:rPr>
                        <a:t>The system is developed using a structured software development lifecycle including requirement analysis, system design, development, testing, and deployment. It uses a cloud-based three-tier architecture with cross-platform support.</a:t>
                      </a:r>
                      <a:endParaRPr sz="1300" cap="none" strike="noStrike">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c>
                  <a:txBody>
                    <a:bodyPr/>
                    <a:lstStyle/>
                    <a:p>
                      <a:pPr indent="0" lvl="0" marL="91440" marR="0" rtl="0" algn="l">
                        <a:lnSpc>
                          <a:spcPct val="100000"/>
                        </a:lnSpc>
                        <a:spcBef>
                          <a:spcPts val="0"/>
                        </a:spcBef>
                        <a:spcAft>
                          <a:spcPts val="0"/>
                        </a:spcAft>
                        <a:buNone/>
                      </a:pPr>
                      <a:r>
                        <a:rPr lang="en" sz="1300">
                          <a:latin typeface="Times New Roman"/>
                          <a:ea typeface="Times New Roman"/>
                          <a:cs typeface="Times New Roman"/>
                          <a:sym typeface="Times New Roman"/>
                        </a:rPr>
                        <a:t>Security concerns were not merasured with minimal analytics.</a:t>
                      </a:r>
                      <a:endParaRPr sz="1300" u="none" cap="none" strike="noStrike">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c>
                  <a:txBody>
                    <a:bodyPr/>
                    <a:lstStyle/>
                    <a:p>
                      <a:pPr indent="0" lvl="0" marL="91440" marR="0" rtl="0" algn="l">
                        <a:lnSpc>
                          <a:spcPct val="100000"/>
                        </a:lnSpc>
                        <a:spcBef>
                          <a:spcPts val="0"/>
                        </a:spcBef>
                        <a:spcAft>
                          <a:spcPts val="0"/>
                        </a:spcAft>
                        <a:buNone/>
                      </a:pPr>
                      <a:r>
                        <a:rPr lang="en" sz="1300">
                          <a:latin typeface="Times New Roman"/>
                          <a:ea typeface="Times New Roman"/>
                          <a:cs typeface="Times New Roman"/>
                          <a:sym typeface="Times New Roman"/>
                        </a:rPr>
                        <a:t>An </a:t>
                      </a:r>
                      <a:r>
                        <a:rPr lang="en" sz="1300">
                          <a:latin typeface="Times New Roman"/>
                          <a:ea typeface="Times New Roman"/>
                          <a:cs typeface="Times New Roman"/>
                          <a:sym typeface="Times New Roman"/>
                        </a:rPr>
                        <a:t>intricate</a:t>
                      </a:r>
                      <a:r>
                        <a:rPr lang="en" sz="1300">
                          <a:latin typeface="Times New Roman"/>
                          <a:ea typeface="Times New Roman"/>
                          <a:cs typeface="Times New Roman"/>
                          <a:sym typeface="Times New Roman"/>
                        </a:rPr>
                        <a:t> system where all SEM systems can be worked on one application like sales, inventory and accounts</a:t>
                      </a:r>
                      <a:endParaRPr sz="1300">
                        <a:latin typeface="Times New Roman"/>
                        <a:ea typeface="Times New Roman"/>
                        <a:cs typeface="Times New Roman"/>
                        <a:sym typeface="Times New Roman"/>
                      </a:endParaRPr>
                    </a:p>
                    <a:p>
                      <a:pPr indent="0" lvl="0" marL="91440" marR="0" rtl="0" algn="l">
                        <a:lnSpc>
                          <a:spcPct val="100000"/>
                        </a:lnSpc>
                        <a:spcBef>
                          <a:spcPts val="0"/>
                        </a:spcBef>
                        <a:spcAft>
                          <a:spcPts val="0"/>
                        </a:spcAft>
                        <a:buNone/>
                      </a:pPr>
                      <a:r>
                        <a:rPr lang="en" sz="1300">
                          <a:latin typeface="Times New Roman"/>
                          <a:ea typeface="Times New Roman"/>
                          <a:cs typeface="Times New Roman"/>
                          <a:sym typeface="Times New Roman"/>
                        </a:rPr>
                        <a:t>Use of a simple UI model</a:t>
                      </a:r>
                      <a:endParaRPr sz="1300">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r>
              <a:tr h="1261750">
                <a:tc>
                  <a:txBody>
                    <a:bodyPr/>
                    <a:lstStyle/>
                    <a:p>
                      <a:pPr indent="0" lvl="0" marL="91440" marR="0" rtl="0" algn="l">
                        <a:lnSpc>
                          <a:spcPct val="100000"/>
                        </a:lnSpc>
                        <a:spcBef>
                          <a:spcPts val="0"/>
                        </a:spcBef>
                        <a:spcAft>
                          <a:spcPts val="0"/>
                        </a:spcAft>
                        <a:buNone/>
                      </a:pPr>
                      <a:r>
                        <a:rPr b="1" lang="en" sz="1300" u="sng">
                          <a:latin typeface="Times New Roman"/>
                          <a:ea typeface="Times New Roman"/>
                          <a:cs typeface="Times New Roman"/>
                          <a:sym typeface="Times New Roman"/>
                        </a:rPr>
                        <a:t>Web – Based Intelligent Inventory Management System:-</a:t>
                      </a:r>
                      <a:r>
                        <a:rPr lang="en" sz="1300">
                          <a:latin typeface="Times New Roman"/>
                          <a:ea typeface="Times New Roman"/>
                          <a:cs typeface="Times New Roman"/>
                          <a:sym typeface="Times New Roman"/>
                        </a:rPr>
                        <a:t>The system is developed using a web-based distributed architecture with a client-server model. It integrates an intelligent system using fuzzy logic to manage inventory across multiple stores and determine reorder levels.</a:t>
                      </a:r>
                      <a:endParaRPr sz="13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1300">
                          <a:latin typeface="Times New Roman"/>
                          <a:ea typeface="Times New Roman"/>
                          <a:cs typeface="Times New Roman"/>
                          <a:sym typeface="Times New Roman"/>
                        </a:rPr>
                        <a:t>  Algorithm Used:Fuzzy Logic (Mamdani Inference System)</a:t>
                      </a:r>
                      <a:endParaRPr sz="1300" cap="none" strike="noStrike">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c>
                  <a:txBody>
                    <a:bodyPr/>
                    <a:lstStyle/>
                    <a:p>
                      <a:pPr indent="0" lvl="0" marL="91440" marR="0" rtl="0" algn="l">
                        <a:lnSpc>
                          <a:spcPct val="100000"/>
                        </a:lnSpc>
                        <a:spcBef>
                          <a:spcPts val="0"/>
                        </a:spcBef>
                        <a:spcAft>
                          <a:spcPts val="0"/>
                        </a:spcAft>
                        <a:buNone/>
                      </a:pPr>
                      <a:r>
                        <a:rPr lang="en" sz="1300">
                          <a:latin typeface="Times New Roman"/>
                          <a:ea typeface="Times New Roman"/>
                          <a:cs typeface="Times New Roman"/>
                          <a:sym typeface="Times New Roman"/>
                        </a:rPr>
                        <a:t>Not beginner </a:t>
                      </a:r>
                      <a:r>
                        <a:rPr lang="en" sz="1300">
                          <a:latin typeface="Times New Roman"/>
                          <a:ea typeface="Times New Roman"/>
                          <a:cs typeface="Times New Roman"/>
                          <a:sym typeface="Times New Roman"/>
                        </a:rPr>
                        <a:t>friendly</a:t>
                      </a:r>
                      <a:r>
                        <a:rPr lang="en" sz="1300">
                          <a:latin typeface="Times New Roman"/>
                          <a:ea typeface="Times New Roman"/>
                          <a:cs typeface="Times New Roman"/>
                          <a:sym typeface="Times New Roman"/>
                        </a:rPr>
                        <a:t> and way too complex due to the use of Fuzzy logic with limited </a:t>
                      </a:r>
                      <a:r>
                        <a:rPr lang="en" sz="1300">
                          <a:latin typeface="Times New Roman"/>
                          <a:ea typeface="Times New Roman"/>
                          <a:cs typeface="Times New Roman"/>
                          <a:sym typeface="Times New Roman"/>
                        </a:rPr>
                        <a:t>scalability</a:t>
                      </a:r>
                      <a:r>
                        <a:rPr lang="en" sz="1300">
                          <a:latin typeface="Times New Roman"/>
                          <a:ea typeface="Times New Roman"/>
                          <a:cs typeface="Times New Roman"/>
                          <a:sym typeface="Times New Roman"/>
                        </a:rPr>
                        <a:t> proof.</a:t>
                      </a:r>
                      <a:endParaRPr sz="1300" u="none" cap="none" strike="noStrike">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c>
                  <a:txBody>
                    <a:bodyPr/>
                    <a:lstStyle/>
                    <a:p>
                      <a:pPr indent="0" lvl="0" marL="91440" marR="0" rtl="0" algn="l">
                        <a:lnSpc>
                          <a:spcPct val="100000"/>
                        </a:lnSpc>
                        <a:spcBef>
                          <a:spcPts val="0"/>
                        </a:spcBef>
                        <a:spcAft>
                          <a:spcPts val="0"/>
                        </a:spcAft>
                        <a:buNone/>
                      </a:pPr>
                      <a:r>
                        <a:rPr lang="en" sz="1300">
                          <a:latin typeface="Times New Roman"/>
                          <a:ea typeface="Times New Roman"/>
                          <a:cs typeface="Times New Roman"/>
                          <a:sym typeface="Times New Roman"/>
                        </a:rPr>
                        <a:t>Use of Ai for intelligent </a:t>
                      </a:r>
                      <a:r>
                        <a:rPr lang="en" sz="1300">
                          <a:latin typeface="Times New Roman"/>
                          <a:ea typeface="Times New Roman"/>
                          <a:cs typeface="Times New Roman"/>
                          <a:sym typeface="Times New Roman"/>
                        </a:rPr>
                        <a:t>decisions and systems.</a:t>
                      </a:r>
                      <a:endParaRPr sz="1300">
                        <a:latin typeface="Times New Roman"/>
                        <a:ea typeface="Times New Roman"/>
                        <a:cs typeface="Times New Roman"/>
                        <a:sym typeface="Times New Roman"/>
                      </a:endParaRPr>
                    </a:p>
                    <a:p>
                      <a:pPr indent="0" lvl="0" marL="91440" marR="0" rtl="0" algn="l">
                        <a:lnSpc>
                          <a:spcPct val="100000"/>
                        </a:lnSpc>
                        <a:spcBef>
                          <a:spcPts val="0"/>
                        </a:spcBef>
                        <a:spcAft>
                          <a:spcPts val="0"/>
                        </a:spcAft>
                        <a:buNone/>
                      </a:pPr>
                      <a:r>
                        <a:rPr lang="en" sz="1300">
                          <a:latin typeface="Times New Roman"/>
                          <a:ea typeface="Times New Roman"/>
                          <a:cs typeface="Times New Roman"/>
                          <a:sym typeface="Times New Roman"/>
                        </a:rPr>
                        <a:t>Graphical representation of data with clear visuals and a dashboard</a:t>
                      </a:r>
                      <a:endParaRPr sz="1300">
                        <a:latin typeface="Times New Roman"/>
                        <a:ea typeface="Times New Roman"/>
                        <a:cs typeface="Times New Roman"/>
                        <a:sym typeface="Times New Roman"/>
                      </a:endParaRPr>
                    </a:p>
                  </a:txBody>
                  <a:tcPr marT="0" marB="0" marR="0" marL="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chemeClr val="lt1"/>
                    </a:solidFill>
                  </a:tcPr>
                </a:tc>
              </a:tr>
            </a:tbl>
          </a:graphicData>
        </a:graphic>
      </p:graphicFrame>
      <p:sp>
        <p:nvSpPr>
          <p:cNvPr id="156" name="Google Shape;156;p25"/>
          <p:cNvSpPr txBox="1"/>
          <p:nvPr>
            <p:ph type="title"/>
          </p:nvPr>
        </p:nvSpPr>
        <p:spPr>
          <a:xfrm>
            <a:off x="3040406" y="253444"/>
            <a:ext cx="3063300" cy="483900"/>
          </a:xfrm>
          <a:prstGeom prst="rect">
            <a:avLst/>
          </a:prstGeom>
          <a:noFill/>
          <a:ln>
            <a:noFill/>
          </a:ln>
        </p:spPr>
        <p:txBody>
          <a:bodyPr anchorCtr="0" anchor="t" bIns="0" lIns="0" spcFirstLastPara="1" rIns="0" wrap="square" tIns="6675">
            <a:spAutoFit/>
          </a:bodyPr>
          <a:lstStyle/>
          <a:p>
            <a:pPr indent="0" lvl="0" marL="12700" rtl="0" algn="l">
              <a:lnSpc>
                <a:spcPct val="100000"/>
              </a:lnSpc>
              <a:spcBef>
                <a:spcPts val="0"/>
              </a:spcBef>
              <a:spcAft>
                <a:spcPts val="0"/>
              </a:spcAft>
              <a:buNone/>
            </a:pPr>
            <a:r>
              <a:rPr lang="en"/>
              <a:t>Literature Review</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6"/>
          <p:cNvSpPr txBox="1"/>
          <p:nvPr>
            <p:ph type="title"/>
          </p:nvPr>
        </p:nvSpPr>
        <p:spPr>
          <a:xfrm>
            <a:off x="2110156" y="-77105"/>
            <a:ext cx="5347200" cy="852000"/>
          </a:xfrm>
          <a:prstGeom prst="rect">
            <a:avLst/>
          </a:prstGeom>
          <a:noFill/>
          <a:ln>
            <a:noFill/>
          </a:ln>
        </p:spPr>
        <p:txBody>
          <a:bodyPr anchorCtr="0" anchor="t" bIns="0" lIns="0" spcFirstLastPara="1" rIns="0" wrap="square" tIns="337225">
            <a:spAutoFit/>
          </a:bodyPr>
          <a:lstStyle/>
          <a:p>
            <a:pPr indent="0" lvl="0" marL="774700" rtl="0" algn="l">
              <a:lnSpc>
                <a:spcPct val="100000"/>
              </a:lnSpc>
              <a:spcBef>
                <a:spcPts val="0"/>
              </a:spcBef>
              <a:spcAft>
                <a:spcPts val="0"/>
              </a:spcAft>
              <a:buNone/>
            </a:pPr>
            <a:r>
              <a:rPr lang="en"/>
              <a:t>Problem Statement</a:t>
            </a:r>
            <a:endParaRPr/>
          </a:p>
        </p:txBody>
      </p:sp>
      <p:sp>
        <p:nvSpPr>
          <p:cNvPr id="162" name="Google Shape;162;p26"/>
          <p:cNvSpPr txBox="1"/>
          <p:nvPr>
            <p:ph idx="11" type="ftr"/>
          </p:nvPr>
        </p:nvSpPr>
        <p:spPr>
          <a:xfrm>
            <a:off x="3621218" y="4871159"/>
            <a:ext cx="2010300" cy="153900"/>
          </a:xfrm>
          <a:prstGeom prst="rect">
            <a:avLst/>
          </a:prstGeom>
          <a:noFill/>
          <a:ln>
            <a:noFill/>
          </a:ln>
        </p:spPr>
        <p:txBody>
          <a:bodyPr anchorCtr="0" anchor="t" bIns="0" lIns="0" spcFirstLastPara="1" rIns="0" wrap="square" tIns="0">
            <a:spAutoFit/>
          </a:bodyPr>
          <a:lstStyle/>
          <a:p>
            <a:pPr indent="0" lvl="0" marL="12700" rtl="0" algn="l">
              <a:lnSpc>
                <a:spcPct val="122222"/>
              </a:lnSpc>
              <a:spcBef>
                <a:spcPts val="0"/>
              </a:spcBef>
              <a:spcAft>
                <a:spcPts val="0"/>
              </a:spcAft>
              <a:buNone/>
            </a:pPr>
            <a:r>
              <a:rPr lang="en"/>
              <a:t>Department of Computer Engineering</a:t>
            </a:r>
            <a:endParaRPr/>
          </a:p>
        </p:txBody>
      </p:sp>
      <p:sp>
        <p:nvSpPr>
          <p:cNvPr id="163" name="Google Shape;163;p26"/>
          <p:cNvSpPr txBox="1"/>
          <p:nvPr/>
        </p:nvSpPr>
        <p:spPr>
          <a:xfrm>
            <a:off x="562429" y="1245739"/>
            <a:ext cx="8127900" cy="3147000"/>
          </a:xfrm>
          <a:prstGeom prst="rect">
            <a:avLst/>
          </a:prstGeom>
          <a:noFill/>
          <a:ln>
            <a:noFill/>
          </a:ln>
        </p:spPr>
        <p:txBody>
          <a:bodyPr anchorCtr="0" anchor="t" bIns="0" lIns="0" spcFirstLastPara="1" rIns="0" wrap="square" tIns="13025">
            <a:spAutoFit/>
          </a:bodyPr>
          <a:lstStyle/>
          <a:p>
            <a:pPr indent="0" lvl="0" marL="0" rtl="0" algn="l">
              <a:lnSpc>
                <a:spcPct val="115000"/>
              </a:lnSpc>
              <a:spcBef>
                <a:spcPts val="1200"/>
              </a:spcBef>
              <a:spcAft>
                <a:spcPts val="0"/>
              </a:spcAft>
              <a:buClr>
                <a:schemeClr val="dk1"/>
              </a:buClr>
              <a:buSzPts val="1100"/>
              <a:buFont typeface="Arial"/>
              <a:buNone/>
            </a:pPr>
            <a:r>
              <a:rPr lang="en" sz="1800">
                <a:latin typeface="Trebuchet MS"/>
                <a:ea typeface="Trebuchet MS"/>
                <a:cs typeface="Trebuchet MS"/>
                <a:sym typeface="Trebuchet MS"/>
              </a:rPr>
              <a:t>Businesses, especially small and medium enterprises, often rely on multiple disconnected systems to manage sales, inventory, finance, and human resources. This leads to data inconsistency, manual  and inefficient workflows, making it difficult to obtain real-time insights and make informed decisions.</a:t>
            </a:r>
            <a:endParaRPr sz="1800">
              <a:latin typeface="Trebuchet MS"/>
              <a:ea typeface="Trebuchet MS"/>
              <a:cs typeface="Trebuchet MS"/>
              <a:sym typeface="Trebuchet MS"/>
            </a:endParaRPr>
          </a:p>
          <a:p>
            <a:pPr indent="0" lvl="0" marL="0" rtl="0" algn="l">
              <a:lnSpc>
                <a:spcPct val="115000"/>
              </a:lnSpc>
              <a:spcBef>
                <a:spcPts val="1200"/>
              </a:spcBef>
              <a:spcAft>
                <a:spcPts val="0"/>
              </a:spcAft>
              <a:buClr>
                <a:schemeClr val="dk1"/>
              </a:buClr>
              <a:buSzPts val="1100"/>
              <a:buFont typeface="Arial"/>
              <a:buNone/>
            </a:pPr>
            <a:r>
              <a:rPr lang="en" sz="1800">
                <a:latin typeface="Trebuchet MS"/>
                <a:ea typeface="Trebuchet MS"/>
                <a:cs typeface="Trebuchet MS"/>
                <a:sym typeface="Trebuchet MS"/>
              </a:rPr>
              <a:t>This project aims to develop an Integrated Business Operations Platform (IBOP) that consolidates key business functions such as CRM, sales, inventory, finance, and HR into a centralized web-based system, improving operational efficiency and decision-making.</a:t>
            </a:r>
            <a:endParaRPr sz="1800">
              <a:latin typeface="Trebuchet MS"/>
              <a:ea typeface="Trebuchet MS"/>
              <a:cs typeface="Trebuchet MS"/>
              <a:sym typeface="Trebuchet MS"/>
            </a:endParaRPr>
          </a:p>
          <a:p>
            <a:pPr indent="0" lvl="0" marL="12700" marR="0" rtl="0" algn="just">
              <a:lnSpc>
                <a:spcPct val="118888"/>
              </a:lnSpc>
              <a:spcBef>
                <a:spcPts val="1200"/>
              </a:spcBef>
              <a:spcAft>
                <a:spcPts val="0"/>
              </a:spcAft>
              <a:buNone/>
            </a:pPr>
            <a:r>
              <a:t/>
            </a:r>
            <a:endParaRPr sz="1800">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7"/>
          <p:cNvSpPr txBox="1"/>
          <p:nvPr>
            <p:ph type="title"/>
          </p:nvPr>
        </p:nvSpPr>
        <p:spPr>
          <a:xfrm>
            <a:off x="2110156" y="-77105"/>
            <a:ext cx="5347315" cy="851988"/>
          </a:xfrm>
          <a:prstGeom prst="rect">
            <a:avLst/>
          </a:prstGeom>
          <a:noFill/>
          <a:ln>
            <a:noFill/>
          </a:ln>
        </p:spPr>
        <p:txBody>
          <a:bodyPr anchorCtr="0" anchor="t" bIns="0" lIns="0" spcFirstLastPara="1" rIns="0" wrap="square" tIns="279200">
            <a:spAutoFit/>
          </a:bodyPr>
          <a:lstStyle/>
          <a:p>
            <a:pPr indent="0" lvl="0" marL="1574800" rtl="0" algn="l">
              <a:lnSpc>
                <a:spcPct val="100000"/>
              </a:lnSpc>
              <a:spcBef>
                <a:spcPts val="0"/>
              </a:spcBef>
              <a:spcAft>
                <a:spcPts val="0"/>
              </a:spcAft>
              <a:buNone/>
            </a:pPr>
            <a:r>
              <a:rPr lang="en"/>
              <a:t>Objectives</a:t>
            </a:r>
            <a:endParaRPr/>
          </a:p>
        </p:txBody>
      </p:sp>
      <p:sp>
        <p:nvSpPr>
          <p:cNvPr id="169" name="Google Shape;169;p27"/>
          <p:cNvSpPr txBox="1"/>
          <p:nvPr>
            <p:ph idx="11" type="ftr"/>
          </p:nvPr>
        </p:nvSpPr>
        <p:spPr>
          <a:xfrm>
            <a:off x="3621218" y="4871159"/>
            <a:ext cx="2010410" cy="153988"/>
          </a:xfrm>
          <a:prstGeom prst="rect">
            <a:avLst/>
          </a:prstGeom>
          <a:noFill/>
          <a:ln>
            <a:noFill/>
          </a:ln>
        </p:spPr>
        <p:txBody>
          <a:bodyPr anchorCtr="0" anchor="t" bIns="0" lIns="0" spcFirstLastPara="1" rIns="0" wrap="square" tIns="0">
            <a:spAutoFit/>
          </a:bodyPr>
          <a:lstStyle/>
          <a:p>
            <a:pPr indent="0" lvl="0" marL="12700" rtl="0" algn="l">
              <a:lnSpc>
                <a:spcPct val="122222"/>
              </a:lnSpc>
              <a:spcBef>
                <a:spcPts val="0"/>
              </a:spcBef>
              <a:spcAft>
                <a:spcPts val="0"/>
              </a:spcAft>
              <a:buNone/>
            </a:pPr>
            <a:r>
              <a:rPr lang="en"/>
              <a:t>Department of Computer Engineering</a:t>
            </a:r>
            <a:endParaRPr/>
          </a:p>
        </p:txBody>
      </p:sp>
      <p:sp>
        <p:nvSpPr>
          <p:cNvPr id="170" name="Google Shape;170;p27"/>
          <p:cNvSpPr txBox="1"/>
          <p:nvPr/>
        </p:nvSpPr>
        <p:spPr>
          <a:xfrm>
            <a:off x="781596" y="1483458"/>
            <a:ext cx="7696800" cy="2801700"/>
          </a:xfrm>
          <a:prstGeom prst="rect">
            <a:avLst/>
          </a:prstGeom>
          <a:noFill/>
          <a:ln>
            <a:noFill/>
          </a:ln>
        </p:spPr>
        <p:txBody>
          <a:bodyPr anchorCtr="0" anchor="t" bIns="0" lIns="0" spcFirstLastPara="1" rIns="0" wrap="square" tIns="6350">
            <a:spAutoFit/>
          </a:bodyPr>
          <a:lstStyle/>
          <a:p>
            <a:pPr indent="-298450" lvl="0" marL="457200" rtl="0" algn="l">
              <a:lnSpc>
                <a:spcPct val="115000"/>
              </a:lnSpc>
              <a:spcBef>
                <a:spcPts val="1200"/>
              </a:spcBef>
              <a:spcAft>
                <a:spcPts val="0"/>
              </a:spcAft>
              <a:buClr>
                <a:schemeClr val="dk1"/>
              </a:buClr>
              <a:buSzPts val="1100"/>
              <a:buAutoNum type="arabicPeriod"/>
            </a:pPr>
            <a:r>
              <a:rPr lang="en" sz="1600">
                <a:latin typeface="Trebuchet MS"/>
                <a:ea typeface="Trebuchet MS"/>
                <a:cs typeface="Trebuchet MS"/>
                <a:sym typeface="Trebuchet MS"/>
              </a:rPr>
              <a:t>To design and develop a centralized platform that integrates multiple business operations including sales, inventory, finance, and human resources.</a:t>
            </a:r>
            <a:endParaRPr sz="1600">
              <a:latin typeface="Trebuchet MS"/>
              <a:ea typeface="Trebuchet MS"/>
              <a:cs typeface="Trebuchet MS"/>
              <a:sym typeface="Trebuchet MS"/>
            </a:endParaRPr>
          </a:p>
          <a:p>
            <a:pPr indent="-298450" lvl="0" marL="457200" rtl="0" algn="l">
              <a:lnSpc>
                <a:spcPct val="115000"/>
              </a:lnSpc>
              <a:spcBef>
                <a:spcPts val="0"/>
              </a:spcBef>
              <a:spcAft>
                <a:spcPts val="0"/>
              </a:spcAft>
              <a:buClr>
                <a:schemeClr val="dk1"/>
              </a:buClr>
              <a:buSzPts val="1100"/>
              <a:buAutoNum type="arabicPeriod"/>
            </a:pPr>
            <a:r>
              <a:rPr lang="en" sz="1600">
                <a:latin typeface="Trebuchet MS"/>
                <a:ea typeface="Trebuchet MS"/>
                <a:cs typeface="Trebuchet MS"/>
                <a:sym typeface="Trebuchet MS"/>
              </a:rPr>
              <a:t>To automate key workflows such as order processing, inventory updates, invoicing, and reporting to reduce manual effort and errors.</a:t>
            </a:r>
            <a:endParaRPr sz="1600">
              <a:latin typeface="Trebuchet MS"/>
              <a:ea typeface="Trebuchet MS"/>
              <a:cs typeface="Trebuchet MS"/>
              <a:sym typeface="Trebuchet MS"/>
            </a:endParaRPr>
          </a:p>
          <a:p>
            <a:pPr indent="-298450" lvl="0" marL="457200" rtl="0" algn="l">
              <a:lnSpc>
                <a:spcPct val="115000"/>
              </a:lnSpc>
              <a:spcBef>
                <a:spcPts val="0"/>
              </a:spcBef>
              <a:spcAft>
                <a:spcPts val="0"/>
              </a:spcAft>
              <a:buClr>
                <a:schemeClr val="dk1"/>
              </a:buClr>
              <a:buSzPts val="1100"/>
              <a:buAutoNum type="arabicPeriod"/>
            </a:pPr>
            <a:r>
              <a:rPr lang="en" sz="1600">
                <a:latin typeface="Trebuchet MS"/>
                <a:ea typeface="Trebuchet MS"/>
                <a:cs typeface="Trebuchet MS"/>
                <a:sym typeface="Trebuchet MS"/>
              </a:rPr>
              <a:t>To implement a role-based access system (Admin/User) for secure and controlled data management.</a:t>
            </a:r>
            <a:endParaRPr sz="1600">
              <a:latin typeface="Trebuchet MS"/>
              <a:ea typeface="Trebuchet MS"/>
              <a:cs typeface="Trebuchet MS"/>
              <a:sym typeface="Trebuchet MS"/>
            </a:endParaRPr>
          </a:p>
          <a:p>
            <a:pPr indent="-298450" lvl="0" marL="457200" rtl="0" algn="l">
              <a:lnSpc>
                <a:spcPct val="115000"/>
              </a:lnSpc>
              <a:spcBef>
                <a:spcPts val="0"/>
              </a:spcBef>
              <a:spcAft>
                <a:spcPts val="0"/>
              </a:spcAft>
              <a:buClr>
                <a:schemeClr val="dk1"/>
              </a:buClr>
              <a:buSzPts val="1100"/>
              <a:buAutoNum type="arabicPeriod"/>
            </a:pPr>
            <a:r>
              <a:rPr lang="en" sz="1600">
                <a:latin typeface="Trebuchet MS"/>
                <a:ea typeface="Trebuchet MS"/>
                <a:cs typeface="Trebuchet MS"/>
                <a:sym typeface="Trebuchet MS"/>
              </a:rPr>
              <a:t>To provide real-time data tracking and automated report generation for better business insights and decision-making.</a:t>
            </a:r>
            <a:endParaRPr sz="1600">
              <a:latin typeface="Trebuchet MS"/>
              <a:ea typeface="Trebuchet MS"/>
              <a:cs typeface="Trebuchet MS"/>
              <a:sym typeface="Trebuchet MS"/>
            </a:endParaRPr>
          </a:p>
          <a:p>
            <a:pPr indent="-298450" lvl="0" marL="457200" rtl="0" algn="l">
              <a:lnSpc>
                <a:spcPct val="115000"/>
              </a:lnSpc>
              <a:spcBef>
                <a:spcPts val="0"/>
              </a:spcBef>
              <a:spcAft>
                <a:spcPts val="0"/>
              </a:spcAft>
              <a:buClr>
                <a:schemeClr val="dk1"/>
              </a:buClr>
              <a:buSzPts val="1100"/>
              <a:buAutoNum type="arabicPeriod"/>
            </a:pPr>
            <a:r>
              <a:rPr lang="en" sz="1600">
                <a:latin typeface="Trebuchet MS"/>
                <a:ea typeface="Trebuchet MS"/>
                <a:cs typeface="Trebuchet MS"/>
                <a:sym typeface="Trebuchet MS"/>
              </a:rPr>
              <a:t>To build a scalable and customizable system that can adapt to different business requirements.</a:t>
            </a:r>
            <a:endParaRPr sz="1600">
              <a:latin typeface="Trebuchet MS"/>
              <a:ea typeface="Trebuchet MS"/>
              <a:cs typeface="Trebuchet MS"/>
              <a:sym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8"/>
          <p:cNvSpPr txBox="1"/>
          <p:nvPr>
            <p:ph type="title"/>
          </p:nvPr>
        </p:nvSpPr>
        <p:spPr>
          <a:xfrm>
            <a:off x="2226556" y="-353080"/>
            <a:ext cx="5347200" cy="817800"/>
          </a:xfrm>
          <a:prstGeom prst="rect">
            <a:avLst/>
          </a:prstGeom>
          <a:noFill/>
          <a:ln>
            <a:noFill/>
          </a:ln>
        </p:spPr>
        <p:txBody>
          <a:bodyPr anchorCtr="0" anchor="t" bIns="0" lIns="0" spcFirstLastPara="1" rIns="0" wrap="square" tIns="337225">
            <a:spAutoFit/>
          </a:bodyPr>
          <a:lstStyle/>
          <a:p>
            <a:pPr indent="0" lvl="0" marL="12700" rtl="0" algn="l">
              <a:lnSpc>
                <a:spcPct val="100000"/>
              </a:lnSpc>
              <a:spcBef>
                <a:spcPts val="0"/>
              </a:spcBef>
              <a:spcAft>
                <a:spcPts val="0"/>
              </a:spcAft>
              <a:buNone/>
            </a:pPr>
            <a:r>
              <a:rPr lang="en"/>
              <a:t>Objective 1- IBOP</a:t>
            </a:r>
            <a:endParaRPr/>
          </a:p>
        </p:txBody>
      </p:sp>
      <p:sp>
        <p:nvSpPr>
          <p:cNvPr id="176" name="Google Shape;176;p28"/>
          <p:cNvSpPr txBox="1"/>
          <p:nvPr>
            <p:ph idx="11" type="ftr"/>
          </p:nvPr>
        </p:nvSpPr>
        <p:spPr>
          <a:xfrm>
            <a:off x="3621218" y="4871159"/>
            <a:ext cx="2010410" cy="153988"/>
          </a:xfrm>
          <a:prstGeom prst="rect">
            <a:avLst/>
          </a:prstGeom>
          <a:noFill/>
          <a:ln>
            <a:noFill/>
          </a:ln>
        </p:spPr>
        <p:txBody>
          <a:bodyPr anchorCtr="0" anchor="t" bIns="0" lIns="0" spcFirstLastPara="1" rIns="0" wrap="square" tIns="0">
            <a:spAutoFit/>
          </a:bodyPr>
          <a:lstStyle/>
          <a:p>
            <a:pPr indent="0" lvl="0" marL="12700" rtl="0" algn="l">
              <a:lnSpc>
                <a:spcPct val="122222"/>
              </a:lnSpc>
              <a:spcBef>
                <a:spcPts val="0"/>
              </a:spcBef>
              <a:spcAft>
                <a:spcPts val="0"/>
              </a:spcAft>
              <a:buNone/>
            </a:pPr>
            <a:r>
              <a:rPr lang="en"/>
              <a:t>Department of Computer Engineering</a:t>
            </a:r>
            <a:endParaRPr/>
          </a:p>
        </p:txBody>
      </p:sp>
      <p:sp>
        <p:nvSpPr>
          <p:cNvPr id="177" name="Google Shape;177;p28"/>
          <p:cNvSpPr txBox="1"/>
          <p:nvPr/>
        </p:nvSpPr>
        <p:spPr>
          <a:xfrm>
            <a:off x="308750" y="880775"/>
            <a:ext cx="3799200" cy="327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1. Data Management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Centralized state using </a:t>
            </a:r>
            <a:r>
              <a:rPr b="1" lang="en" sz="1100">
                <a:solidFill>
                  <a:schemeClr val="dk1"/>
                </a:solidFill>
              </a:rPr>
              <a:t>React Context API</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Manages Products (Inventory) and Sales data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Enables real-time synchronization across modules</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2. Inventory Module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Add and manage products (Name, Price, Stock)</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Display products in tabular format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Supports dynamic product selection in sales</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3. Sales Module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Create sales with:</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Company, Product, Quantity, Rate, Discount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Auto-calculates: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Total = Quantity × Rate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Final Amount after discount</a:t>
            </a:r>
            <a:endParaRPr sz="1300">
              <a:solidFill>
                <a:schemeClr val="dk1"/>
              </a:solidFill>
              <a:latin typeface="Tahoma"/>
              <a:ea typeface="Tahoma"/>
              <a:cs typeface="Tahoma"/>
              <a:sym typeface="Tahoma"/>
            </a:endParaRPr>
          </a:p>
        </p:txBody>
      </p:sp>
      <p:sp>
        <p:nvSpPr>
          <p:cNvPr id="178" name="Google Shape;178;p28"/>
          <p:cNvSpPr txBox="1"/>
          <p:nvPr/>
        </p:nvSpPr>
        <p:spPr>
          <a:xfrm>
            <a:off x="4304875" y="934950"/>
            <a:ext cx="4445100" cy="3843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4. Business Logic Integration</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Sales linked with inventory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Automatic stock reduction after sale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Validates stock availability before transaction</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5. UI &amp; Navigation</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Modular dashboard (ERP-style interface)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Routing using </a:t>
            </a:r>
            <a:r>
              <a:rPr b="1" lang="en" sz="1100">
                <a:solidFill>
                  <a:schemeClr val="dk1"/>
                </a:solidFill>
              </a:rPr>
              <a:t>React Router</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Responsive UI using </a:t>
            </a:r>
            <a:r>
              <a:rPr b="1" lang="en" sz="1100">
                <a:solidFill>
                  <a:schemeClr val="dk1"/>
                </a:solidFill>
              </a:rPr>
              <a:t>Tailwind CSS</a:t>
            </a:r>
            <a:endParaRPr b="1"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6. Stem Architecture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Modular frontend (Dashboard, Sales, Inventory)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Separation of UI and logic (Context-based)</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Scalable for backend and multi-user support</a:t>
            </a:r>
            <a:endParaRPr sz="1100">
              <a:solidFill>
                <a:schemeClr val="dk1"/>
              </a:solidFill>
            </a:endParaRPr>
          </a:p>
          <a:p>
            <a:pPr indent="0" lvl="0" marL="0" rtl="0" algn="l">
              <a:spcBef>
                <a:spcPts val="1200"/>
              </a:spcBef>
              <a:spcAft>
                <a:spcPts val="0"/>
              </a:spcAft>
              <a:buNone/>
            </a:pPr>
            <a:r>
              <a:t/>
            </a:r>
            <a:endParaRPr sz="1300">
              <a:solidFill>
                <a:srgbClr val="CC2B4B"/>
              </a:solidFill>
              <a:latin typeface="Tahoma"/>
              <a:ea typeface="Tahoma"/>
              <a:cs typeface="Tahoma"/>
              <a:sym typeface="Tahoma"/>
            </a:endParaRPr>
          </a:p>
        </p:txBody>
      </p:sp>
      <p:sp>
        <p:nvSpPr>
          <p:cNvPr id="179" name="Google Shape;179;p28"/>
          <p:cNvSpPr txBox="1"/>
          <p:nvPr/>
        </p:nvSpPr>
        <p:spPr>
          <a:xfrm>
            <a:off x="2169950" y="508000"/>
            <a:ext cx="4248000" cy="35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Tahoma"/>
                <a:ea typeface="Tahoma"/>
                <a:cs typeface="Tahoma"/>
                <a:sym typeface="Tahoma"/>
              </a:rPr>
              <a:t>Implementation </a:t>
            </a:r>
            <a:endParaRPr sz="2000">
              <a:solidFill>
                <a:schemeClr val="dk1"/>
              </a:solidFill>
              <a:latin typeface="Tahoma"/>
              <a:ea typeface="Tahoma"/>
              <a:cs typeface="Tahoma"/>
              <a:sym typeface="Tahom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9"/>
          <p:cNvSpPr txBox="1"/>
          <p:nvPr/>
        </p:nvSpPr>
        <p:spPr>
          <a:xfrm>
            <a:off x="240375" y="368827"/>
            <a:ext cx="4239000" cy="690900"/>
          </a:xfrm>
          <a:prstGeom prst="rect">
            <a:avLst/>
          </a:prstGeom>
          <a:solidFill>
            <a:srgbClr val="1700AC"/>
          </a:solidFill>
          <a:ln>
            <a:noFill/>
          </a:ln>
        </p:spPr>
        <p:txBody>
          <a:bodyPr anchorCtr="0" anchor="t" bIns="0" lIns="0" spcFirstLastPara="1" rIns="0" wrap="square" tIns="44125">
            <a:spAutoFit/>
          </a:bodyPr>
          <a:lstStyle/>
          <a:p>
            <a:pPr indent="0" lvl="0" marL="0" rtl="0" algn="l">
              <a:lnSpc>
                <a:spcPct val="100000"/>
              </a:lnSpc>
              <a:spcBef>
                <a:spcPts val="0"/>
              </a:spcBef>
              <a:spcAft>
                <a:spcPts val="0"/>
              </a:spcAft>
              <a:buNone/>
            </a:pPr>
            <a:r>
              <a:t/>
            </a:r>
            <a:endParaRPr sz="1400">
              <a:latin typeface="Times New Roman"/>
              <a:ea typeface="Times New Roman"/>
              <a:cs typeface="Times New Roman"/>
              <a:sym typeface="Times New Roman"/>
            </a:endParaRPr>
          </a:p>
          <a:p>
            <a:pPr indent="0" lvl="0" marL="0" marR="38100" rtl="0" algn="ctr">
              <a:lnSpc>
                <a:spcPct val="100000"/>
              </a:lnSpc>
              <a:spcBef>
                <a:spcPts val="0"/>
              </a:spcBef>
              <a:spcAft>
                <a:spcPts val="0"/>
              </a:spcAft>
              <a:buNone/>
            </a:pPr>
            <a:r>
              <a:rPr lang="en">
                <a:solidFill>
                  <a:srgbClr val="FFFFFF"/>
                </a:solidFill>
                <a:latin typeface="Trebuchet MS"/>
                <a:ea typeface="Trebuchet MS"/>
                <a:cs typeface="Trebuchet MS"/>
                <a:sym typeface="Trebuchet MS"/>
              </a:rPr>
              <a:t>System Components</a:t>
            </a:r>
            <a:endParaRPr>
              <a:solidFill>
                <a:srgbClr val="FFFFFF"/>
              </a:solidFill>
              <a:latin typeface="Trebuchet MS"/>
              <a:ea typeface="Trebuchet MS"/>
              <a:cs typeface="Trebuchet MS"/>
              <a:sym typeface="Trebuchet MS"/>
            </a:endParaRPr>
          </a:p>
          <a:p>
            <a:pPr indent="0" lvl="0" marL="0" marR="38100" rtl="0" algn="ctr">
              <a:lnSpc>
                <a:spcPct val="100000"/>
              </a:lnSpc>
              <a:spcBef>
                <a:spcPts val="0"/>
              </a:spcBef>
              <a:spcAft>
                <a:spcPts val="0"/>
              </a:spcAft>
              <a:buNone/>
            </a:pPr>
            <a:r>
              <a:t/>
            </a:r>
            <a:endParaRPr>
              <a:solidFill>
                <a:srgbClr val="FFFFFF"/>
              </a:solidFill>
              <a:latin typeface="Trebuchet MS"/>
              <a:ea typeface="Trebuchet MS"/>
              <a:cs typeface="Trebuchet MS"/>
              <a:sym typeface="Trebuchet MS"/>
            </a:endParaRPr>
          </a:p>
        </p:txBody>
      </p:sp>
      <p:sp>
        <p:nvSpPr>
          <p:cNvPr id="185" name="Google Shape;185;p29"/>
          <p:cNvSpPr/>
          <p:nvPr/>
        </p:nvSpPr>
        <p:spPr>
          <a:xfrm>
            <a:off x="4599479" y="1059729"/>
            <a:ext cx="4237355" cy="3766503"/>
          </a:xfrm>
          <a:custGeom>
            <a:rect b="b" l="l" r="r" t="t"/>
            <a:pathLst>
              <a:path extrusionOk="0" h="7533005" w="8474710">
                <a:moveTo>
                  <a:pt x="8328344" y="7532826"/>
                </a:moveTo>
                <a:lnTo>
                  <a:pt x="152400" y="7532826"/>
                </a:lnTo>
                <a:lnTo>
                  <a:pt x="104229" y="7525057"/>
                </a:lnTo>
                <a:lnTo>
                  <a:pt x="62394" y="7503422"/>
                </a:lnTo>
                <a:lnTo>
                  <a:pt x="29404" y="7470432"/>
                </a:lnTo>
                <a:lnTo>
                  <a:pt x="7769" y="7428597"/>
                </a:lnTo>
                <a:lnTo>
                  <a:pt x="0" y="7380426"/>
                </a:lnTo>
                <a:lnTo>
                  <a:pt x="0" y="152400"/>
                </a:lnTo>
                <a:lnTo>
                  <a:pt x="7769" y="104229"/>
                </a:lnTo>
                <a:lnTo>
                  <a:pt x="29404" y="62394"/>
                </a:lnTo>
                <a:lnTo>
                  <a:pt x="62394" y="29404"/>
                </a:lnTo>
                <a:lnTo>
                  <a:pt x="104229" y="7769"/>
                </a:lnTo>
                <a:lnTo>
                  <a:pt x="152400" y="0"/>
                </a:lnTo>
                <a:lnTo>
                  <a:pt x="8328344" y="0"/>
                </a:lnTo>
                <a:lnTo>
                  <a:pt x="8376514" y="7769"/>
                </a:lnTo>
                <a:lnTo>
                  <a:pt x="8418349" y="29404"/>
                </a:lnTo>
                <a:lnTo>
                  <a:pt x="8451339" y="62394"/>
                </a:lnTo>
                <a:lnTo>
                  <a:pt x="8472974" y="104229"/>
                </a:lnTo>
                <a:lnTo>
                  <a:pt x="8474430" y="113253"/>
                </a:lnTo>
                <a:lnTo>
                  <a:pt x="8474430" y="7419573"/>
                </a:lnTo>
                <a:lnTo>
                  <a:pt x="8451339" y="7470432"/>
                </a:lnTo>
                <a:lnTo>
                  <a:pt x="8418349" y="7503422"/>
                </a:lnTo>
                <a:lnTo>
                  <a:pt x="8376514" y="7525057"/>
                </a:lnTo>
                <a:lnTo>
                  <a:pt x="8328344" y="7532826"/>
                </a:lnTo>
                <a:close/>
              </a:path>
            </a:pathLst>
          </a:custGeom>
          <a:solidFill>
            <a:srgbClr val="C2DB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700"/>
          </a:p>
        </p:txBody>
      </p:sp>
      <p:sp>
        <p:nvSpPr>
          <p:cNvPr id="186" name="Google Shape;186;p29"/>
          <p:cNvSpPr txBox="1"/>
          <p:nvPr/>
        </p:nvSpPr>
        <p:spPr>
          <a:xfrm>
            <a:off x="4598642" y="368829"/>
            <a:ext cx="4239000" cy="690900"/>
          </a:xfrm>
          <a:prstGeom prst="rect">
            <a:avLst/>
          </a:prstGeom>
          <a:solidFill>
            <a:srgbClr val="1700AC"/>
          </a:solidFill>
          <a:ln>
            <a:noFill/>
          </a:ln>
        </p:spPr>
        <p:txBody>
          <a:bodyPr anchorCtr="0" anchor="t" bIns="0" lIns="0" spcFirstLastPara="1" rIns="0" wrap="square" tIns="44125">
            <a:spAutoFit/>
          </a:bodyPr>
          <a:lstStyle/>
          <a:p>
            <a:pPr indent="0" lvl="0" marL="0" rtl="0" algn="l">
              <a:lnSpc>
                <a:spcPct val="100000"/>
              </a:lnSpc>
              <a:spcBef>
                <a:spcPts val="0"/>
              </a:spcBef>
              <a:spcAft>
                <a:spcPts val="0"/>
              </a:spcAft>
              <a:buNone/>
            </a:pPr>
            <a:r>
              <a:t/>
            </a:r>
            <a:endParaRPr sz="1400">
              <a:latin typeface="Times New Roman"/>
              <a:ea typeface="Times New Roman"/>
              <a:cs typeface="Times New Roman"/>
              <a:sym typeface="Times New Roman"/>
            </a:endParaRPr>
          </a:p>
          <a:p>
            <a:pPr indent="0" lvl="0" marL="0" marR="38100" rtl="0" algn="ctr">
              <a:lnSpc>
                <a:spcPct val="100000"/>
              </a:lnSpc>
              <a:spcBef>
                <a:spcPts val="0"/>
              </a:spcBef>
              <a:spcAft>
                <a:spcPts val="0"/>
              </a:spcAft>
              <a:buNone/>
            </a:pPr>
            <a:r>
              <a:rPr lang="en">
                <a:solidFill>
                  <a:srgbClr val="FFFFFF"/>
                </a:solidFill>
                <a:latin typeface="Trebuchet MS"/>
                <a:ea typeface="Trebuchet MS"/>
                <a:cs typeface="Trebuchet MS"/>
                <a:sym typeface="Trebuchet MS"/>
              </a:rPr>
              <a:t>Core Logic &amp; Feature</a:t>
            </a:r>
            <a:endParaRPr>
              <a:solidFill>
                <a:srgbClr val="FFFFFF"/>
              </a:solidFill>
              <a:latin typeface="Trebuchet MS"/>
              <a:ea typeface="Trebuchet MS"/>
              <a:cs typeface="Trebuchet MS"/>
              <a:sym typeface="Trebuchet MS"/>
            </a:endParaRPr>
          </a:p>
          <a:p>
            <a:pPr indent="0" lvl="0" marL="0" marR="38100" rtl="0" algn="ctr">
              <a:lnSpc>
                <a:spcPct val="100000"/>
              </a:lnSpc>
              <a:spcBef>
                <a:spcPts val="0"/>
              </a:spcBef>
              <a:spcAft>
                <a:spcPts val="0"/>
              </a:spcAft>
              <a:buNone/>
            </a:pPr>
            <a:r>
              <a:t/>
            </a:r>
            <a:endParaRPr>
              <a:solidFill>
                <a:srgbClr val="FFFFFF"/>
              </a:solidFill>
              <a:latin typeface="Trebuchet MS"/>
              <a:ea typeface="Trebuchet MS"/>
              <a:cs typeface="Trebuchet MS"/>
              <a:sym typeface="Trebuchet MS"/>
            </a:endParaRPr>
          </a:p>
        </p:txBody>
      </p:sp>
      <p:sp>
        <p:nvSpPr>
          <p:cNvPr id="187" name="Google Shape;187;p29"/>
          <p:cNvSpPr txBox="1"/>
          <p:nvPr>
            <p:ph idx="1" type="body"/>
          </p:nvPr>
        </p:nvSpPr>
        <p:spPr>
          <a:xfrm>
            <a:off x="240375" y="1059726"/>
            <a:ext cx="4080900" cy="4077900"/>
          </a:xfrm>
          <a:prstGeom prst="rect">
            <a:avLst/>
          </a:prstGeom>
          <a:noFill/>
          <a:ln>
            <a:noFill/>
          </a:ln>
        </p:spPr>
        <p:txBody>
          <a:bodyPr anchorCtr="0" anchor="t" bIns="0" lIns="0" spcFirstLastPara="1" rIns="0" wrap="square" tIns="14300">
            <a:spAutoFit/>
          </a:bodyPr>
          <a:lstStyle/>
          <a:p>
            <a:pPr indent="0" lvl="0" marL="0" rtl="0" algn="l">
              <a:lnSpc>
                <a:spcPct val="115000"/>
              </a:lnSpc>
              <a:spcBef>
                <a:spcPts val="1200"/>
              </a:spcBef>
              <a:spcAft>
                <a:spcPts val="0"/>
              </a:spcAft>
              <a:buClr>
                <a:schemeClr val="dk1"/>
              </a:buClr>
              <a:buSzPts val="1100"/>
              <a:buFont typeface="Arial"/>
              <a:buNone/>
            </a:pPr>
            <a:r>
              <a:rPr b="1" lang="en" sz="1000" u="none">
                <a:solidFill>
                  <a:schemeClr val="dk1"/>
                </a:solidFill>
                <a:latin typeface="Arial"/>
                <a:ea typeface="Arial"/>
                <a:cs typeface="Arial"/>
                <a:sym typeface="Arial"/>
              </a:rPr>
              <a:t>Frontend (React + Tailwind)</a:t>
            </a:r>
            <a:endParaRPr b="1" sz="1000" u="none">
              <a:solidFill>
                <a:schemeClr val="dk1"/>
              </a:solidFill>
              <a:latin typeface="Arial"/>
              <a:ea typeface="Arial"/>
              <a:cs typeface="Arial"/>
              <a:sym typeface="Arial"/>
            </a:endParaRPr>
          </a:p>
          <a:p>
            <a:pPr indent="-292100" lvl="0" marL="457200" rtl="0" algn="l">
              <a:lnSpc>
                <a:spcPct val="115000"/>
              </a:lnSpc>
              <a:spcBef>
                <a:spcPts val="1200"/>
              </a:spcBef>
              <a:spcAft>
                <a:spcPts val="0"/>
              </a:spcAft>
              <a:buClr>
                <a:schemeClr val="dk1"/>
              </a:buClr>
              <a:buSzPts val="1000"/>
              <a:buChar char="●"/>
            </a:pPr>
            <a:r>
              <a:rPr lang="en" sz="1000" u="none">
                <a:solidFill>
                  <a:schemeClr val="dk1"/>
                </a:solidFill>
                <a:latin typeface="Arial"/>
                <a:ea typeface="Arial"/>
                <a:cs typeface="Arial"/>
                <a:sym typeface="Arial"/>
              </a:rPr>
              <a:t>Built using </a:t>
            </a:r>
            <a:r>
              <a:rPr b="1" lang="en" sz="1000" u="none">
                <a:solidFill>
                  <a:schemeClr val="dk1"/>
                </a:solidFill>
                <a:latin typeface="Arial"/>
                <a:ea typeface="Arial"/>
                <a:cs typeface="Arial"/>
                <a:sym typeface="Arial"/>
              </a:rPr>
              <a:t>React (Vite)</a:t>
            </a:r>
            <a:r>
              <a:rPr lang="en" sz="1000" u="none">
                <a:solidFill>
                  <a:schemeClr val="dk1"/>
                </a:solidFill>
                <a:latin typeface="Arial"/>
                <a:ea typeface="Arial"/>
                <a:cs typeface="Arial"/>
                <a:sym typeface="Arial"/>
              </a:rPr>
              <a:t> for fast UI development</a:t>
            </a:r>
            <a:endParaRPr sz="1000" u="none">
              <a:solidFill>
                <a:schemeClr val="dk1"/>
              </a:solidFill>
              <a:latin typeface="Arial"/>
              <a:ea typeface="Arial"/>
              <a:cs typeface="Arial"/>
              <a:sym typeface="Arial"/>
            </a:endParaRPr>
          </a:p>
          <a:p>
            <a:pPr indent="-292100" lvl="0" marL="457200" rtl="0" algn="l">
              <a:lnSpc>
                <a:spcPct val="115000"/>
              </a:lnSpc>
              <a:spcBef>
                <a:spcPts val="0"/>
              </a:spcBef>
              <a:spcAft>
                <a:spcPts val="0"/>
              </a:spcAft>
              <a:buClr>
                <a:schemeClr val="dk1"/>
              </a:buClr>
              <a:buSzPts val="1000"/>
              <a:buChar char="●"/>
            </a:pPr>
            <a:r>
              <a:rPr lang="en" sz="1000" u="none">
                <a:solidFill>
                  <a:schemeClr val="dk1"/>
                </a:solidFill>
                <a:latin typeface="Arial"/>
                <a:ea typeface="Arial"/>
                <a:cs typeface="Arial"/>
                <a:sym typeface="Arial"/>
              </a:rPr>
              <a:t>Styled with </a:t>
            </a:r>
            <a:r>
              <a:rPr b="1" lang="en" sz="1000" u="none">
                <a:solidFill>
                  <a:schemeClr val="dk1"/>
                </a:solidFill>
                <a:latin typeface="Arial"/>
                <a:ea typeface="Arial"/>
                <a:cs typeface="Arial"/>
                <a:sym typeface="Arial"/>
              </a:rPr>
              <a:t>Tailwind CSS</a:t>
            </a:r>
            <a:r>
              <a:rPr lang="en" sz="1000" u="none">
                <a:solidFill>
                  <a:schemeClr val="dk1"/>
                </a:solidFill>
                <a:latin typeface="Arial"/>
                <a:ea typeface="Arial"/>
                <a:cs typeface="Arial"/>
                <a:sym typeface="Arial"/>
              </a:rPr>
              <a:t> for responsive design</a:t>
            </a:r>
            <a:endParaRPr sz="1000" u="none">
              <a:solidFill>
                <a:schemeClr val="dk1"/>
              </a:solidFill>
              <a:latin typeface="Arial"/>
              <a:ea typeface="Arial"/>
              <a:cs typeface="Arial"/>
              <a:sym typeface="Arial"/>
            </a:endParaRPr>
          </a:p>
          <a:p>
            <a:pPr indent="-292100" lvl="0" marL="457200" rtl="0" algn="l">
              <a:lnSpc>
                <a:spcPct val="115000"/>
              </a:lnSpc>
              <a:spcBef>
                <a:spcPts val="0"/>
              </a:spcBef>
              <a:spcAft>
                <a:spcPts val="0"/>
              </a:spcAft>
              <a:buClr>
                <a:schemeClr val="dk1"/>
              </a:buClr>
              <a:buSzPts val="1000"/>
              <a:buChar char="●"/>
            </a:pPr>
            <a:r>
              <a:rPr lang="en" sz="1000" u="none">
                <a:solidFill>
                  <a:schemeClr val="dk1"/>
                </a:solidFill>
                <a:latin typeface="Arial"/>
                <a:ea typeface="Arial"/>
                <a:cs typeface="Arial"/>
                <a:sym typeface="Arial"/>
              </a:rPr>
              <a:t>Component-based architecture for modularity</a:t>
            </a:r>
            <a:endParaRPr sz="1000" u="none">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 sz="1000" u="none">
                <a:solidFill>
                  <a:schemeClr val="dk1"/>
                </a:solidFill>
                <a:latin typeface="Arial"/>
                <a:ea typeface="Arial"/>
                <a:cs typeface="Arial"/>
                <a:sym typeface="Arial"/>
              </a:rPr>
              <a:t>State Management (Context API)</a:t>
            </a:r>
            <a:endParaRPr b="1" sz="1000" u="none">
              <a:solidFill>
                <a:schemeClr val="dk1"/>
              </a:solidFill>
              <a:latin typeface="Arial"/>
              <a:ea typeface="Arial"/>
              <a:cs typeface="Arial"/>
              <a:sym typeface="Arial"/>
            </a:endParaRPr>
          </a:p>
          <a:p>
            <a:pPr indent="-292100" lvl="0" marL="457200" rtl="0" algn="l">
              <a:lnSpc>
                <a:spcPct val="115000"/>
              </a:lnSpc>
              <a:spcBef>
                <a:spcPts val="1200"/>
              </a:spcBef>
              <a:spcAft>
                <a:spcPts val="0"/>
              </a:spcAft>
              <a:buClr>
                <a:schemeClr val="dk1"/>
              </a:buClr>
              <a:buSzPts val="1000"/>
              <a:buChar char="●"/>
            </a:pPr>
            <a:r>
              <a:rPr lang="en" sz="1000" u="none">
                <a:solidFill>
                  <a:schemeClr val="dk1"/>
                </a:solidFill>
                <a:latin typeface="Arial"/>
                <a:ea typeface="Arial"/>
                <a:cs typeface="Arial"/>
                <a:sym typeface="Arial"/>
              </a:rPr>
              <a:t>Centralized data using </a:t>
            </a:r>
            <a:r>
              <a:rPr b="1" lang="en" sz="1000" u="none">
                <a:solidFill>
                  <a:schemeClr val="dk1"/>
                </a:solidFill>
                <a:latin typeface="Arial"/>
                <a:ea typeface="Arial"/>
                <a:cs typeface="Arial"/>
                <a:sym typeface="Arial"/>
              </a:rPr>
              <a:t>React Context API</a:t>
            </a:r>
            <a:endParaRPr b="1" sz="1000" u="none">
              <a:solidFill>
                <a:schemeClr val="dk1"/>
              </a:solidFill>
              <a:latin typeface="Arial"/>
              <a:ea typeface="Arial"/>
              <a:cs typeface="Arial"/>
              <a:sym typeface="Arial"/>
            </a:endParaRPr>
          </a:p>
          <a:p>
            <a:pPr indent="-292100" lvl="0" marL="457200" rtl="0" algn="l">
              <a:lnSpc>
                <a:spcPct val="115000"/>
              </a:lnSpc>
              <a:spcBef>
                <a:spcPts val="0"/>
              </a:spcBef>
              <a:spcAft>
                <a:spcPts val="0"/>
              </a:spcAft>
              <a:buClr>
                <a:schemeClr val="dk1"/>
              </a:buClr>
              <a:buSzPts val="1000"/>
              <a:buChar char="●"/>
            </a:pPr>
            <a:r>
              <a:rPr lang="en" sz="1000" u="none">
                <a:solidFill>
                  <a:schemeClr val="dk1"/>
                </a:solidFill>
                <a:latin typeface="Arial"/>
                <a:ea typeface="Arial"/>
                <a:cs typeface="Arial"/>
                <a:sym typeface="Arial"/>
              </a:rPr>
              <a:t>Manages:</a:t>
            </a:r>
            <a:endParaRPr sz="1000" u="none">
              <a:solidFill>
                <a:schemeClr val="dk1"/>
              </a:solidFill>
              <a:latin typeface="Arial"/>
              <a:ea typeface="Arial"/>
              <a:cs typeface="Arial"/>
              <a:sym typeface="Arial"/>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latin typeface="Arial"/>
                <a:ea typeface="Arial"/>
                <a:cs typeface="Arial"/>
                <a:sym typeface="Arial"/>
              </a:rPr>
              <a:t>Products (Inventory)</a:t>
            </a:r>
            <a:endParaRPr sz="1000">
              <a:solidFill>
                <a:schemeClr val="dk1"/>
              </a:solidFill>
              <a:latin typeface="Arial"/>
              <a:ea typeface="Arial"/>
              <a:cs typeface="Arial"/>
              <a:sym typeface="Arial"/>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latin typeface="Arial"/>
                <a:ea typeface="Arial"/>
                <a:cs typeface="Arial"/>
                <a:sym typeface="Arial"/>
              </a:rPr>
              <a:t>Sales records</a:t>
            </a:r>
            <a:endParaRPr sz="10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 sz="1000" u="none">
                <a:solidFill>
                  <a:schemeClr val="dk1"/>
                </a:solidFill>
                <a:latin typeface="Arial"/>
                <a:ea typeface="Arial"/>
                <a:cs typeface="Arial"/>
                <a:sym typeface="Arial"/>
              </a:rPr>
              <a:t>Routing (React Router)</a:t>
            </a:r>
            <a:endParaRPr b="1" sz="1000" u="none">
              <a:solidFill>
                <a:schemeClr val="dk1"/>
              </a:solidFill>
              <a:latin typeface="Arial"/>
              <a:ea typeface="Arial"/>
              <a:cs typeface="Arial"/>
              <a:sym typeface="Arial"/>
            </a:endParaRPr>
          </a:p>
          <a:p>
            <a:pPr indent="-292100" lvl="0" marL="457200" rtl="0" algn="l">
              <a:lnSpc>
                <a:spcPct val="115000"/>
              </a:lnSpc>
              <a:spcBef>
                <a:spcPts val="1200"/>
              </a:spcBef>
              <a:spcAft>
                <a:spcPts val="0"/>
              </a:spcAft>
              <a:buClr>
                <a:schemeClr val="dk1"/>
              </a:buClr>
              <a:buSzPts val="1000"/>
              <a:buChar char="●"/>
            </a:pPr>
            <a:r>
              <a:rPr lang="en" sz="1000" u="none">
                <a:solidFill>
                  <a:schemeClr val="dk1"/>
                </a:solidFill>
                <a:latin typeface="Arial"/>
                <a:ea typeface="Arial"/>
                <a:cs typeface="Arial"/>
                <a:sym typeface="Arial"/>
              </a:rPr>
              <a:t>Implemented navigation between modules:</a:t>
            </a:r>
            <a:endParaRPr sz="1000" u="none">
              <a:solidFill>
                <a:schemeClr val="dk1"/>
              </a:solidFill>
              <a:latin typeface="Arial"/>
              <a:ea typeface="Arial"/>
              <a:cs typeface="Arial"/>
              <a:sym typeface="Arial"/>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latin typeface="Arial"/>
                <a:ea typeface="Arial"/>
                <a:cs typeface="Arial"/>
                <a:sym typeface="Arial"/>
              </a:rPr>
              <a:t>Dashboard</a:t>
            </a:r>
            <a:endParaRPr sz="1000">
              <a:solidFill>
                <a:schemeClr val="dk1"/>
              </a:solidFill>
              <a:latin typeface="Arial"/>
              <a:ea typeface="Arial"/>
              <a:cs typeface="Arial"/>
              <a:sym typeface="Arial"/>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latin typeface="Arial"/>
                <a:ea typeface="Arial"/>
                <a:cs typeface="Arial"/>
                <a:sym typeface="Arial"/>
              </a:rPr>
              <a:t>Sales</a:t>
            </a:r>
            <a:endParaRPr sz="1000">
              <a:solidFill>
                <a:schemeClr val="dk1"/>
              </a:solidFill>
              <a:latin typeface="Arial"/>
              <a:ea typeface="Arial"/>
              <a:cs typeface="Arial"/>
              <a:sym typeface="Arial"/>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latin typeface="Arial"/>
                <a:ea typeface="Arial"/>
                <a:cs typeface="Arial"/>
                <a:sym typeface="Arial"/>
              </a:rPr>
              <a:t>Inventory</a:t>
            </a:r>
            <a:endParaRPr sz="10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 sz="1000" u="none">
                <a:solidFill>
                  <a:schemeClr val="dk1"/>
                </a:solidFill>
                <a:latin typeface="Arial"/>
                <a:ea typeface="Arial"/>
                <a:cs typeface="Arial"/>
                <a:sym typeface="Arial"/>
              </a:rPr>
              <a:t>Data Handling</a:t>
            </a:r>
            <a:endParaRPr b="1" sz="1000" u="none">
              <a:solidFill>
                <a:schemeClr val="dk1"/>
              </a:solidFill>
              <a:latin typeface="Arial"/>
              <a:ea typeface="Arial"/>
              <a:cs typeface="Arial"/>
              <a:sym typeface="Arial"/>
            </a:endParaRPr>
          </a:p>
          <a:p>
            <a:pPr indent="-292100" lvl="0" marL="457200" rtl="0" algn="l">
              <a:lnSpc>
                <a:spcPct val="115000"/>
              </a:lnSpc>
              <a:spcBef>
                <a:spcPts val="1200"/>
              </a:spcBef>
              <a:spcAft>
                <a:spcPts val="0"/>
              </a:spcAft>
              <a:buClr>
                <a:schemeClr val="dk1"/>
              </a:buClr>
              <a:buSzPts val="1000"/>
              <a:buChar char="●"/>
            </a:pPr>
            <a:r>
              <a:rPr lang="en" sz="1000" u="none">
                <a:solidFill>
                  <a:schemeClr val="dk1"/>
                </a:solidFill>
                <a:latin typeface="Arial"/>
                <a:ea typeface="Arial"/>
                <a:cs typeface="Arial"/>
                <a:sym typeface="Arial"/>
              </a:rPr>
              <a:t>Uses local state (no backend for now)</a:t>
            </a:r>
            <a:endParaRPr sz="1000" u="none">
              <a:solidFill>
                <a:schemeClr val="dk1"/>
              </a:solidFill>
              <a:latin typeface="Arial"/>
              <a:ea typeface="Arial"/>
              <a:cs typeface="Arial"/>
              <a:sym typeface="Arial"/>
            </a:endParaRPr>
          </a:p>
          <a:p>
            <a:pPr indent="-292100" lvl="0" marL="457200" rtl="0" algn="l">
              <a:lnSpc>
                <a:spcPct val="115000"/>
              </a:lnSpc>
              <a:spcBef>
                <a:spcPts val="0"/>
              </a:spcBef>
              <a:spcAft>
                <a:spcPts val="0"/>
              </a:spcAft>
              <a:buClr>
                <a:schemeClr val="dk1"/>
              </a:buClr>
              <a:buSzPts val="1000"/>
              <a:buChar char="●"/>
            </a:pPr>
            <a:r>
              <a:rPr lang="en" sz="1000" u="none">
                <a:solidFill>
                  <a:schemeClr val="dk1"/>
                </a:solidFill>
                <a:latin typeface="Arial"/>
                <a:ea typeface="Arial"/>
                <a:cs typeface="Arial"/>
                <a:sym typeface="Arial"/>
              </a:rPr>
              <a:t>Designed for easy integration with Node.js backend</a:t>
            </a:r>
            <a:endParaRPr sz="1100"/>
          </a:p>
        </p:txBody>
      </p:sp>
      <p:sp>
        <p:nvSpPr>
          <p:cNvPr id="188" name="Google Shape;188;p29"/>
          <p:cNvSpPr txBox="1"/>
          <p:nvPr>
            <p:ph type="title"/>
          </p:nvPr>
        </p:nvSpPr>
        <p:spPr>
          <a:xfrm>
            <a:off x="2110150" y="-369175"/>
            <a:ext cx="5676300" cy="738000"/>
          </a:xfrm>
          <a:prstGeom prst="rect">
            <a:avLst/>
          </a:prstGeom>
          <a:noFill/>
          <a:ln>
            <a:noFill/>
          </a:ln>
        </p:spPr>
        <p:txBody>
          <a:bodyPr anchorCtr="0" anchor="t" bIns="0" lIns="0" spcFirstLastPara="1" rIns="0" wrap="square" tIns="380175">
            <a:spAutoFit/>
          </a:bodyPr>
          <a:lstStyle/>
          <a:p>
            <a:pPr indent="0" lvl="0" marL="0" rtl="0" algn="ctr">
              <a:lnSpc>
                <a:spcPct val="115000"/>
              </a:lnSpc>
              <a:spcBef>
                <a:spcPts val="2400"/>
              </a:spcBef>
              <a:spcAft>
                <a:spcPts val="600"/>
              </a:spcAft>
              <a:buSzPts val="1100"/>
              <a:buNone/>
            </a:pPr>
            <a:r>
              <a:rPr b="1" lang="en" sz="2300">
                <a:solidFill>
                  <a:srgbClr val="CC2B4B"/>
                </a:solidFill>
                <a:latin typeface="Arial"/>
                <a:ea typeface="Arial"/>
                <a:cs typeface="Arial"/>
                <a:sym typeface="Arial"/>
              </a:rPr>
              <a:t>System Design and Technologies Used</a:t>
            </a:r>
            <a:endParaRPr>
              <a:solidFill>
                <a:srgbClr val="CC2B4B"/>
              </a:solidFill>
            </a:endParaRPr>
          </a:p>
        </p:txBody>
      </p:sp>
      <p:sp>
        <p:nvSpPr>
          <p:cNvPr id="189" name="Google Shape;189;p29"/>
          <p:cNvSpPr txBox="1"/>
          <p:nvPr>
            <p:ph idx="2" type="body"/>
          </p:nvPr>
        </p:nvSpPr>
        <p:spPr>
          <a:xfrm>
            <a:off x="4626425" y="1154126"/>
            <a:ext cx="4040700" cy="3128100"/>
          </a:xfrm>
          <a:prstGeom prst="rect">
            <a:avLst/>
          </a:prstGeom>
          <a:noFill/>
          <a:ln>
            <a:noFill/>
          </a:ln>
        </p:spPr>
        <p:txBody>
          <a:bodyPr anchorCtr="0" anchor="t" bIns="0" lIns="0" spcFirstLastPara="1" rIns="0" wrap="square" tIns="6350">
            <a:spAutoFit/>
          </a:bodyPr>
          <a:lstStyle/>
          <a:p>
            <a:pPr indent="0" lvl="0" marL="0" rtl="0" algn="l">
              <a:lnSpc>
                <a:spcPct val="115000"/>
              </a:lnSpc>
              <a:spcBef>
                <a:spcPts val="1200"/>
              </a:spcBef>
              <a:spcAft>
                <a:spcPts val="0"/>
              </a:spcAft>
              <a:buClr>
                <a:schemeClr val="dk1"/>
              </a:buClr>
              <a:buSzPts val="1100"/>
              <a:buFont typeface="Arial"/>
              <a:buNone/>
            </a:pPr>
            <a:r>
              <a:rPr lang="en" sz="1100">
                <a:latin typeface="Arial"/>
                <a:ea typeface="Arial"/>
                <a:cs typeface="Arial"/>
                <a:sym typeface="Arial"/>
              </a:rPr>
              <a:t>Key Functional Features</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 sz="1100">
                <a:latin typeface="Arial"/>
                <a:ea typeface="Arial"/>
                <a:cs typeface="Arial"/>
                <a:sym typeface="Arial"/>
              </a:rPr>
              <a:t>Sales–Inventory Integration:</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latin typeface="Arial"/>
                <a:ea typeface="Arial"/>
                <a:cs typeface="Arial"/>
                <a:sym typeface="Arial"/>
              </a:rPr>
              <a:t>Sales automatically reduce product stock</a:t>
            </a:r>
            <a:endParaRPr sz="1100">
              <a:solidFill>
                <a:schemeClr val="dk1"/>
              </a:solidFill>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 sz="1100">
                <a:latin typeface="Arial"/>
                <a:ea typeface="Arial"/>
                <a:cs typeface="Arial"/>
                <a:sym typeface="Arial"/>
              </a:rPr>
              <a:t>Dynamic Calculations: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latin typeface="Arial"/>
                <a:ea typeface="Arial"/>
                <a:cs typeface="Arial"/>
                <a:sym typeface="Arial"/>
              </a:rPr>
              <a:t>Auto computes total and final amount</a:t>
            </a:r>
            <a:endParaRPr sz="1100">
              <a:solidFill>
                <a:schemeClr val="dk1"/>
              </a:solidFill>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 sz="1100">
                <a:latin typeface="Arial"/>
                <a:ea typeface="Arial"/>
                <a:cs typeface="Arial"/>
                <a:sym typeface="Arial"/>
              </a:rPr>
              <a:t>Validation Handling:</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latin typeface="Arial"/>
                <a:ea typeface="Arial"/>
                <a:cs typeface="Arial"/>
                <a:sym typeface="Arial"/>
              </a:rPr>
              <a:t>Prevents invalid sales (e.g., insufficient stock)</a:t>
            </a:r>
            <a:endParaRPr sz="11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b="0"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 sz="1100">
                <a:latin typeface="Arial"/>
                <a:ea typeface="Arial"/>
                <a:cs typeface="Arial"/>
                <a:sym typeface="Arial"/>
              </a:rPr>
              <a:t>Project Advantages</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0" lang="en" sz="1100">
                <a:latin typeface="Arial"/>
                <a:ea typeface="Arial"/>
                <a:cs typeface="Arial"/>
                <a:sym typeface="Arial"/>
              </a:rPr>
              <a:t>Real-time business operation tracking</a:t>
            </a:r>
            <a:endParaRPr b="0"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0" lang="en" sz="1100">
                <a:latin typeface="Arial"/>
                <a:ea typeface="Arial"/>
                <a:cs typeface="Arial"/>
                <a:sym typeface="Arial"/>
              </a:rPr>
              <a:t>Simple and user-friendly interface</a:t>
            </a:r>
            <a:endParaRPr b="0"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0" lang="en" sz="1100">
                <a:latin typeface="Arial"/>
                <a:ea typeface="Arial"/>
                <a:cs typeface="Arial"/>
                <a:sym typeface="Arial"/>
              </a:rPr>
              <a:t>Designed for real-world deployment in a pharma distribution business</a:t>
            </a:r>
            <a:endParaRPr/>
          </a:p>
        </p:txBody>
      </p:sp>
      <p:sp>
        <p:nvSpPr>
          <p:cNvPr id="190" name="Google Shape;190;p29"/>
          <p:cNvSpPr txBox="1"/>
          <p:nvPr>
            <p:ph idx="11" type="ftr"/>
          </p:nvPr>
        </p:nvSpPr>
        <p:spPr>
          <a:xfrm>
            <a:off x="3621218" y="4871159"/>
            <a:ext cx="2010410" cy="153988"/>
          </a:xfrm>
          <a:prstGeom prst="rect">
            <a:avLst/>
          </a:prstGeom>
          <a:noFill/>
          <a:ln>
            <a:noFill/>
          </a:ln>
        </p:spPr>
        <p:txBody>
          <a:bodyPr anchorCtr="0" anchor="t" bIns="0" lIns="0" spcFirstLastPara="1" rIns="0" wrap="square" tIns="0">
            <a:spAutoFit/>
          </a:bodyPr>
          <a:lstStyle/>
          <a:p>
            <a:pPr indent="0" lvl="0" marL="12700" rtl="0" algn="l">
              <a:lnSpc>
                <a:spcPct val="122222"/>
              </a:lnSpc>
              <a:spcBef>
                <a:spcPts val="0"/>
              </a:spcBef>
              <a:spcAft>
                <a:spcPts val="0"/>
              </a:spcAft>
              <a:buNone/>
            </a:pPr>
            <a:r>
              <a:rPr lang="en"/>
              <a:t>Department of Computer Engineering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0"/>
          <p:cNvSpPr txBox="1"/>
          <p:nvPr>
            <p:ph type="title"/>
          </p:nvPr>
        </p:nvSpPr>
        <p:spPr>
          <a:xfrm>
            <a:off x="2110156" y="-77105"/>
            <a:ext cx="5347315" cy="851988"/>
          </a:xfrm>
          <a:prstGeom prst="rect">
            <a:avLst/>
          </a:prstGeom>
          <a:noFill/>
          <a:ln>
            <a:noFill/>
          </a:ln>
        </p:spPr>
        <p:txBody>
          <a:bodyPr anchorCtr="0" anchor="t" bIns="0" lIns="0" spcFirstLastPara="1" rIns="0" wrap="square" tIns="265150">
            <a:spAutoFit/>
          </a:bodyPr>
          <a:lstStyle/>
          <a:p>
            <a:pPr indent="0" lvl="0" marL="1257300" rtl="0" algn="l">
              <a:lnSpc>
                <a:spcPct val="100000"/>
              </a:lnSpc>
              <a:spcBef>
                <a:spcPts val="0"/>
              </a:spcBef>
              <a:spcAft>
                <a:spcPts val="0"/>
              </a:spcAft>
              <a:buNone/>
            </a:pPr>
            <a:r>
              <a:rPr lang="en" sz="2000">
                <a:latin typeface="Trebuchet MS"/>
                <a:ea typeface="Trebuchet MS"/>
                <a:cs typeface="Trebuchet MS"/>
                <a:sym typeface="Trebuchet MS"/>
              </a:rPr>
              <a:t>Architecture Diagram</a:t>
            </a:r>
            <a:endParaRPr sz="2000">
              <a:latin typeface="Trebuchet MS"/>
              <a:ea typeface="Trebuchet MS"/>
              <a:cs typeface="Trebuchet MS"/>
              <a:sym typeface="Trebuchet MS"/>
            </a:endParaRPr>
          </a:p>
        </p:txBody>
      </p:sp>
      <p:sp>
        <p:nvSpPr>
          <p:cNvPr id="196" name="Google Shape;196;p30"/>
          <p:cNvSpPr txBox="1"/>
          <p:nvPr>
            <p:ph idx="11" type="ftr"/>
          </p:nvPr>
        </p:nvSpPr>
        <p:spPr>
          <a:xfrm>
            <a:off x="3621218" y="4871159"/>
            <a:ext cx="2010410" cy="153988"/>
          </a:xfrm>
          <a:prstGeom prst="rect">
            <a:avLst/>
          </a:prstGeom>
          <a:noFill/>
          <a:ln>
            <a:noFill/>
          </a:ln>
        </p:spPr>
        <p:txBody>
          <a:bodyPr anchorCtr="0" anchor="t" bIns="0" lIns="0" spcFirstLastPara="1" rIns="0" wrap="square" tIns="0">
            <a:spAutoFit/>
          </a:bodyPr>
          <a:lstStyle/>
          <a:p>
            <a:pPr indent="0" lvl="0" marL="12700" rtl="0" algn="l">
              <a:lnSpc>
                <a:spcPct val="122222"/>
              </a:lnSpc>
              <a:spcBef>
                <a:spcPts val="0"/>
              </a:spcBef>
              <a:spcAft>
                <a:spcPts val="0"/>
              </a:spcAft>
              <a:buNone/>
            </a:pPr>
            <a:r>
              <a:rPr lang="en"/>
              <a:t>Department of Computer Engineering</a:t>
            </a:r>
            <a:endParaRPr/>
          </a:p>
        </p:txBody>
      </p:sp>
      <p:pic>
        <p:nvPicPr>
          <p:cNvPr id="197" name="Google Shape;197;p30" title="Untitled Diagram.drawio (4).png"/>
          <p:cNvPicPr preferRelativeResize="0"/>
          <p:nvPr/>
        </p:nvPicPr>
        <p:blipFill>
          <a:blip r:embed="rId3">
            <a:alphaModFix/>
          </a:blip>
          <a:stretch>
            <a:fillRect/>
          </a:stretch>
        </p:blipFill>
        <p:spPr>
          <a:xfrm>
            <a:off x="0" y="1297261"/>
            <a:ext cx="9143998" cy="283933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1"/>
          <p:cNvSpPr txBox="1"/>
          <p:nvPr>
            <p:ph type="title"/>
          </p:nvPr>
        </p:nvSpPr>
        <p:spPr>
          <a:xfrm>
            <a:off x="1055849" y="2208300"/>
            <a:ext cx="2482500" cy="622200"/>
          </a:xfrm>
          <a:prstGeom prst="rect">
            <a:avLst/>
          </a:prstGeom>
          <a:noFill/>
          <a:ln>
            <a:noFill/>
          </a:ln>
        </p:spPr>
        <p:txBody>
          <a:bodyPr anchorCtr="0" anchor="t" bIns="0" lIns="0" spcFirstLastPara="1" rIns="0" wrap="square" tIns="6350">
            <a:spAutoFit/>
          </a:bodyPr>
          <a:lstStyle/>
          <a:p>
            <a:pPr indent="0" lvl="0" marL="12700" rtl="0" algn="l">
              <a:lnSpc>
                <a:spcPct val="100000"/>
              </a:lnSpc>
              <a:spcBef>
                <a:spcPts val="0"/>
              </a:spcBef>
              <a:spcAft>
                <a:spcPts val="0"/>
              </a:spcAft>
              <a:buNone/>
            </a:pPr>
            <a:r>
              <a:rPr lang="en" sz="2000">
                <a:latin typeface="Trebuchet MS"/>
                <a:ea typeface="Trebuchet MS"/>
                <a:cs typeface="Trebuchet MS"/>
                <a:sym typeface="Trebuchet MS"/>
              </a:rPr>
              <a:t>Flowchart Diagram</a:t>
            </a:r>
            <a:br>
              <a:rPr lang="en" sz="2000">
                <a:latin typeface="Trebuchet MS"/>
                <a:ea typeface="Trebuchet MS"/>
                <a:cs typeface="Trebuchet MS"/>
                <a:sym typeface="Trebuchet MS"/>
              </a:rPr>
            </a:br>
            <a:r>
              <a:rPr lang="en" sz="2000">
                <a:latin typeface="Trebuchet MS"/>
                <a:ea typeface="Trebuchet MS"/>
                <a:cs typeface="Trebuchet MS"/>
                <a:sym typeface="Trebuchet MS"/>
              </a:rPr>
              <a:t>For IBOP</a:t>
            </a:r>
            <a:endParaRPr sz="2000">
              <a:latin typeface="Trebuchet MS"/>
              <a:ea typeface="Trebuchet MS"/>
              <a:cs typeface="Trebuchet MS"/>
              <a:sym typeface="Trebuchet MS"/>
            </a:endParaRPr>
          </a:p>
        </p:txBody>
      </p:sp>
      <p:sp>
        <p:nvSpPr>
          <p:cNvPr id="203" name="Google Shape;203;p31"/>
          <p:cNvSpPr txBox="1"/>
          <p:nvPr>
            <p:ph idx="11" type="ftr"/>
          </p:nvPr>
        </p:nvSpPr>
        <p:spPr>
          <a:xfrm>
            <a:off x="3621218" y="4871159"/>
            <a:ext cx="2010410" cy="153988"/>
          </a:xfrm>
          <a:prstGeom prst="rect">
            <a:avLst/>
          </a:prstGeom>
          <a:noFill/>
          <a:ln>
            <a:noFill/>
          </a:ln>
        </p:spPr>
        <p:txBody>
          <a:bodyPr anchorCtr="0" anchor="t" bIns="0" lIns="0" spcFirstLastPara="1" rIns="0" wrap="square" tIns="0">
            <a:spAutoFit/>
          </a:bodyPr>
          <a:lstStyle/>
          <a:p>
            <a:pPr indent="0" lvl="0" marL="12700" rtl="0" algn="l">
              <a:lnSpc>
                <a:spcPct val="122222"/>
              </a:lnSpc>
              <a:spcBef>
                <a:spcPts val="0"/>
              </a:spcBef>
              <a:spcAft>
                <a:spcPts val="0"/>
              </a:spcAft>
              <a:buNone/>
            </a:pPr>
            <a:r>
              <a:rPr lang="en"/>
              <a:t>Department of Computer Engineering</a:t>
            </a:r>
            <a:endParaRPr/>
          </a:p>
        </p:txBody>
      </p:sp>
      <p:pic>
        <p:nvPicPr>
          <p:cNvPr id="204" name="Google Shape;204;p31" title="Untitled Diagram.drawio (5).png"/>
          <p:cNvPicPr preferRelativeResize="0"/>
          <p:nvPr/>
        </p:nvPicPr>
        <p:blipFill>
          <a:blip r:embed="rId3">
            <a:alphaModFix/>
          </a:blip>
          <a:stretch>
            <a:fillRect/>
          </a:stretch>
        </p:blipFill>
        <p:spPr>
          <a:xfrm>
            <a:off x="4105874" y="0"/>
            <a:ext cx="5038125" cy="5186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2"/>
          <p:cNvSpPr txBox="1"/>
          <p:nvPr>
            <p:ph type="title"/>
          </p:nvPr>
        </p:nvSpPr>
        <p:spPr>
          <a:xfrm>
            <a:off x="2110156" y="-77105"/>
            <a:ext cx="5347200" cy="817800"/>
          </a:xfrm>
          <a:prstGeom prst="rect">
            <a:avLst/>
          </a:prstGeom>
          <a:noFill/>
          <a:ln>
            <a:noFill/>
          </a:ln>
        </p:spPr>
        <p:txBody>
          <a:bodyPr anchorCtr="0" anchor="t" bIns="0" lIns="0" spcFirstLastPara="1" rIns="0" wrap="square" tIns="337225">
            <a:spAutoFit/>
          </a:bodyPr>
          <a:lstStyle/>
          <a:p>
            <a:pPr indent="0" lvl="0" marL="12700" rtl="0" algn="ctr">
              <a:spcBef>
                <a:spcPts val="0"/>
              </a:spcBef>
              <a:spcAft>
                <a:spcPts val="0"/>
              </a:spcAft>
              <a:buClr>
                <a:schemeClr val="dk1"/>
              </a:buClr>
              <a:buFont typeface="Arial"/>
              <a:buNone/>
            </a:pPr>
            <a:r>
              <a:rPr lang="en"/>
              <a:t>Implementation</a:t>
            </a:r>
            <a:endParaRPr/>
          </a:p>
        </p:txBody>
      </p:sp>
      <p:sp>
        <p:nvSpPr>
          <p:cNvPr id="210" name="Google Shape;210;p32"/>
          <p:cNvSpPr txBox="1"/>
          <p:nvPr>
            <p:ph idx="11" type="ftr"/>
          </p:nvPr>
        </p:nvSpPr>
        <p:spPr>
          <a:xfrm>
            <a:off x="3621218" y="4871159"/>
            <a:ext cx="2010300" cy="138600"/>
          </a:xfrm>
          <a:prstGeom prst="rect">
            <a:avLst/>
          </a:prstGeom>
          <a:noFill/>
          <a:ln>
            <a:noFill/>
          </a:ln>
        </p:spPr>
        <p:txBody>
          <a:bodyPr anchorCtr="0" anchor="t" bIns="0" lIns="0" spcFirstLastPara="1" rIns="0" wrap="square" tIns="0">
            <a:spAutoFit/>
          </a:bodyPr>
          <a:lstStyle/>
          <a:p>
            <a:pPr indent="0" lvl="0" marL="12700" rtl="0" algn="l">
              <a:lnSpc>
                <a:spcPct val="122222"/>
              </a:lnSpc>
              <a:spcBef>
                <a:spcPts val="0"/>
              </a:spcBef>
              <a:spcAft>
                <a:spcPts val="0"/>
              </a:spcAft>
              <a:buNone/>
            </a:pPr>
            <a:r>
              <a:rPr lang="en"/>
              <a:t>Department of Computer Engineering</a:t>
            </a:r>
            <a:endParaRPr/>
          </a:p>
        </p:txBody>
      </p:sp>
      <p:sp>
        <p:nvSpPr>
          <p:cNvPr id="211" name="Google Shape;211;p32"/>
          <p:cNvSpPr txBox="1"/>
          <p:nvPr/>
        </p:nvSpPr>
        <p:spPr>
          <a:xfrm>
            <a:off x="691100" y="764725"/>
            <a:ext cx="2431800" cy="27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CC2B4B"/>
                </a:solidFill>
                <a:latin typeface="Tahoma"/>
                <a:ea typeface="Tahoma"/>
                <a:cs typeface="Tahoma"/>
                <a:sym typeface="Tahoma"/>
              </a:rPr>
              <a:t>Modular </a:t>
            </a:r>
            <a:r>
              <a:rPr lang="en" sz="1300">
                <a:solidFill>
                  <a:srgbClr val="CC2B4B"/>
                </a:solidFill>
                <a:latin typeface="Tahoma"/>
                <a:ea typeface="Tahoma"/>
                <a:cs typeface="Tahoma"/>
                <a:sym typeface="Tahoma"/>
              </a:rPr>
              <a:t>Dashboard</a:t>
            </a:r>
            <a:endParaRPr sz="1300">
              <a:solidFill>
                <a:srgbClr val="CC2B4B"/>
              </a:solidFill>
              <a:latin typeface="Tahoma"/>
              <a:ea typeface="Tahoma"/>
              <a:cs typeface="Tahoma"/>
              <a:sym typeface="Tahoma"/>
            </a:endParaRPr>
          </a:p>
        </p:txBody>
      </p:sp>
      <p:pic>
        <p:nvPicPr>
          <p:cNvPr id="212" name="Google Shape;212;p32"/>
          <p:cNvPicPr preferRelativeResize="0"/>
          <p:nvPr/>
        </p:nvPicPr>
        <p:blipFill>
          <a:blip r:embed="rId3">
            <a:alphaModFix/>
          </a:blip>
          <a:stretch>
            <a:fillRect/>
          </a:stretch>
        </p:blipFill>
        <p:spPr>
          <a:xfrm>
            <a:off x="152400" y="1062350"/>
            <a:ext cx="3704251" cy="1641125"/>
          </a:xfrm>
          <a:prstGeom prst="rect">
            <a:avLst/>
          </a:prstGeom>
          <a:noFill/>
          <a:ln>
            <a:noFill/>
          </a:ln>
        </p:spPr>
      </p:pic>
      <p:pic>
        <p:nvPicPr>
          <p:cNvPr id="213" name="Google Shape;213;p32"/>
          <p:cNvPicPr preferRelativeResize="0"/>
          <p:nvPr/>
        </p:nvPicPr>
        <p:blipFill>
          <a:blip r:embed="rId4">
            <a:alphaModFix/>
          </a:blip>
          <a:stretch>
            <a:fillRect/>
          </a:stretch>
        </p:blipFill>
        <p:spPr>
          <a:xfrm>
            <a:off x="3958400" y="1010150"/>
            <a:ext cx="3704250" cy="1693325"/>
          </a:xfrm>
          <a:prstGeom prst="rect">
            <a:avLst/>
          </a:prstGeom>
          <a:noFill/>
          <a:ln>
            <a:noFill/>
          </a:ln>
        </p:spPr>
      </p:pic>
      <p:sp>
        <p:nvSpPr>
          <p:cNvPr id="214" name="Google Shape;214;p32"/>
          <p:cNvSpPr txBox="1"/>
          <p:nvPr/>
        </p:nvSpPr>
        <p:spPr>
          <a:xfrm>
            <a:off x="4967600" y="736550"/>
            <a:ext cx="2431800" cy="27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CC2B4B"/>
                </a:solidFill>
                <a:latin typeface="Tahoma"/>
                <a:ea typeface="Tahoma"/>
                <a:cs typeface="Tahoma"/>
                <a:sym typeface="Tahoma"/>
              </a:rPr>
              <a:t>Inventory</a:t>
            </a:r>
            <a:endParaRPr sz="1300">
              <a:solidFill>
                <a:srgbClr val="CC2B4B"/>
              </a:solidFill>
              <a:latin typeface="Tahoma"/>
              <a:ea typeface="Tahoma"/>
              <a:cs typeface="Tahoma"/>
              <a:sym typeface="Tahoma"/>
            </a:endParaRPr>
          </a:p>
        </p:txBody>
      </p:sp>
      <p:pic>
        <p:nvPicPr>
          <p:cNvPr id="215" name="Google Shape;215;p32"/>
          <p:cNvPicPr preferRelativeResize="0"/>
          <p:nvPr/>
        </p:nvPicPr>
        <p:blipFill>
          <a:blip r:embed="rId5">
            <a:alphaModFix/>
          </a:blip>
          <a:stretch>
            <a:fillRect/>
          </a:stretch>
        </p:blipFill>
        <p:spPr>
          <a:xfrm>
            <a:off x="103975" y="3025125"/>
            <a:ext cx="3801076" cy="1874176"/>
          </a:xfrm>
          <a:prstGeom prst="rect">
            <a:avLst/>
          </a:prstGeom>
          <a:noFill/>
          <a:ln>
            <a:noFill/>
          </a:ln>
        </p:spPr>
      </p:pic>
      <p:pic>
        <p:nvPicPr>
          <p:cNvPr id="216" name="Google Shape;216;p32"/>
          <p:cNvPicPr preferRelativeResize="0"/>
          <p:nvPr/>
        </p:nvPicPr>
        <p:blipFill>
          <a:blip r:embed="rId6">
            <a:alphaModFix/>
          </a:blip>
          <a:stretch>
            <a:fillRect/>
          </a:stretch>
        </p:blipFill>
        <p:spPr>
          <a:xfrm>
            <a:off x="3996048" y="3347850"/>
            <a:ext cx="3628951" cy="1142100"/>
          </a:xfrm>
          <a:prstGeom prst="rect">
            <a:avLst/>
          </a:prstGeom>
          <a:noFill/>
          <a:ln>
            <a:noFill/>
          </a:ln>
        </p:spPr>
      </p:pic>
      <p:sp>
        <p:nvSpPr>
          <p:cNvPr id="217" name="Google Shape;217;p32"/>
          <p:cNvSpPr txBox="1"/>
          <p:nvPr/>
        </p:nvSpPr>
        <p:spPr>
          <a:xfrm>
            <a:off x="742175" y="2727500"/>
            <a:ext cx="2431800" cy="27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CC2B4B"/>
                </a:solidFill>
                <a:latin typeface="Tahoma"/>
                <a:ea typeface="Tahoma"/>
                <a:cs typeface="Tahoma"/>
                <a:sym typeface="Tahoma"/>
              </a:rPr>
              <a:t>Create a sale</a:t>
            </a:r>
            <a:endParaRPr sz="1300">
              <a:solidFill>
                <a:srgbClr val="CC2B4B"/>
              </a:solidFill>
              <a:latin typeface="Tahoma"/>
              <a:ea typeface="Tahoma"/>
              <a:cs typeface="Tahoma"/>
              <a:sym typeface="Tahoma"/>
            </a:endParaRPr>
          </a:p>
        </p:txBody>
      </p:sp>
      <p:sp>
        <p:nvSpPr>
          <p:cNvPr id="218" name="Google Shape;218;p32"/>
          <p:cNvSpPr txBox="1"/>
          <p:nvPr/>
        </p:nvSpPr>
        <p:spPr>
          <a:xfrm>
            <a:off x="4572000" y="3025125"/>
            <a:ext cx="2431800" cy="27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CC2B4B"/>
                </a:solidFill>
                <a:latin typeface="Tahoma"/>
                <a:ea typeface="Tahoma"/>
                <a:cs typeface="Tahoma"/>
                <a:sym typeface="Tahoma"/>
              </a:rPr>
              <a:t>Sales records</a:t>
            </a:r>
            <a:endParaRPr sz="1300">
              <a:solidFill>
                <a:srgbClr val="CC2B4B"/>
              </a:solidFill>
              <a:latin typeface="Tahoma"/>
              <a:ea typeface="Tahoma"/>
              <a:cs typeface="Tahoma"/>
              <a:sym typeface="Tahom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3"/>
          <p:cNvSpPr txBox="1"/>
          <p:nvPr>
            <p:ph type="title"/>
          </p:nvPr>
        </p:nvSpPr>
        <p:spPr>
          <a:xfrm>
            <a:off x="2110156" y="-77105"/>
            <a:ext cx="5347315" cy="851988"/>
          </a:xfrm>
          <a:prstGeom prst="rect">
            <a:avLst/>
          </a:prstGeom>
          <a:noFill/>
          <a:ln>
            <a:noFill/>
          </a:ln>
        </p:spPr>
        <p:txBody>
          <a:bodyPr anchorCtr="0" anchor="t" bIns="0" lIns="0" spcFirstLastPara="1" rIns="0" wrap="square" tIns="337225">
            <a:spAutoFit/>
          </a:bodyPr>
          <a:lstStyle/>
          <a:p>
            <a:pPr indent="0" lvl="0" marL="1511300" rtl="0" algn="l">
              <a:lnSpc>
                <a:spcPct val="100000"/>
              </a:lnSpc>
              <a:spcBef>
                <a:spcPts val="0"/>
              </a:spcBef>
              <a:spcAft>
                <a:spcPts val="0"/>
              </a:spcAft>
              <a:buNone/>
            </a:pPr>
            <a:r>
              <a:rPr lang="en"/>
              <a:t>Conclusion</a:t>
            </a:r>
            <a:endParaRPr/>
          </a:p>
        </p:txBody>
      </p:sp>
      <p:sp>
        <p:nvSpPr>
          <p:cNvPr id="224" name="Google Shape;224;p33"/>
          <p:cNvSpPr txBox="1"/>
          <p:nvPr/>
        </p:nvSpPr>
        <p:spPr>
          <a:xfrm>
            <a:off x="959205" y="1403302"/>
            <a:ext cx="7676700" cy="296100"/>
          </a:xfrm>
          <a:prstGeom prst="rect">
            <a:avLst/>
          </a:prstGeom>
          <a:noFill/>
          <a:ln>
            <a:noFill/>
          </a:ln>
        </p:spPr>
        <p:txBody>
          <a:bodyPr anchorCtr="0" anchor="t" bIns="0" lIns="0" spcFirstLastPara="1" rIns="0" wrap="square" tIns="18725">
            <a:spAutoFit/>
          </a:bodyPr>
          <a:lstStyle/>
          <a:p>
            <a:pPr indent="0" lvl="0" marL="12700" marR="0" rtl="0" algn="l">
              <a:lnSpc>
                <a:spcPct val="119178"/>
              </a:lnSpc>
              <a:spcBef>
                <a:spcPts val="0"/>
              </a:spcBef>
              <a:spcAft>
                <a:spcPts val="0"/>
              </a:spcAft>
              <a:buNone/>
            </a:pPr>
            <a:r>
              <a:t/>
            </a:r>
            <a:endParaRPr sz="1800">
              <a:latin typeface="Trebuchet MS"/>
              <a:ea typeface="Trebuchet MS"/>
              <a:cs typeface="Trebuchet MS"/>
              <a:sym typeface="Trebuchet MS"/>
            </a:endParaRPr>
          </a:p>
        </p:txBody>
      </p:sp>
      <p:sp>
        <p:nvSpPr>
          <p:cNvPr id="225" name="Google Shape;225;p33"/>
          <p:cNvSpPr txBox="1"/>
          <p:nvPr>
            <p:ph idx="11" type="ftr"/>
          </p:nvPr>
        </p:nvSpPr>
        <p:spPr>
          <a:xfrm>
            <a:off x="3621218" y="4871159"/>
            <a:ext cx="2010410" cy="153988"/>
          </a:xfrm>
          <a:prstGeom prst="rect">
            <a:avLst/>
          </a:prstGeom>
          <a:noFill/>
          <a:ln>
            <a:noFill/>
          </a:ln>
        </p:spPr>
        <p:txBody>
          <a:bodyPr anchorCtr="0" anchor="t" bIns="0" lIns="0" spcFirstLastPara="1" rIns="0" wrap="square" tIns="0">
            <a:spAutoFit/>
          </a:bodyPr>
          <a:lstStyle/>
          <a:p>
            <a:pPr indent="0" lvl="0" marL="12700" rtl="0" algn="l">
              <a:lnSpc>
                <a:spcPct val="122222"/>
              </a:lnSpc>
              <a:spcBef>
                <a:spcPts val="0"/>
              </a:spcBef>
              <a:spcAft>
                <a:spcPts val="0"/>
              </a:spcAft>
              <a:buNone/>
            </a:pPr>
            <a:r>
              <a:rPr lang="en"/>
              <a:t>Department of Computer Engineering</a:t>
            </a:r>
            <a:endParaRPr/>
          </a:p>
        </p:txBody>
      </p:sp>
      <p:sp>
        <p:nvSpPr>
          <p:cNvPr id="226" name="Google Shape;226;p33"/>
          <p:cNvSpPr txBox="1"/>
          <p:nvPr/>
        </p:nvSpPr>
        <p:spPr>
          <a:xfrm>
            <a:off x="524125" y="1059150"/>
            <a:ext cx="7992600" cy="337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Tahoma"/>
                <a:ea typeface="Tahoma"/>
                <a:cs typeface="Tahoma"/>
                <a:sym typeface="Tahoma"/>
              </a:rPr>
              <a:t>Developed a functional prototype of an Integrated Business Operations Platform (IBOP) that consolidates key business processes such as sales and inventory into a single system. The platform implements a modular ERP-like structure, allowing different components to interact seamlessly while maintaining a clean and scalable architecture.</a:t>
            </a:r>
            <a:endParaRPr sz="1500">
              <a:solidFill>
                <a:schemeClr val="dk1"/>
              </a:solidFill>
              <a:latin typeface="Tahoma"/>
              <a:ea typeface="Tahoma"/>
              <a:cs typeface="Tahoma"/>
              <a:sym typeface="Tahoma"/>
            </a:endParaRPr>
          </a:p>
          <a:p>
            <a:pPr indent="0" lvl="0" marL="0" rtl="0" algn="l">
              <a:lnSpc>
                <a:spcPct val="115000"/>
              </a:lnSpc>
              <a:spcBef>
                <a:spcPts val="1200"/>
              </a:spcBef>
              <a:spcAft>
                <a:spcPts val="0"/>
              </a:spcAft>
              <a:buClr>
                <a:schemeClr val="dk1"/>
              </a:buClr>
              <a:buSzPts val="1100"/>
              <a:buFont typeface="Arial"/>
              <a:buNone/>
            </a:pPr>
            <a:r>
              <a:rPr lang="en" sz="1500">
                <a:solidFill>
                  <a:schemeClr val="dk1"/>
                </a:solidFill>
                <a:latin typeface="Tahoma"/>
                <a:ea typeface="Tahoma"/>
                <a:cs typeface="Tahoma"/>
                <a:sym typeface="Tahoma"/>
              </a:rPr>
              <a:t>I developed core functionalities including product management, sales creation, automatic stock updates, and real-time calculations for transactions. The system ensures data consistency by linking sales directly with inventory, reducing manual intervention and minimizing errors.</a:t>
            </a:r>
            <a:endParaRPr sz="1500">
              <a:solidFill>
                <a:schemeClr val="dk1"/>
              </a:solidFill>
              <a:latin typeface="Tahoma"/>
              <a:ea typeface="Tahoma"/>
              <a:cs typeface="Tahoma"/>
              <a:sym typeface="Tahoma"/>
            </a:endParaRPr>
          </a:p>
          <a:p>
            <a:pPr indent="0" lvl="0" marL="0" rtl="0" algn="l">
              <a:lnSpc>
                <a:spcPct val="115000"/>
              </a:lnSpc>
              <a:spcBef>
                <a:spcPts val="1200"/>
              </a:spcBef>
              <a:spcAft>
                <a:spcPts val="0"/>
              </a:spcAft>
              <a:buClr>
                <a:schemeClr val="dk1"/>
              </a:buClr>
              <a:buSzPts val="1100"/>
              <a:buFont typeface="Arial"/>
              <a:buNone/>
            </a:pPr>
            <a:r>
              <a:rPr lang="en" sz="1500">
                <a:solidFill>
                  <a:schemeClr val="dk1"/>
                </a:solidFill>
                <a:latin typeface="Tahoma"/>
                <a:ea typeface="Tahoma"/>
                <a:cs typeface="Tahoma"/>
                <a:sym typeface="Tahoma"/>
              </a:rPr>
              <a:t>The application was built using modern frontend technologies with a focus on simplicity, usability, and real-world applicability. Features such as centralized state management, role-based workflow design, and a modular dashboard demonstrate how business operations can be digitized effectively.</a:t>
            </a:r>
            <a:endParaRPr sz="1500">
              <a:solidFill>
                <a:schemeClr val="dk1"/>
              </a:solidFill>
              <a:latin typeface="Tahoma"/>
              <a:ea typeface="Tahoma"/>
              <a:cs typeface="Tahoma"/>
              <a:sym typeface="Tahoma"/>
            </a:endParaRPr>
          </a:p>
          <a:p>
            <a:pPr indent="0" lvl="0" marL="0" rtl="0" algn="l">
              <a:spcBef>
                <a:spcPts val="1200"/>
              </a:spcBef>
              <a:spcAft>
                <a:spcPts val="0"/>
              </a:spcAft>
              <a:buNone/>
            </a:pPr>
            <a:r>
              <a:t/>
            </a:r>
            <a:endParaRPr sz="1500">
              <a:solidFill>
                <a:schemeClr val="dk1"/>
              </a:solidFill>
              <a:latin typeface="Tahoma"/>
              <a:ea typeface="Tahoma"/>
              <a:cs typeface="Tahoma"/>
              <a:sym typeface="Tahom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4"/>
          <p:cNvSpPr txBox="1"/>
          <p:nvPr>
            <p:ph type="title"/>
          </p:nvPr>
        </p:nvSpPr>
        <p:spPr>
          <a:xfrm>
            <a:off x="2110156" y="-77105"/>
            <a:ext cx="5347315" cy="851988"/>
          </a:xfrm>
          <a:prstGeom prst="rect">
            <a:avLst/>
          </a:prstGeom>
          <a:noFill/>
          <a:ln>
            <a:noFill/>
          </a:ln>
        </p:spPr>
        <p:txBody>
          <a:bodyPr anchorCtr="0" anchor="t" bIns="0" lIns="0" spcFirstLastPara="1" rIns="0" wrap="square" tIns="380175">
            <a:spAutoFit/>
          </a:bodyPr>
          <a:lstStyle/>
          <a:p>
            <a:pPr indent="0" lvl="0" marL="1511300" rtl="0" algn="l">
              <a:lnSpc>
                <a:spcPct val="100000"/>
              </a:lnSpc>
              <a:spcBef>
                <a:spcPts val="0"/>
              </a:spcBef>
              <a:spcAft>
                <a:spcPts val="0"/>
              </a:spcAft>
              <a:buNone/>
            </a:pPr>
            <a:r>
              <a:rPr lang="en"/>
              <a:t>References</a:t>
            </a:r>
            <a:endParaRPr/>
          </a:p>
        </p:txBody>
      </p:sp>
      <p:sp>
        <p:nvSpPr>
          <p:cNvPr id="232" name="Google Shape;232;p34"/>
          <p:cNvSpPr txBox="1"/>
          <p:nvPr/>
        </p:nvSpPr>
        <p:spPr>
          <a:xfrm>
            <a:off x="689030" y="1005255"/>
            <a:ext cx="7759500" cy="3779400"/>
          </a:xfrm>
          <a:prstGeom prst="rect">
            <a:avLst/>
          </a:prstGeom>
          <a:noFill/>
          <a:ln>
            <a:noFill/>
          </a:ln>
        </p:spPr>
        <p:txBody>
          <a:bodyPr anchorCtr="0" anchor="t" bIns="0" lIns="0" spcFirstLastPara="1" rIns="0" wrap="square" tIns="7625">
            <a:spAutoFit/>
          </a:bodyPr>
          <a:lstStyle/>
          <a:p>
            <a:pPr indent="0" lvl="0" marL="254000" marR="2032000" rtl="0" algn="l">
              <a:lnSpc>
                <a:spcPct val="117777"/>
              </a:lnSpc>
              <a:spcBef>
                <a:spcPts val="100"/>
              </a:spcBef>
              <a:spcAft>
                <a:spcPts val="0"/>
              </a:spcAft>
              <a:buNone/>
            </a:pPr>
            <a:r>
              <a:rPr lang="en" sz="1100">
                <a:latin typeface="Trebuchet MS"/>
                <a:ea typeface="Trebuchet MS"/>
                <a:cs typeface="Trebuchet MS"/>
                <a:sym typeface="Trebuchet MS"/>
              </a:rPr>
              <a:t>Literature review papers:</a:t>
            </a:r>
            <a:endParaRPr sz="1100">
              <a:latin typeface="Trebuchet MS"/>
              <a:ea typeface="Trebuchet MS"/>
              <a:cs typeface="Trebuchet MS"/>
              <a:sym typeface="Trebuchet MS"/>
            </a:endParaRPr>
          </a:p>
          <a:p>
            <a:pPr indent="-298450" lvl="0" marL="457200" marR="2032000" rtl="0" algn="l">
              <a:lnSpc>
                <a:spcPct val="117777"/>
              </a:lnSpc>
              <a:spcBef>
                <a:spcPts val="100"/>
              </a:spcBef>
              <a:spcAft>
                <a:spcPts val="0"/>
              </a:spcAft>
              <a:buClr>
                <a:srgbClr val="131314"/>
              </a:buClr>
              <a:buSzPts val="1100"/>
              <a:buFont typeface="Manrope"/>
              <a:buChar char="●"/>
            </a:pPr>
            <a:r>
              <a:rPr lang="en" sz="1100">
                <a:solidFill>
                  <a:srgbClr val="131314"/>
                </a:solidFill>
                <a:highlight>
                  <a:srgbClr val="FFFFFF"/>
                </a:highlight>
                <a:latin typeface="Manrope"/>
                <a:ea typeface="Manrope"/>
                <a:cs typeface="Manrope"/>
                <a:sym typeface="Manrope"/>
              </a:rPr>
              <a:t>A literature review on ERP implementation: Methodologies, module, software, and policy-</a:t>
            </a:r>
            <a:r>
              <a:rPr lang="en" sz="1100" u="sng">
                <a:solidFill>
                  <a:schemeClr val="hlink"/>
                </a:solidFill>
                <a:highlight>
                  <a:srgbClr val="FFFFFF"/>
                </a:highlight>
                <a:latin typeface="Manrope"/>
                <a:ea typeface="Manrope"/>
                <a:cs typeface="Manrope"/>
                <a:sym typeface="Manrope"/>
                <a:hlinkClick r:id="rId3"/>
              </a:rPr>
              <a:t>https://www.researchgate.net/publication/379348882_A_literature_review_on_ERP_implementation_Methodologies_module_software_and_policy</a:t>
            </a:r>
            <a:endParaRPr sz="1100">
              <a:solidFill>
                <a:srgbClr val="131314"/>
              </a:solidFill>
              <a:highlight>
                <a:srgbClr val="FFFFFF"/>
              </a:highlight>
              <a:latin typeface="Manrope"/>
              <a:ea typeface="Manrope"/>
              <a:cs typeface="Manrope"/>
              <a:sym typeface="Manrope"/>
            </a:endParaRPr>
          </a:p>
          <a:p>
            <a:pPr indent="-298450" lvl="0" marL="457200" marR="2032000" rtl="0" algn="l">
              <a:lnSpc>
                <a:spcPct val="117777"/>
              </a:lnSpc>
              <a:spcBef>
                <a:spcPts val="0"/>
              </a:spcBef>
              <a:spcAft>
                <a:spcPts val="0"/>
              </a:spcAft>
              <a:buClr>
                <a:srgbClr val="131314"/>
              </a:buClr>
              <a:buSzPts val="1100"/>
              <a:buFont typeface="Manrope"/>
              <a:buChar char="●"/>
            </a:pPr>
            <a:r>
              <a:rPr lang="en" sz="1100">
                <a:solidFill>
                  <a:srgbClr val="131314"/>
                </a:solidFill>
                <a:highlight>
                  <a:srgbClr val="FFFFFF"/>
                </a:highlight>
                <a:latin typeface="Manrope"/>
                <a:ea typeface="Manrope"/>
                <a:cs typeface="Manrope"/>
                <a:sym typeface="Manrope"/>
              </a:rPr>
              <a:t>International Journal of Applied Science and Engineering Review- </a:t>
            </a:r>
            <a:r>
              <a:rPr lang="en" sz="1100" u="sng">
                <a:solidFill>
                  <a:schemeClr val="hlink"/>
                </a:solidFill>
                <a:highlight>
                  <a:srgbClr val="FFFFFF"/>
                </a:highlight>
                <a:latin typeface="Manrope"/>
                <a:ea typeface="Manrope"/>
                <a:cs typeface="Manrope"/>
                <a:sym typeface="Manrope"/>
                <a:hlinkClick r:id="rId4"/>
              </a:rPr>
              <a:t>https://akjournals.com/view/journals/1848/1848-overview.xml</a:t>
            </a:r>
            <a:endParaRPr sz="1100">
              <a:solidFill>
                <a:srgbClr val="131314"/>
              </a:solidFill>
              <a:highlight>
                <a:srgbClr val="FFFFFF"/>
              </a:highlight>
              <a:latin typeface="Manrope"/>
              <a:ea typeface="Manrope"/>
              <a:cs typeface="Manrope"/>
              <a:sym typeface="Manrope"/>
            </a:endParaRPr>
          </a:p>
          <a:p>
            <a:pPr indent="-298450" lvl="0" marL="457200" marR="2032000" rtl="0" algn="l">
              <a:lnSpc>
                <a:spcPct val="117777"/>
              </a:lnSpc>
              <a:spcBef>
                <a:spcPts val="0"/>
              </a:spcBef>
              <a:spcAft>
                <a:spcPts val="0"/>
              </a:spcAft>
              <a:buClr>
                <a:srgbClr val="131314"/>
              </a:buClr>
              <a:buSzPts val="1100"/>
              <a:buFont typeface="Manrope"/>
              <a:buChar char="●"/>
            </a:pPr>
            <a:r>
              <a:rPr lang="en" sz="1100">
                <a:solidFill>
                  <a:srgbClr val="131314"/>
                </a:solidFill>
                <a:highlight>
                  <a:srgbClr val="FFFFFF"/>
                </a:highlight>
                <a:latin typeface="Manrope"/>
                <a:ea typeface="Manrope"/>
                <a:cs typeface="Manrope"/>
                <a:sym typeface="Manrope"/>
              </a:rPr>
              <a:t>ERP SYSTEMS ARCHITECTURE FOR THE MODERN AGE: A REVIEW OF THE STATE OF THE ART TECHNOLOGIES- </a:t>
            </a:r>
            <a:r>
              <a:rPr lang="en" sz="1100" u="sng">
                <a:solidFill>
                  <a:schemeClr val="hlink"/>
                </a:solidFill>
                <a:highlight>
                  <a:srgbClr val="FFFFFF"/>
                </a:highlight>
                <a:latin typeface="Manrope"/>
                <a:ea typeface="Manrope"/>
                <a:cs typeface="Manrope"/>
                <a:sym typeface="Manrope"/>
                <a:hlinkClick r:id="rId5"/>
              </a:rPr>
              <a:t>https://www.researchgate.net/publication/343450571_ERP_SYSTEMS_ARCHITECTURE_FOR_THE_MODERN_AGE_A_REVIEW_OF_THE_STATE_OF_THE_ART_TECHNOLOGIES</a:t>
            </a:r>
            <a:endParaRPr sz="1100">
              <a:solidFill>
                <a:srgbClr val="131314"/>
              </a:solidFill>
              <a:highlight>
                <a:srgbClr val="FFFFFF"/>
              </a:highlight>
              <a:latin typeface="Manrope"/>
              <a:ea typeface="Manrope"/>
              <a:cs typeface="Manrope"/>
              <a:sym typeface="Manrope"/>
            </a:endParaRPr>
          </a:p>
          <a:p>
            <a:pPr indent="-298450" lvl="0" marL="457200" marR="2032000" rtl="0" algn="l">
              <a:lnSpc>
                <a:spcPct val="117777"/>
              </a:lnSpc>
              <a:spcBef>
                <a:spcPts val="0"/>
              </a:spcBef>
              <a:spcAft>
                <a:spcPts val="0"/>
              </a:spcAft>
              <a:buClr>
                <a:srgbClr val="131314"/>
              </a:buClr>
              <a:buSzPts val="1100"/>
              <a:buFont typeface="Manrope"/>
              <a:buChar char="●"/>
            </a:pPr>
            <a:r>
              <a:rPr lang="en" sz="1100">
                <a:solidFill>
                  <a:srgbClr val="131314"/>
                </a:solidFill>
                <a:highlight>
                  <a:srgbClr val="FFFFFF"/>
                </a:highlight>
                <a:latin typeface="Manrope"/>
                <a:ea typeface="Manrope"/>
                <a:cs typeface="Manrope"/>
                <a:sym typeface="Manrope"/>
              </a:rPr>
              <a:t>Implementation of Odoo-Based ERP in The Case Study of Micro, Small and Medium Enterprises (MSME) “Woody Moody Jakarta”</a:t>
            </a:r>
            <a:r>
              <a:rPr lang="en" sz="1100" u="sng">
                <a:solidFill>
                  <a:schemeClr val="hlink"/>
                </a:solidFill>
                <a:highlight>
                  <a:srgbClr val="FFFFFF"/>
                </a:highlight>
                <a:latin typeface="Manrope"/>
                <a:ea typeface="Manrope"/>
                <a:cs typeface="Manrope"/>
                <a:sym typeface="Manrope"/>
                <a:hlinkClick r:id="rId6"/>
              </a:rPr>
              <a:t>https://www.researchgate.net/publication/374833941_Implementation_of_Odoo-Based_ERP_in_The_Case_Study_of_Micro_Small_and_Medium_EnterprisesMSME_Woody_Moody_Jakarta</a:t>
            </a:r>
            <a:endParaRPr sz="1100">
              <a:solidFill>
                <a:srgbClr val="131314"/>
              </a:solidFill>
              <a:highlight>
                <a:srgbClr val="FFFFFF"/>
              </a:highlight>
              <a:latin typeface="Manrope"/>
              <a:ea typeface="Manrope"/>
              <a:cs typeface="Manrope"/>
              <a:sym typeface="Manrope"/>
            </a:endParaRPr>
          </a:p>
          <a:p>
            <a:pPr indent="-298450" lvl="0" marL="457200" marR="2032000" rtl="0" algn="l">
              <a:lnSpc>
                <a:spcPct val="117777"/>
              </a:lnSpc>
              <a:spcBef>
                <a:spcPts val="0"/>
              </a:spcBef>
              <a:spcAft>
                <a:spcPts val="0"/>
              </a:spcAft>
              <a:buClr>
                <a:srgbClr val="131314"/>
              </a:buClr>
              <a:buSzPts val="1100"/>
              <a:buFont typeface="Manrope"/>
              <a:buChar char="●"/>
            </a:pPr>
            <a:r>
              <a:rPr lang="en" sz="1100">
                <a:solidFill>
                  <a:srgbClr val="131314"/>
                </a:solidFill>
                <a:highlight>
                  <a:srgbClr val="FFFFFF"/>
                </a:highlight>
                <a:latin typeface="Manrope"/>
                <a:ea typeface="Manrope"/>
                <a:cs typeface="Manrope"/>
                <a:sym typeface="Manrope"/>
              </a:rPr>
              <a:t>Modular Architecture in .NET Enterprise Systems: Patterns, Practices, and Evolution toward Scalable Systemshttps://papers.ssrn.com/sol3/papers.cfm?abstract_id=6258779</a:t>
            </a:r>
            <a:endParaRPr sz="1100">
              <a:solidFill>
                <a:srgbClr val="131314"/>
              </a:solidFill>
              <a:highlight>
                <a:srgbClr val="FFFFFF"/>
              </a:highlight>
              <a:latin typeface="Manrope"/>
              <a:ea typeface="Manrope"/>
              <a:cs typeface="Manrope"/>
              <a:sym typeface="Manrope"/>
            </a:endParaRPr>
          </a:p>
        </p:txBody>
      </p:sp>
      <p:sp>
        <p:nvSpPr>
          <p:cNvPr id="233" name="Google Shape;233;p34"/>
          <p:cNvSpPr txBox="1"/>
          <p:nvPr>
            <p:ph idx="11" type="ftr"/>
          </p:nvPr>
        </p:nvSpPr>
        <p:spPr>
          <a:xfrm>
            <a:off x="3621218" y="4871159"/>
            <a:ext cx="2010410" cy="153988"/>
          </a:xfrm>
          <a:prstGeom prst="rect">
            <a:avLst/>
          </a:prstGeom>
          <a:noFill/>
          <a:ln>
            <a:noFill/>
          </a:ln>
        </p:spPr>
        <p:txBody>
          <a:bodyPr anchorCtr="0" anchor="t" bIns="0" lIns="0" spcFirstLastPara="1" rIns="0" wrap="square" tIns="0">
            <a:spAutoFit/>
          </a:bodyPr>
          <a:lstStyle/>
          <a:p>
            <a:pPr indent="0" lvl="0" marL="12700" rtl="0" algn="l">
              <a:lnSpc>
                <a:spcPct val="122222"/>
              </a:lnSpc>
              <a:spcBef>
                <a:spcPts val="0"/>
              </a:spcBef>
              <a:spcAft>
                <a:spcPts val="0"/>
              </a:spcAft>
              <a:buNone/>
            </a:pPr>
            <a:r>
              <a:rPr lang="en"/>
              <a:t>Department of Computer Engineering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5"/>
          <p:cNvSpPr txBox="1"/>
          <p:nvPr>
            <p:ph type="title"/>
          </p:nvPr>
        </p:nvSpPr>
        <p:spPr>
          <a:xfrm>
            <a:off x="2110156" y="-77105"/>
            <a:ext cx="5347315" cy="851988"/>
          </a:xfrm>
          <a:prstGeom prst="rect">
            <a:avLst/>
          </a:prstGeom>
          <a:noFill/>
          <a:ln>
            <a:noFill/>
          </a:ln>
        </p:spPr>
        <p:txBody>
          <a:bodyPr anchorCtr="0" anchor="t" bIns="0" lIns="0" spcFirstLastPara="1" rIns="0" wrap="square" tIns="380175">
            <a:spAutoFit/>
          </a:bodyPr>
          <a:lstStyle/>
          <a:p>
            <a:pPr indent="0" lvl="0" marL="1511300" rtl="0" algn="l">
              <a:lnSpc>
                <a:spcPct val="100000"/>
              </a:lnSpc>
              <a:spcBef>
                <a:spcPts val="0"/>
              </a:spcBef>
              <a:spcAft>
                <a:spcPts val="0"/>
              </a:spcAft>
              <a:buNone/>
            </a:pPr>
            <a:r>
              <a:rPr lang="en"/>
              <a:t>References</a:t>
            </a:r>
            <a:endParaRPr/>
          </a:p>
        </p:txBody>
      </p:sp>
      <p:sp>
        <p:nvSpPr>
          <p:cNvPr id="239" name="Google Shape;239;p35"/>
          <p:cNvSpPr txBox="1"/>
          <p:nvPr>
            <p:ph idx="1" type="body"/>
          </p:nvPr>
        </p:nvSpPr>
        <p:spPr>
          <a:xfrm>
            <a:off x="557175" y="948553"/>
            <a:ext cx="7997400" cy="2590800"/>
          </a:xfrm>
          <a:prstGeom prst="rect">
            <a:avLst/>
          </a:prstGeom>
          <a:noFill/>
          <a:ln>
            <a:noFill/>
          </a:ln>
        </p:spPr>
        <p:txBody>
          <a:bodyPr anchorCtr="0" anchor="t" bIns="0" lIns="0" spcFirstLastPara="1" rIns="0" wrap="square" tIns="8575">
            <a:spAutoFit/>
          </a:bodyPr>
          <a:lstStyle/>
          <a:p>
            <a:pPr indent="-298450" lvl="0" marL="457200" marR="241300" rtl="0" algn="l">
              <a:lnSpc>
                <a:spcPct val="118750"/>
              </a:lnSpc>
              <a:spcBef>
                <a:spcPts val="0"/>
              </a:spcBef>
              <a:spcAft>
                <a:spcPts val="0"/>
              </a:spcAft>
              <a:buClr>
                <a:schemeClr val="dk1"/>
              </a:buClr>
              <a:buSzPts val="1100"/>
              <a:buFont typeface="Trebuchet MS"/>
              <a:buChar char="●"/>
            </a:pPr>
            <a:r>
              <a:rPr lang="en" sz="1100">
                <a:solidFill>
                  <a:schemeClr val="dk1"/>
                </a:solidFill>
                <a:highlight>
                  <a:schemeClr val="lt1"/>
                </a:highlight>
              </a:rPr>
              <a:t>Open-SourceERP.pdf </a:t>
            </a:r>
            <a:r>
              <a:rPr lang="en" sz="1100" u="sng">
                <a:solidFill>
                  <a:schemeClr val="hlink"/>
                </a:solidFill>
                <a:highlight>
                  <a:schemeClr val="lt1"/>
                </a:highlight>
                <a:hlinkClick r:id="rId3"/>
              </a:rPr>
              <a:t>https://www.researchgate.net/publication/394306023_Open-Source_ERP</a:t>
            </a:r>
            <a:endParaRPr sz="1100">
              <a:solidFill>
                <a:schemeClr val="dk1"/>
              </a:solidFill>
              <a:highlight>
                <a:schemeClr val="lt1"/>
              </a:highlight>
            </a:endParaRPr>
          </a:p>
          <a:p>
            <a:pPr indent="-298450" lvl="0" marL="457200" marR="241300" rtl="0" algn="l">
              <a:lnSpc>
                <a:spcPct val="118750"/>
              </a:lnSpc>
              <a:spcBef>
                <a:spcPts val="0"/>
              </a:spcBef>
              <a:spcAft>
                <a:spcPts val="0"/>
              </a:spcAft>
              <a:buClr>
                <a:schemeClr val="dk1"/>
              </a:buClr>
              <a:buSzPts val="1100"/>
              <a:buChar char="●"/>
            </a:pPr>
            <a:r>
              <a:rPr lang="en" sz="1100">
                <a:solidFill>
                  <a:schemeClr val="dk1"/>
                </a:solidFill>
                <a:highlight>
                  <a:schemeClr val="lt1"/>
                </a:highlight>
              </a:rPr>
              <a:t>Design and Implementation of Inventory Management System for Universityhttps://</a:t>
            </a:r>
            <a:r>
              <a:rPr lang="en" sz="1100" u="sng">
                <a:solidFill>
                  <a:schemeClr val="hlink"/>
                </a:solidFill>
                <a:highlight>
                  <a:schemeClr val="lt1"/>
                </a:highlight>
                <a:hlinkClick r:id="rId4"/>
              </a:rPr>
              <a:t>www.researchgate.net/publication/371989579_Design_and_Implementation_of_Inventory_Management_System_for_University</a:t>
            </a:r>
            <a:endParaRPr sz="1100">
              <a:solidFill>
                <a:schemeClr val="dk1"/>
              </a:solidFill>
              <a:highlight>
                <a:schemeClr val="lt1"/>
              </a:highlight>
            </a:endParaRPr>
          </a:p>
          <a:p>
            <a:pPr indent="-298450" lvl="0" marL="457200" marR="241300" rtl="0" algn="l">
              <a:lnSpc>
                <a:spcPct val="118750"/>
              </a:lnSpc>
              <a:spcBef>
                <a:spcPts val="0"/>
              </a:spcBef>
              <a:spcAft>
                <a:spcPts val="0"/>
              </a:spcAft>
              <a:buClr>
                <a:schemeClr val="dk1"/>
              </a:buClr>
              <a:buSzPts val="1100"/>
              <a:buChar char="●"/>
            </a:pPr>
            <a:r>
              <a:rPr lang="en" sz="1100">
                <a:solidFill>
                  <a:schemeClr val="dk1"/>
                </a:solidFill>
                <a:highlight>
                  <a:schemeClr val="lt1"/>
                </a:highlight>
              </a:rPr>
              <a:t>Proprietary vs. Open-Source ERP: The Case of SAP and Odoohttps://</a:t>
            </a:r>
            <a:r>
              <a:rPr lang="en" sz="1100" u="sng">
                <a:solidFill>
                  <a:schemeClr val="hlink"/>
                </a:solidFill>
                <a:highlight>
                  <a:schemeClr val="lt1"/>
                </a:highlight>
                <a:hlinkClick r:id="rId5"/>
              </a:rPr>
              <a:t>www.researchgate.net/publication/387763540_Proprietary_vs_Open-Source_ERP_The_Case_of_SAP_and_Odoo</a:t>
            </a:r>
            <a:endParaRPr sz="1100">
              <a:solidFill>
                <a:schemeClr val="dk1"/>
              </a:solidFill>
              <a:highlight>
                <a:schemeClr val="lt1"/>
              </a:highlight>
            </a:endParaRPr>
          </a:p>
          <a:p>
            <a:pPr indent="-298450" lvl="0" marL="457200" marR="241300" rtl="0" algn="l">
              <a:lnSpc>
                <a:spcPct val="118750"/>
              </a:lnSpc>
              <a:spcBef>
                <a:spcPts val="0"/>
              </a:spcBef>
              <a:spcAft>
                <a:spcPts val="0"/>
              </a:spcAft>
              <a:buClr>
                <a:schemeClr val="dk1"/>
              </a:buClr>
              <a:buSzPts val="1100"/>
              <a:buChar char="●"/>
            </a:pPr>
            <a:r>
              <a:rPr lang="en" sz="1100">
                <a:solidFill>
                  <a:schemeClr val="dk1"/>
                </a:solidFill>
                <a:highlight>
                  <a:schemeClr val="lt1"/>
                </a:highlight>
              </a:rPr>
              <a:t>Small-Medium Business Enterprise Management Applicationhttps://</a:t>
            </a:r>
            <a:r>
              <a:rPr lang="en" sz="1100" u="sng">
                <a:solidFill>
                  <a:schemeClr val="hlink"/>
                </a:solidFill>
                <a:highlight>
                  <a:schemeClr val="lt1"/>
                </a:highlight>
                <a:hlinkClick r:id="rId6"/>
              </a:rPr>
              <a:t>papers.ssrn.com/sol3/papers.cfm?abstract_id=5214661</a:t>
            </a:r>
            <a:endParaRPr sz="1100">
              <a:solidFill>
                <a:schemeClr val="dk1"/>
              </a:solidFill>
              <a:highlight>
                <a:schemeClr val="lt1"/>
              </a:highlight>
            </a:endParaRPr>
          </a:p>
          <a:p>
            <a:pPr indent="-298450" lvl="0" marL="457200" marR="241300" rtl="0" algn="l">
              <a:lnSpc>
                <a:spcPct val="118750"/>
              </a:lnSpc>
              <a:spcBef>
                <a:spcPts val="0"/>
              </a:spcBef>
              <a:spcAft>
                <a:spcPts val="0"/>
              </a:spcAft>
              <a:buClr>
                <a:schemeClr val="dk1"/>
              </a:buClr>
              <a:buSzPts val="1100"/>
              <a:buChar char="●"/>
            </a:pPr>
            <a:r>
              <a:rPr lang="en" sz="1100">
                <a:solidFill>
                  <a:schemeClr val="dk1"/>
                </a:solidFill>
                <a:highlight>
                  <a:schemeClr val="lt1"/>
                </a:highlight>
              </a:rPr>
              <a:t>Web – Based Intelligent Inventory Management Systemhttps://www.researchgate.net/publication/317276986_WEB_-_BASED_INTELLIGENT_INVENTORY_MANAGEMENT_SYSTEM</a:t>
            </a:r>
            <a:endParaRPr sz="1100">
              <a:solidFill>
                <a:schemeClr val="dk1"/>
              </a:solidFill>
              <a:highlight>
                <a:schemeClr val="lt1"/>
              </a:highlight>
            </a:endParaRPr>
          </a:p>
          <a:p>
            <a:pPr indent="0" lvl="0" marL="457200" marR="241300" rtl="0" algn="l">
              <a:lnSpc>
                <a:spcPct val="118750"/>
              </a:lnSpc>
              <a:spcBef>
                <a:spcPts val="0"/>
              </a:spcBef>
              <a:spcAft>
                <a:spcPts val="0"/>
              </a:spcAft>
              <a:buNone/>
            </a:pPr>
            <a:r>
              <a:t/>
            </a:r>
            <a:endParaRPr sz="1100">
              <a:solidFill>
                <a:schemeClr val="dk1"/>
              </a:solidFill>
              <a:highlight>
                <a:schemeClr val="lt1"/>
              </a:highlight>
            </a:endParaRPr>
          </a:p>
        </p:txBody>
      </p:sp>
      <p:sp>
        <p:nvSpPr>
          <p:cNvPr id="240" name="Google Shape;240;p35"/>
          <p:cNvSpPr txBox="1"/>
          <p:nvPr>
            <p:ph idx="11" type="ftr"/>
          </p:nvPr>
        </p:nvSpPr>
        <p:spPr>
          <a:xfrm>
            <a:off x="3621218" y="4871159"/>
            <a:ext cx="2010410" cy="153988"/>
          </a:xfrm>
          <a:prstGeom prst="rect">
            <a:avLst/>
          </a:prstGeom>
          <a:noFill/>
          <a:ln>
            <a:noFill/>
          </a:ln>
        </p:spPr>
        <p:txBody>
          <a:bodyPr anchorCtr="0" anchor="t" bIns="0" lIns="0" spcFirstLastPara="1" rIns="0" wrap="square" tIns="0">
            <a:spAutoFit/>
          </a:bodyPr>
          <a:lstStyle/>
          <a:p>
            <a:pPr indent="0" lvl="0" marL="12700" rtl="0" algn="l">
              <a:lnSpc>
                <a:spcPct val="122222"/>
              </a:lnSpc>
              <a:spcBef>
                <a:spcPts val="0"/>
              </a:spcBef>
              <a:spcAft>
                <a:spcPts val="0"/>
              </a:spcAft>
              <a:buNone/>
            </a:pPr>
            <a:r>
              <a:rPr lang="en"/>
              <a:t>Department of Computer Engineering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6"/>
          <p:cNvSpPr txBox="1"/>
          <p:nvPr>
            <p:ph type="title"/>
          </p:nvPr>
        </p:nvSpPr>
        <p:spPr>
          <a:xfrm>
            <a:off x="2989646" y="1738344"/>
            <a:ext cx="3273742" cy="805180"/>
          </a:xfrm>
          <a:prstGeom prst="rect">
            <a:avLst/>
          </a:prstGeom>
          <a:noFill/>
          <a:ln>
            <a:noFill/>
          </a:ln>
        </p:spPr>
        <p:txBody>
          <a:bodyPr anchorCtr="0" anchor="t" bIns="0" lIns="0" spcFirstLastPara="1" rIns="0" wrap="square" tIns="6350">
            <a:spAutoFit/>
          </a:bodyPr>
          <a:lstStyle/>
          <a:p>
            <a:pPr indent="0" lvl="0" marL="12700" rtl="0" algn="l">
              <a:lnSpc>
                <a:spcPct val="100000"/>
              </a:lnSpc>
              <a:spcBef>
                <a:spcPts val="0"/>
              </a:spcBef>
              <a:spcAft>
                <a:spcPts val="0"/>
              </a:spcAft>
              <a:buNone/>
            </a:pPr>
            <a:r>
              <a:rPr lang="en" sz="5200">
                <a:solidFill>
                  <a:srgbClr val="000000"/>
                </a:solidFill>
                <a:latin typeface="Trebuchet MS"/>
                <a:ea typeface="Trebuchet MS"/>
                <a:cs typeface="Trebuchet MS"/>
                <a:sym typeface="Trebuchet MS"/>
              </a:rPr>
              <a:t>THANK YOU</a:t>
            </a:r>
            <a:endParaRPr sz="5200">
              <a:latin typeface="Trebuchet MS"/>
              <a:ea typeface="Trebuchet MS"/>
              <a:cs typeface="Trebuchet MS"/>
              <a:sym typeface="Trebuchet MS"/>
            </a:endParaRPr>
          </a:p>
        </p:txBody>
      </p:sp>
      <p:sp>
        <p:nvSpPr>
          <p:cNvPr id="246" name="Google Shape;246;p36"/>
          <p:cNvSpPr txBox="1"/>
          <p:nvPr>
            <p:ph idx="11" type="ftr"/>
          </p:nvPr>
        </p:nvSpPr>
        <p:spPr>
          <a:xfrm>
            <a:off x="3621218" y="4871159"/>
            <a:ext cx="2010410" cy="153988"/>
          </a:xfrm>
          <a:prstGeom prst="rect">
            <a:avLst/>
          </a:prstGeom>
          <a:noFill/>
          <a:ln>
            <a:noFill/>
          </a:ln>
        </p:spPr>
        <p:txBody>
          <a:bodyPr anchorCtr="0" anchor="t" bIns="0" lIns="0" spcFirstLastPara="1" rIns="0" wrap="square" tIns="0">
            <a:spAutoFit/>
          </a:bodyPr>
          <a:lstStyle/>
          <a:p>
            <a:pPr indent="0" lvl="0" marL="12700" rtl="0" algn="l">
              <a:lnSpc>
                <a:spcPct val="122222"/>
              </a:lnSpc>
              <a:spcBef>
                <a:spcPts val="0"/>
              </a:spcBef>
              <a:spcAft>
                <a:spcPts val="0"/>
              </a:spcAft>
              <a:buNone/>
            </a:pPr>
            <a:r>
              <a:rPr lang="en"/>
              <a:t>Department of Computer Engineering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4AAC"/>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